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322" r:id="rId6"/>
    <p:sldId id="321" r:id="rId7"/>
    <p:sldId id="301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310" r:id="rId16"/>
    <p:sldId id="309" r:id="rId17"/>
    <p:sldId id="311" r:id="rId18"/>
    <p:sldId id="312" r:id="rId19"/>
    <p:sldId id="313" r:id="rId20"/>
    <p:sldId id="314" r:id="rId21"/>
    <p:sldId id="315" r:id="rId22"/>
    <p:sldId id="316" r:id="rId23"/>
    <p:sldId id="320" r:id="rId24"/>
    <p:sldId id="317" r:id="rId25"/>
    <p:sldId id="318" r:id="rId26"/>
    <p:sldId id="319" r:id="rId27"/>
    <p:sldId id="323" r:id="rId28"/>
    <p:sldId id="324" r:id="rId29"/>
    <p:sldId id="32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48F76D-FB20-49A4-AAE0-876BF2E48D3A}" v="649" dt="2025-07-02T16:57:11.540"/>
    <p1510:client id="{F7F17B2D-E37D-11B0-F790-1D1766E8CE03}" v="716" dt="2025-07-03T14:28:16.8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>
        <p:scale>
          <a:sx n="100" d="100"/>
          <a:sy n="100" d="100"/>
        </p:scale>
        <p:origin x="5" y="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mailto:Mozilla-Recovery-Key_2025-06-18_masibayleiwei@gmail.com.pdf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2133" y="1259574"/>
            <a:ext cx="3616873" cy="3318633"/>
          </a:xfrm>
        </p:spPr>
        <p:txBody>
          <a:bodyPr anchor="b">
            <a:normAutofit fontScale="90000"/>
          </a:bodyPr>
          <a:lstStyle/>
          <a:p>
            <a:r>
              <a:rPr lang="en-US" sz="4400" u="sng" dirty="0">
                <a:solidFill>
                  <a:schemeClr val="tx1"/>
                </a:solidFill>
                <a:ea typeface="+mj-lt"/>
                <a:cs typeface="+mj-lt"/>
              </a:rPr>
              <a:t>PRO-ACTIVE PDF THREAT DETECTION for SOC &amp; Red Team Defense</a:t>
            </a:r>
            <a:endParaRPr lang="en-US">
              <a:solidFill>
                <a:schemeClr val="tx1"/>
              </a:solidFill>
              <a:ea typeface="+mj-lt"/>
              <a:cs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737972"/>
            <a:ext cx="3148131" cy="745431"/>
          </a:xfrm>
        </p:spPr>
        <p:txBody>
          <a:bodyPr anchor="t"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Analyst,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Bassey Solomon henry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F84E4-D552-4530-A8F4-AEC641046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564" y="286603"/>
            <a:ext cx="10619116" cy="1436380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</a:pPr>
            <a:r>
              <a:rPr lang="en-US" sz="4000" dirty="0">
                <a:latin typeface="Franklin Gothic Book"/>
              </a:rPr>
              <a:t>️ </a:t>
            </a:r>
            <a:r>
              <a:rPr lang="en-US" sz="4000" b="1" u="sng" dirty="0">
                <a:latin typeface="Franklin Gothic Book"/>
              </a:rPr>
              <a:t>Presentation Note Title: Proactive PDF Threat Detection for SOC &amp; Red Team Defense</a:t>
            </a:r>
            <a:endParaRPr lang="en-US" sz="4000" b="1" u="s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8E305-6255-F206-982A-005B38073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 fontScale="92500" lnSpcReduction="10000"/>
          </a:bodyPr>
          <a:lstStyle/>
          <a:p>
            <a:r>
              <a:rPr lang="en-US" sz="2000" b="1" u="sng" dirty="0">
                <a:ea typeface="+mn-lt"/>
                <a:cs typeface="+mn-lt"/>
              </a:rPr>
              <a:t>Objective: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sz="2000" dirty="0">
                <a:ea typeface="+mn-lt"/>
                <a:cs typeface="+mn-lt"/>
              </a:rPr>
              <a:t>Showcase a defensive lab that automates detection of potentially malicious PDFs before they are opened.</a:t>
            </a:r>
            <a:endParaRPr lang="en-US" sz="2000" dirty="0"/>
          </a:p>
          <a:p>
            <a:r>
              <a:rPr lang="en-US" sz="2000" b="1" u="sng" dirty="0">
                <a:ea typeface="+mn-lt"/>
                <a:cs typeface="+mn-lt"/>
              </a:rPr>
              <a:t>Tools Used</a:t>
            </a:r>
            <a:r>
              <a:rPr lang="en-US" sz="2000" u="sng" dirty="0">
                <a:ea typeface="+mn-lt"/>
                <a:cs typeface="+mn-lt"/>
              </a:rPr>
              <a:t>:</a:t>
            </a:r>
            <a:endParaRPr lang="en-US" sz="2000" u="sng" dirty="0"/>
          </a:p>
          <a:p>
            <a:pPr marL="383540" lvl="1"/>
            <a:r>
              <a:rPr lang="en-US" sz="2000" err="1">
                <a:latin typeface="Consolas"/>
              </a:rPr>
              <a:t>PDFiD</a:t>
            </a:r>
            <a:r>
              <a:rPr lang="en-US" sz="2000" dirty="0">
                <a:ea typeface="+mn-lt"/>
                <a:cs typeface="+mn-lt"/>
              </a:rPr>
              <a:t>: Signature-based PDF metadata scanner.</a:t>
            </a:r>
            <a:endParaRPr lang="en-US" sz="2000"/>
          </a:p>
          <a:p>
            <a:pPr marL="383540" lvl="1"/>
            <a:r>
              <a:rPr lang="en-US" sz="2000" err="1">
                <a:latin typeface="Consolas"/>
              </a:rPr>
              <a:t>ExifTool</a:t>
            </a:r>
            <a:r>
              <a:rPr lang="en-US" sz="2000" dirty="0">
                <a:ea typeface="+mn-lt"/>
                <a:cs typeface="+mn-lt"/>
              </a:rPr>
              <a:t>: Metadata extractor for deep analysis.</a:t>
            </a:r>
            <a:endParaRPr lang="en-US" sz="2000"/>
          </a:p>
          <a:p>
            <a:pPr marL="383540" lvl="1"/>
            <a:r>
              <a:rPr lang="en-US" sz="2000" err="1">
                <a:latin typeface="Consolas"/>
              </a:rPr>
              <a:t>inotifywait</a:t>
            </a:r>
            <a:r>
              <a:rPr lang="en-US" sz="2000" dirty="0">
                <a:ea typeface="+mn-lt"/>
                <a:cs typeface="+mn-lt"/>
              </a:rPr>
              <a:t>: File system event monitor to watch Downloads directory.</a:t>
            </a:r>
            <a:endParaRPr lang="en-US" sz="2000" dirty="0"/>
          </a:p>
          <a:p>
            <a:r>
              <a:rPr lang="en-US" sz="2000" b="1" u="sng" dirty="0">
                <a:ea typeface="+mn-lt"/>
                <a:cs typeface="+mn-lt"/>
              </a:rPr>
              <a:t>Real-World Value</a:t>
            </a:r>
            <a:r>
              <a:rPr lang="en-US" sz="2000" u="sng" dirty="0">
                <a:ea typeface="+mn-lt"/>
                <a:cs typeface="+mn-lt"/>
              </a:rPr>
              <a:t>:</a:t>
            </a:r>
            <a:endParaRPr lang="en-US" sz="2000" u="sng" dirty="0"/>
          </a:p>
          <a:p>
            <a:pPr marL="383540" lvl="1"/>
            <a:r>
              <a:rPr lang="en-US" sz="2000" dirty="0">
                <a:ea typeface="+mn-lt"/>
                <a:cs typeface="+mn-lt"/>
              </a:rPr>
              <a:t>Prevents waterhole, spear phishing, or document-based malware threats.</a:t>
            </a:r>
            <a:endParaRPr lang="en-US" sz="2000"/>
          </a:p>
          <a:p>
            <a:pPr marL="383540" lvl="1"/>
            <a:r>
              <a:rPr lang="en-US" sz="2000" dirty="0">
                <a:ea typeface="+mn-lt"/>
                <a:cs typeface="+mn-lt"/>
              </a:rPr>
              <a:t>Builds awareness and automation into user workflows.</a:t>
            </a:r>
            <a:endParaRPr lang="en-US" sz="2000"/>
          </a:p>
          <a:p>
            <a:pPr marL="383540" lvl="1"/>
            <a:r>
              <a:rPr lang="en-US" sz="2000" dirty="0">
                <a:ea typeface="+mn-lt"/>
                <a:cs typeface="+mn-lt"/>
              </a:rPr>
              <a:t>Prevents HR, finance, or legal teams from opening suspicious files unknowingly.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665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E482B-6A51-D978-D7F0-86EB66ED4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525" y="358490"/>
            <a:ext cx="10058400" cy="976305"/>
          </a:xfrm>
        </p:spPr>
        <p:txBody>
          <a:bodyPr>
            <a:normAutofit/>
          </a:bodyPr>
          <a:lstStyle/>
          <a:p>
            <a:r>
              <a:rPr lang="en-US" b="1" dirty="0"/>
              <a:t>🎯 Business Value: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EA5A5-B0E0-ABF3-482D-1D8328508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5472023" cy="4034061"/>
          </a:xfrm>
        </p:spPr>
        <p:txBody>
          <a:bodyPr vert="horz" lIns="0" tIns="45720" rIns="0" bIns="45720" rtlCol="0" anchor="t">
            <a:normAutofit fontScale="77500" lnSpcReduction="20000"/>
          </a:bodyPr>
          <a:lstStyle/>
          <a:p>
            <a:pPr marL="285750" indent="-28575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 typeface="Arial,Sans-Serif" panose="020F0502020204030204" pitchFamily="34" charset="0"/>
              <a:buChar char="•"/>
            </a:pPr>
            <a:r>
              <a:rPr lang="en-US" sz="4500" dirty="0">
                <a:latin typeface="Bookman Old Style"/>
              </a:rPr>
              <a:t>Prevents </a:t>
            </a:r>
            <a:r>
              <a:rPr lang="en-US" sz="4500" b="1" dirty="0">
                <a:latin typeface="Bookman Old Style"/>
              </a:rPr>
              <a:t>HR &amp; Finance teams</a:t>
            </a:r>
            <a:r>
              <a:rPr lang="en-US" sz="4500" dirty="0">
                <a:latin typeface="Bookman Old Style"/>
              </a:rPr>
              <a:t> from falling victim to document-based social engineering.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 typeface="Arial,Sans-Serif" panose="020F0502020204030204" pitchFamily="34" charset="0"/>
              <a:buChar char="•"/>
            </a:pPr>
            <a:endParaRPr lang="en-US" sz="4500" dirty="0">
              <a:latin typeface="Bookman Old Style"/>
            </a:endParaRP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 typeface="Arial,Sans-Serif" panose="020F0502020204030204" pitchFamily="34" charset="0"/>
              <a:buChar char="•"/>
            </a:pPr>
            <a:r>
              <a:rPr lang="en-US" sz="4500" dirty="0">
                <a:latin typeface="Bookman Old Style"/>
              </a:rPr>
              <a:t>Adds a </a:t>
            </a:r>
            <a:r>
              <a:rPr lang="en-US" sz="4500" b="1" dirty="0">
                <a:latin typeface="Bookman Old Style"/>
              </a:rPr>
              <a:t>zero-cost, high-impact detection layer</a:t>
            </a:r>
            <a:r>
              <a:rPr lang="en-US" sz="4500" dirty="0">
                <a:latin typeface="Bookman Old Style"/>
              </a:rPr>
              <a:t> to internal security posture.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4B95B2-704A-0ADD-98D9-E922D5F46FA6}"/>
              </a:ext>
            </a:extLst>
          </p:cNvPr>
          <p:cNvSpPr txBox="1"/>
          <p:nvPr/>
        </p:nvSpPr>
        <p:spPr>
          <a:xfrm>
            <a:off x="6920738" y="1845857"/>
            <a:ext cx="4712896" cy="45561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</a:pPr>
            <a:r>
              <a:rPr lang="en-US" sz="2000" b="1" dirty="0">
                <a:solidFill>
                  <a:srgbClr val="404040"/>
                </a:solidFill>
              </a:rPr>
              <a:t>🛡️ </a:t>
            </a:r>
            <a:r>
              <a:rPr lang="en-US" sz="2400" b="1" dirty="0">
                <a:solidFill>
                  <a:srgbClr val="404040"/>
                </a:solidFill>
              </a:rPr>
              <a:t>Capabilities:</a:t>
            </a:r>
            <a:endParaRPr lang="en-US" sz="2400" b="1" dirty="0"/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Font typeface="Arial"/>
              <a:buChar char="•"/>
            </a:pPr>
            <a:r>
              <a:rPr lang="en-US" sz="2000" b="1" dirty="0">
                <a:solidFill>
                  <a:srgbClr val="404040"/>
                </a:solidFill>
              </a:rPr>
              <a:t>Monitors </a:t>
            </a:r>
            <a:r>
              <a:rPr lang="en-US" sz="2000" b="1" dirty="0">
                <a:solidFill>
                  <a:srgbClr val="404040"/>
                </a:solidFill>
                <a:latin typeface="Consolas"/>
              </a:rPr>
              <a:t>~/Downloads</a:t>
            </a:r>
            <a:r>
              <a:rPr lang="en-US" sz="2000" b="1" dirty="0">
                <a:solidFill>
                  <a:srgbClr val="404040"/>
                </a:solidFill>
              </a:rPr>
              <a:t> in real-time</a:t>
            </a:r>
            <a:endParaRPr lang="en-US" sz="2000" b="1"/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Font typeface="Arial"/>
              <a:buChar char="•"/>
            </a:pPr>
            <a:r>
              <a:rPr lang="en-US" sz="2000" b="1" dirty="0">
                <a:solidFill>
                  <a:srgbClr val="404040"/>
                </a:solidFill>
              </a:rPr>
              <a:t>Scans for malicious PDF indicators:</a:t>
            </a:r>
            <a:endParaRPr lang="en-US" sz="2000" b="1"/>
          </a:p>
          <a:p>
            <a:pPr marL="383540" lvl="1" indent="-285750">
              <a:spcBef>
                <a:spcPts val="200"/>
              </a:spcBef>
              <a:spcAft>
                <a:spcPts val="400"/>
              </a:spcAft>
              <a:buFont typeface="Arial"/>
              <a:buChar char="•"/>
            </a:pPr>
            <a:r>
              <a:rPr lang="en-US" sz="2000" b="1" dirty="0">
                <a:solidFill>
                  <a:srgbClr val="404040"/>
                </a:solidFill>
                <a:latin typeface="Consolas"/>
              </a:rPr>
              <a:t>/JavaScript</a:t>
            </a:r>
            <a:endParaRPr lang="en-US" sz="2000" b="1">
              <a:latin typeface="Consolas"/>
            </a:endParaRPr>
          </a:p>
          <a:p>
            <a:pPr marL="383540" lvl="1" indent="-285750">
              <a:spcBef>
                <a:spcPts val="200"/>
              </a:spcBef>
              <a:spcAft>
                <a:spcPts val="400"/>
              </a:spcAft>
              <a:buFont typeface="Arial"/>
              <a:buChar char="•"/>
            </a:pPr>
            <a:r>
              <a:rPr lang="en-US" sz="2000" b="1" dirty="0">
                <a:solidFill>
                  <a:srgbClr val="404040"/>
                </a:solidFill>
                <a:latin typeface="Consolas"/>
              </a:rPr>
              <a:t>/Launch</a:t>
            </a:r>
            <a:r>
              <a:rPr lang="en-US" sz="2000" b="1" dirty="0">
                <a:solidFill>
                  <a:srgbClr val="404040"/>
                </a:solidFill>
              </a:rPr>
              <a:t>, </a:t>
            </a:r>
            <a:r>
              <a:rPr lang="en-US" sz="2000" b="1" dirty="0">
                <a:solidFill>
                  <a:srgbClr val="404040"/>
                </a:solidFill>
                <a:latin typeface="Consolas"/>
              </a:rPr>
              <a:t>/</a:t>
            </a:r>
            <a:r>
              <a:rPr lang="en-US" sz="2000" b="1" err="1">
                <a:solidFill>
                  <a:srgbClr val="404040"/>
                </a:solidFill>
                <a:latin typeface="Consolas"/>
              </a:rPr>
              <a:t>OpenAction</a:t>
            </a:r>
            <a:endParaRPr lang="en-US" sz="2000" b="1">
              <a:latin typeface="Consolas"/>
            </a:endParaRPr>
          </a:p>
          <a:p>
            <a:pPr marL="383540" lvl="1" indent="-285750">
              <a:spcBef>
                <a:spcPts val="200"/>
              </a:spcBef>
              <a:spcAft>
                <a:spcPts val="400"/>
              </a:spcAft>
              <a:buFont typeface="Arial"/>
              <a:buChar char="•"/>
            </a:pPr>
            <a:r>
              <a:rPr lang="en-US" sz="2000" b="1" dirty="0">
                <a:solidFill>
                  <a:srgbClr val="404040"/>
                </a:solidFill>
                <a:latin typeface="Consolas"/>
              </a:rPr>
              <a:t>/</a:t>
            </a:r>
            <a:r>
              <a:rPr lang="en-US" sz="2000" b="1" err="1">
                <a:solidFill>
                  <a:srgbClr val="404040"/>
                </a:solidFill>
                <a:latin typeface="Consolas"/>
              </a:rPr>
              <a:t>EmbeddedFile</a:t>
            </a:r>
            <a:endParaRPr lang="en-US" sz="2000" b="1">
              <a:latin typeface="Consolas"/>
            </a:endParaRP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Font typeface="Arial"/>
              <a:buChar char="•"/>
            </a:pPr>
            <a:r>
              <a:rPr lang="en-US" sz="2000" b="1" dirty="0">
                <a:solidFill>
                  <a:srgbClr val="404040"/>
                </a:solidFill>
              </a:rPr>
              <a:t>Logs alerts to a file</a:t>
            </a:r>
            <a:endParaRPr lang="en-US" sz="2000" b="1"/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Font typeface="Arial"/>
              <a:buChar char="•"/>
            </a:pPr>
            <a:r>
              <a:rPr lang="en-US" sz="2000" b="1" dirty="0">
                <a:solidFill>
                  <a:srgbClr val="404040"/>
                </a:solidFill>
              </a:rPr>
              <a:t>Sends desktop notifications</a:t>
            </a:r>
            <a:endParaRPr lang="en-US" sz="2000" b="1"/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Font typeface="Arial"/>
              <a:buChar char="•"/>
            </a:pPr>
            <a:r>
              <a:rPr lang="en-US" sz="2000" b="1" dirty="0">
                <a:solidFill>
                  <a:srgbClr val="404040"/>
                </a:solidFill>
              </a:rPr>
              <a:t>Automatically starts at boot via </a:t>
            </a:r>
            <a:r>
              <a:rPr lang="en-US" sz="2000" b="1" err="1">
                <a:solidFill>
                  <a:srgbClr val="404040"/>
                </a:solidFill>
              </a:rPr>
              <a:t>systemd</a:t>
            </a: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237037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F37A9-6E85-0CBC-B086-7DE49B52C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>
                <a:ea typeface="+mj-lt"/>
                <a:cs typeface="+mj-lt"/>
              </a:rPr>
              <a:t>PDF Threat Detection Using </a:t>
            </a:r>
            <a:r>
              <a:rPr lang="en-US" b="1" u="sng" err="1">
                <a:latin typeface="Consolas"/>
              </a:rPr>
              <a:t>pdfid</a:t>
            </a:r>
            <a:r>
              <a:rPr lang="en-US" b="1" u="sng" dirty="0">
                <a:ea typeface="+mj-lt"/>
                <a:cs typeface="+mj-lt"/>
              </a:rPr>
              <a:t> in Kali Linux SOC Lab</a:t>
            </a:r>
            <a:endParaRPr lang="en-US" b="1" u="s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F3030-7858-2EAA-1FCB-BFA26B406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sz="4200" dirty="0">
                <a:latin typeface="Bookman Old Style"/>
              </a:rPr>
              <a:t>🛡️ </a:t>
            </a:r>
            <a:r>
              <a:rPr lang="en-US" sz="4200" i="1" dirty="0">
                <a:latin typeface="Bookman Old Style"/>
              </a:rPr>
              <a:t>Proactively identifying embedded malware, JavaScript, exploits, and suspicious elements in PDF files before they compromise HR Teams or Executive Users.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258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ECDB4-5514-5360-5376-3E773667C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ea typeface="+mj-lt"/>
                <a:cs typeface="+mj-lt"/>
              </a:rPr>
              <a:t>Why PDF Analysis Matters</a:t>
            </a:r>
            <a:endParaRPr lang="en-US" b="1" u="s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E11C5-39BD-B7B5-968B-926FEB8C6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 lnSpcReduction="10000"/>
          </a:bodyPr>
          <a:lstStyle/>
          <a:p>
            <a:pPr>
              <a:buChar char="-"/>
            </a:pPr>
            <a:r>
              <a:rPr lang="en-US" dirty="0">
                <a:ea typeface="+mn-lt"/>
                <a:cs typeface="+mn-lt"/>
              </a:rPr>
              <a:t>90%+ of malware delivery in spear phishing relies on documents.</a:t>
            </a:r>
            <a:endParaRPr lang="en-US" dirty="0"/>
          </a:p>
          <a:p>
            <a:pPr>
              <a:buChar char="-"/>
            </a:pPr>
            <a:r>
              <a:rPr lang="en-US">
                <a:ea typeface="+mn-lt"/>
                <a:cs typeface="+mn-lt"/>
              </a:rPr>
              <a:t>PDFs often bypass AV tools due to embedded JS, exploits, or encoding.</a:t>
            </a:r>
            <a:endParaRPr lang="en-US"/>
          </a:p>
          <a:p>
            <a:pPr>
              <a:buChar char="-"/>
            </a:pPr>
            <a:r>
              <a:rPr lang="en-US">
                <a:ea typeface="+mn-lt"/>
                <a:cs typeface="+mn-lt"/>
              </a:rPr>
              <a:t>Human Resources teams are high-risk targets (resumes, contracts).</a:t>
            </a:r>
            <a:endParaRPr lang="en-US"/>
          </a:p>
          <a:p>
            <a:pPr>
              <a:buChar char="-"/>
            </a:pPr>
            <a:r>
              <a:rPr lang="en-US" err="1">
                <a:latin typeface="Consolas"/>
              </a:rPr>
              <a:t>pdfid</a:t>
            </a:r>
            <a:r>
              <a:rPr lang="en-US">
                <a:ea typeface="+mn-lt"/>
                <a:cs typeface="+mn-lt"/>
              </a:rPr>
              <a:t> helps detect:</a:t>
            </a:r>
            <a:endParaRPr lang="en-US"/>
          </a:p>
          <a:p>
            <a:pPr>
              <a:buChar char="-"/>
            </a:pPr>
            <a:r>
              <a:rPr lang="en-US">
                <a:ea typeface="+mn-lt"/>
                <a:cs typeface="+mn-lt"/>
              </a:rPr>
              <a:t>Obfuscated JavaScript</a:t>
            </a:r>
            <a:endParaRPr lang="en-US"/>
          </a:p>
          <a:p>
            <a:pPr>
              <a:buChar char="-"/>
            </a:pPr>
            <a:r>
              <a:rPr lang="en-US">
                <a:ea typeface="+mn-lt"/>
                <a:cs typeface="+mn-lt"/>
              </a:rPr>
              <a:t>Launch actions</a:t>
            </a:r>
            <a:endParaRPr lang="en-US"/>
          </a:p>
          <a:p>
            <a:pPr>
              <a:buChar char="-"/>
            </a:pPr>
            <a:r>
              <a:rPr lang="en-US">
                <a:ea typeface="+mn-lt"/>
                <a:cs typeface="+mn-lt"/>
              </a:rPr>
              <a:t>Auto-open features (</a:t>
            </a:r>
            <a:r>
              <a:rPr lang="en-US" err="1">
                <a:ea typeface="+mn-lt"/>
                <a:cs typeface="+mn-lt"/>
              </a:rPr>
              <a:t>OpenAction</a:t>
            </a:r>
            <a:r>
              <a:rPr lang="en-US">
                <a:ea typeface="+mn-lt"/>
                <a:cs typeface="+mn-lt"/>
              </a:rPr>
              <a:t>, AA)</a:t>
            </a:r>
            <a:endParaRPr lang="en-US"/>
          </a:p>
          <a:p>
            <a:pPr>
              <a:buChar char="-"/>
            </a:pPr>
            <a:r>
              <a:rPr lang="en-US">
                <a:ea typeface="+mn-lt"/>
                <a:cs typeface="+mn-lt"/>
              </a:rPr>
              <a:t>Embedded files or streams</a:t>
            </a:r>
            <a:endParaRPr lang="en-US"/>
          </a:p>
          <a:p>
            <a:pPr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26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59EF9-2945-930E-6B6A-4CA56068D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ea typeface="+mj-lt"/>
                <a:cs typeface="+mj-lt"/>
              </a:rPr>
              <a:t>Tool Overview – What is </a:t>
            </a:r>
            <a:r>
              <a:rPr lang="en-US" b="1" u="sng" dirty="0" err="1">
                <a:latin typeface="Consolas"/>
              </a:rPr>
              <a:t>pdfid</a:t>
            </a:r>
            <a:r>
              <a:rPr lang="en-US" b="1" u="sng" dirty="0">
                <a:ea typeface="+mj-lt"/>
                <a:cs typeface="+mj-lt"/>
              </a:rPr>
              <a:t>?</a:t>
            </a:r>
            <a:endParaRPr lang="en-US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72441-62CF-CE08-5CDF-4A43391B5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077192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Char char="-"/>
            </a:pPr>
            <a:r>
              <a:rPr lang="en-US" dirty="0">
                <a:ea typeface="+mn-lt"/>
                <a:cs typeface="+mn-lt"/>
              </a:rPr>
              <a:t>Created by Didier Stevens (PDF forensics expert).</a:t>
            </a:r>
            <a:endParaRPr lang="en-US">
              <a:ea typeface="+mn-lt"/>
              <a:cs typeface="+mn-lt"/>
            </a:endParaRPr>
          </a:p>
          <a:p>
            <a:pPr>
              <a:buChar char="-"/>
            </a:pPr>
            <a:r>
              <a:rPr lang="en-US" dirty="0">
                <a:ea typeface="+mn-lt"/>
                <a:cs typeface="+mn-lt"/>
              </a:rPr>
              <a:t>Python-based tool, lightweight and fast.</a:t>
            </a:r>
          </a:p>
          <a:p>
            <a:pPr>
              <a:buChar char="-"/>
            </a:pPr>
            <a:r>
              <a:rPr lang="en-US" dirty="0">
                <a:ea typeface="+mn-lt"/>
                <a:cs typeface="+mn-lt"/>
              </a:rPr>
              <a:t>Performs </a:t>
            </a:r>
            <a:r>
              <a:rPr lang="en-US" b="1" dirty="0">
                <a:ea typeface="+mn-lt"/>
                <a:cs typeface="+mn-lt"/>
              </a:rPr>
              <a:t>static analysis</a:t>
            </a:r>
            <a:r>
              <a:rPr lang="en-US" dirty="0">
                <a:ea typeface="+mn-lt"/>
                <a:cs typeface="+mn-lt"/>
              </a:rPr>
              <a:t> of PDF metadata.</a:t>
            </a:r>
          </a:p>
          <a:p>
            <a:pPr>
              <a:buChar char="-"/>
            </a:pPr>
            <a:r>
              <a:rPr lang="en-US" dirty="0">
                <a:ea typeface="+mn-lt"/>
                <a:cs typeface="+mn-lt"/>
              </a:rPr>
              <a:t>No need to open the file (safe analysis).</a:t>
            </a:r>
          </a:p>
          <a:p>
            <a:pPr>
              <a:buChar char="-"/>
            </a:pPr>
            <a:r>
              <a:rPr lang="en-US" dirty="0">
                <a:ea typeface="+mn-lt"/>
                <a:cs typeface="+mn-lt"/>
              </a:rPr>
              <a:t>Flags:</a:t>
            </a:r>
            <a:endParaRPr lang="en-US" dirty="0"/>
          </a:p>
          <a:p>
            <a:pPr>
              <a:buChar char="-"/>
            </a:pPr>
            <a:r>
              <a:rPr lang="en-US" dirty="0">
                <a:latin typeface="Consolas"/>
              </a:rPr>
              <a:t>/JavaScript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>
                <a:latin typeface="Consolas"/>
              </a:rPr>
              <a:t>/</a:t>
            </a:r>
            <a:r>
              <a:rPr lang="en-US" dirty="0" err="1">
                <a:latin typeface="Consolas"/>
              </a:rPr>
              <a:t>OpenAction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>
                <a:latin typeface="Consolas"/>
              </a:rPr>
              <a:t>/AA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>
                <a:latin typeface="Consolas"/>
              </a:rPr>
              <a:t>/Launch</a:t>
            </a:r>
          </a:p>
          <a:p>
            <a:pPr>
              <a:buChar char="-"/>
            </a:pPr>
            <a:r>
              <a:rPr lang="en-US" dirty="0">
                <a:latin typeface="Consolas"/>
              </a:rPr>
              <a:t>/</a:t>
            </a:r>
            <a:r>
              <a:rPr lang="en-US" dirty="0" err="1">
                <a:latin typeface="Consolas"/>
              </a:rPr>
              <a:t>ObjStm</a:t>
            </a:r>
            <a:r>
              <a:rPr lang="en-US" dirty="0">
                <a:ea typeface="+mn-lt"/>
                <a:cs typeface="+mn-lt"/>
              </a:rPr>
              <a:t> (Object Streams)</a:t>
            </a:r>
          </a:p>
          <a:p>
            <a:pPr>
              <a:buChar char="-"/>
            </a:pPr>
            <a:r>
              <a:rPr lang="en-US" dirty="0">
                <a:latin typeface="Consolas"/>
              </a:rPr>
              <a:t>/</a:t>
            </a:r>
            <a:r>
              <a:rPr lang="en-US" dirty="0" err="1">
                <a:latin typeface="Consolas"/>
              </a:rPr>
              <a:t>EmbeddedFile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>
                <a:latin typeface="Consolas"/>
              </a:rPr>
              <a:t>/</a:t>
            </a:r>
            <a:r>
              <a:rPr lang="en-US" dirty="0" err="1">
                <a:latin typeface="Consolas"/>
              </a:rPr>
              <a:t>RichMedia</a:t>
            </a:r>
            <a:endParaRPr lang="en-US" dirty="0" err="1"/>
          </a:p>
          <a:p>
            <a:pPr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660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858C7-1AD1-8C84-D866-9300D22E2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ea typeface="+mj-lt"/>
                <a:cs typeface="+mj-lt"/>
              </a:rPr>
              <a:t>Key Terminal Commands &amp; What They Do.</a:t>
            </a:r>
          </a:p>
        </p:txBody>
      </p:sp>
      <p:pic>
        <p:nvPicPr>
          <p:cNvPr id="4" name="Content Placeholder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C5ED2D1-93C7-1215-5432-5185A1BD55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7967" y="2122578"/>
            <a:ext cx="4945327" cy="37608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31394E-05A1-CB16-D32C-B54896F569B7}"/>
              </a:ext>
            </a:extLst>
          </p:cNvPr>
          <p:cNvSpPr txBox="1"/>
          <p:nvPr/>
        </p:nvSpPr>
        <p:spPr>
          <a:xfrm>
            <a:off x="1714500" y="276225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95D054-72C0-65CA-62FE-D456BAFFC28C}"/>
              </a:ext>
            </a:extLst>
          </p:cNvPr>
          <p:cNvSpPr txBox="1"/>
          <p:nvPr/>
        </p:nvSpPr>
        <p:spPr>
          <a:xfrm>
            <a:off x="1465293" y="3623993"/>
            <a:ext cx="324640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INSTALLING THE  PDFID TOOL</a:t>
            </a:r>
          </a:p>
        </p:txBody>
      </p:sp>
    </p:spTree>
    <p:extLst>
      <p:ext uri="{BB962C8B-B14F-4D97-AF65-F5344CB8AC3E}">
        <p14:creationId xmlns:p14="http://schemas.microsoft.com/office/powerpoint/2010/main" val="3289388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9880C-DA0D-7693-C3F8-B97A78F2C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>
                <a:ea typeface="+mj-lt"/>
                <a:cs typeface="+mj-lt"/>
              </a:rPr>
              <a:t>Hands-on lab</a:t>
            </a:r>
            <a:r>
              <a:rPr lang="en-US" u="sng" dirty="0">
                <a:ea typeface="+mj-lt"/>
                <a:cs typeface="+mj-lt"/>
              </a:rPr>
              <a:t> </a:t>
            </a:r>
            <a:r>
              <a:rPr lang="en-US" b="1" u="sng" dirty="0">
                <a:ea typeface="+mj-lt"/>
                <a:cs typeface="+mj-lt"/>
              </a:rPr>
              <a:t>analyzing a PDF file for potential threats</a:t>
            </a:r>
            <a:endParaRPr lang="en-US" u="s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F5285-30E1-9333-C31C-26C69F8E3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 lnSpcReduction="10000"/>
          </a:bodyPr>
          <a:lstStyle/>
          <a:p>
            <a:pPr>
              <a:buChar char="-"/>
            </a:pPr>
            <a:r>
              <a:rPr lang="en-US" dirty="0">
                <a:ea typeface="+mn-lt"/>
                <a:cs typeface="+mn-lt"/>
              </a:rPr>
              <a:t>Navigate to the Directory.</a:t>
            </a:r>
            <a:endParaRPr lang="en-US"/>
          </a:p>
          <a:p>
            <a:pPr>
              <a:buChar char="-"/>
            </a:pPr>
            <a:r>
              <a:rPr lang="en-US">
                <a:ea typeface="+mn-lt"/>
                <a:cs typeface="+mn-lt"/>
              </a:rPr>
              <a:t>List the File.</a:t>
            </a:r>
            <a:endParaRPr lang="en-US" dirty="0">
              <a:ea typeface="+mn-lt"/>
              <a:cs typeface="+mn-lt"/>
            </a:endParaRPr>
          </a:p>
          <a:p>
            <a:pPr>
              <a:buChar char="-"/>
            </a:pPr>
            <a:r>
              <a:rPr lang="en-US" b="1"/>
              <a:t>Run Basic </a:t>
            </a:r>
            <a:r>
              <a:rPr lang="en-US" b="1">
                <a:latin typeface="Consolas"/>
                <a:ea typeface="+mn-lt"/>
                <a:cs typeface="+mn-lt"/>
              </a:rPr>
              <a:t>pdfid</a:t>
            </a:r>
            <a:r>
              <a:rPr lang="en-US" b="1" dirty="0"/>
              <a:t> </a:t>
            </a:r>
            <a:r>
              <a:rPr lang="en-US"/>
              <a:t>Run the basic scan on your file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 u="sng" dirty="0">
                <a:ea typeface="+mn-lt"/>
                <a:cs typeface="+mn-lt"/>
              </a:rPr>
              <a:t>What to look for in the output:</a:t>
            </a:r>
            <a:endParaRPr lang="en-US" b="1" u="sng" dirty="0"/>
          </a:p>
          <a:p>
            <a:pPr>
              <a:buChar char="-"/>
            </a:pPr>
            <a:r>
              <a:rPr lang="en-US">
                <a:latin typeface="Consolas"/>
              </a:rPr>
              <a:t>/JavaScript</a:t>
            </a:r>
            <a:r>
              <a:rPr lang="en-US">
                <a:ea typeface="+mn-lt"/>
                <a:cs typeface="+mn-lt"/>
              </a:rPr>
              <a:t> – indicates embedded scripts (usually bad)</a:t>
            </a:r>
            <a:endParaRPr lang="en-US"/>
          </a:p>
          <a:p>
            <a:pPr>
              <a:buChar char="-"/>
            </a:pPr>
            <a:r>
              <a:rPr lang="en-US">
                <a:latin typeface="Consolas"/>
              </a:rPr>
              <a:t>/</a:t>
            </a:r>
            <a:r>
              <a:rPr lang="en-US" err="1">
                <a:latin typeface="Consolas"/>
              </a:rPr>
              <a:t>OpenAction</a:t>
            </a:r>
            <a:r>
              <a:rPr lang="en-US">
                <a:ea typeface="+mn-lt"/>
                <a:cs typeface="+mn-lt"/>
              </a:rPr>
              <a:t> – executes actions on open</a:t>
            </a:r>
            <a:endParaRPr lang="en-US"/>
          </a:p>
          <a:p>
            <a:pPr>
              <a:buChar char="-"/>
            </a:pPr>
            <a:r>
              <a:rPr lang="en-US">
                <a:latin typeface="Consolas"/>
              </a:rPr>
              <a:t>/Launch</a:t>
            </a:r>
            <a:r>
              <a:rPr lang="en-US">
                <a:ea typeface="+mn-lt"/>
                <a:cs typeface="+mn-lt"/>
              </a:rPr>
              <a:t> – can launch commands (very suspicious)</a:t>
            </a:r>
            <a:endParaRPr lang="en-US"/>
          </a:p>
          <a:p>
            <a:pPr>
              <a:buChar char="-"/>
            </a:pPr>
            <a:r>
              <a:rPr lang="en-US">
                <a:latin typeface="Consolas"/>
              </a:rPr>
              <a:t>/</a:t>
            </a:r>
            <a:r>
              <a:rPr lang="en-US" err="1">
                <a:latin typeface="Consolas"/>
              </a:rPr>
              <a:t>EmbeddedFile</a:t>
            </a:r>
            <a:r>
              <a:rPr lang="en-US">
                <a:ea typeface="+mn-lt"/>
                <a:cs typeface="+mn-lt"/>
              </a:rPr>
              <a:t> or </a:t>
            </a:r>
            <a:r>
              <a:rPr lang="en-US">
                <a:latin typeface="Consolas"/>
              </a:rPr>
              <a:t>/</a:t>
            </a:r>
            <a:r>
              <a:rPr lang="en-US" err="1">
                <a:latin typeface="Consolas"/>
              </a:rPr>
              <a:t>RichMedia</a:t>
            </a:r>
            <a:r>
              <a:rPr lang="en-US">
                <a:ea typeface="+mn-lt"/>
                <a:cs typeface="+mn-lt"/>
              </a:rPr>
              <a:t> – may hide malware</a:t>
            </a:r>
            <a:endParaRPr lang="en-US"/>
          </a:p>
          <a:p>
            <a:pPr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595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48B4202-DCD5-4F8C-B481-743A989A9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D378FD-02DE-8EA2-FC16-AEE32B863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30"/>
            <a:ext cx="10909073" cy="95790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900" b="1" u="sng">
                <a:solidFill>
                  <a:schemeClr val="tx1">
                    <a:lumMod val="85000"/>
                    <a:lumOff val="15000"/>
                  </a:schemeClr>
                </a:solidFill>
              </a:rPr>
              <a:t>If you see any non-zero values for /JavaScript, /OpenAction, or /Launch, the PDF is highly suspicious.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1F50B2-93BD-5295-A350-038689DD1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79" y="897774"/>
            <a:ext cx="5299675" cy="2914820"/>
          </a:xfrm>
          <a:prstGeom prst="rect">
            <a:avLst/>
          </a:prstGeom>
        </p:spPr>
      </p:pic>
      <p:pic>
        <p:nvPicPr>
          <p:cNvPr id="4" name="Content Placeholder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526D9E9-A772-0661-9514-19B977776A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5320" y="1344291"/>
            <a:ext cx="5302232" cy="176299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7F57F6B-E621-4E40-A34D-2FE12902A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45296"/>
            <a:ext cx="105156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EE702CF-91CE-4661-ACBF-3C8160D1B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70936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19CC9-4DC3-FD94-96EE-6105BD5D4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752" y="286603"/>
            <a:ext cx="10403456" cy="1422003"/>
          </a:xfrm>
        </p:spPr>
        <p:txBody>
          <a:bodyPr/>
          <a:lstStyle/>
          <a:p>
            <a:r>
              <a:rPr lang="en-US" b="1" u="sng" dirty="0">
                <a:ea typeface="+mj-lt"/>
                <a:cs typeface="+mj-lt"/>
              </a:rPr>
              <a:t>Decode Hex-Encoded/Obfuscated Content</a:t>
            </a:r>
            <a:endParaRPr lang="en-US" b="1" u="sng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404FC54-F840-B042-BFC7-EC4B932619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85620" y="2065069"/>
            <a:ext cx="6251153" cy="40484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EA8DFF-75DC-2735-6949-A951124DA431}"/>
              </a:ext>
            </a:extLst>
          </p:cNvPr>
          <p:cNvSpPr txBox="1"/>
          <p:nvPr/>
        </p:nvSpPr>
        <p:spPr>
          <a:xfrm>
            <a:off x="920750" y="354012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10CFA0-EEE2-526E-EA31-58B399D4BC34}"/>
              </a:ext>
            </a:extLst>
          </p:cNvPr>
          <p:cNvSpPr txBox="1"/>
          <p:nvPr/>
        </p:nvSpPr>
        <p:spPr>
          <a:xfrm>
            <a:off x="1148991" y="3308290"/>
            <a:ext cx="27432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This enables escaping and may reveal hidden JavaScript that wasn't detected in plain format.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4275890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AAF8-40B0-C3DD-3F33-603380F69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659" y="114077"/>
            <a:ext cx="10159042" cy="2572190"/>
          </a:xfrm>
        </p:spPr>
        <p:txBody>
          <a:bodyPr>
            <a:normAutofit/>
          </a:bodyPr>
          <a:lstStyle/>
          <a:p>
            <a:r>
              <a:rPr lang="en-US" b="1" u="sng" dirty="0"/>
              <a:t>Dump Results to a File</a:t>
            </a:r>
            <a:endParaRPr lang="en-US" u="sng"/>
          </a:p>
          <a:p>
            <a:r>
              <a:rPr lang="en-US" dirty="0">
                <a:ea typeface="+mj-lt"/>
                <a:cs typeface="+mj-lt"/>
              </a:rPr>
              <a:t>For reporting purpose I output the results to a </a:t>
            </a:r>
            <a:r>
              <a:rPr lang="en-US" dirty="0">
                <a:latin typeface="Consolas"/>
              </a:rPr>
              <a:t>.txt</a:t>
            </a:r>
            <a:r>
              <a:rPr lang="en-US" dirty="0">
                <a:ea typeface="+mj-lt"/>
                <a:cs typeface="+mj-lt"/>
              </a:rPr>
              <a:t> file:</a:t>
            </a:r>
            <a:endParaRPr lang="en-US" dirty="0"/>
          </a:p>
          <a:p>
            <a:endParaRPr lang="en-US" dirty="0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426922-738F-27A9-D140-374C1762B6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0622" y="2424503"/>
            <a:ext cx="7591716" cy="3760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248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511FF-AA59-F26D-29ED-DA5800673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777" y="214717"/>
            <a:ext cx="12200626" cy="1709549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I got some errors due to bad network from the weather and I was able to fix the broken dependencies, and installed the </a:t>
            </a:r>
            <a:r>
              <a:rPr lang="en-US" b="1" u="sng" dirty="0" err="1"/>
              <a:t>exiftool</a:t>
            </a:r>
            <a:r>
              <a:rPr lang="en-US" b="1" u="sng" dirty="0"/>
              <a:t>.</a:t>
            </a:r>
          </a:p>
        </p:txBody>
      </p:sp>
      <p:pic>
        <p:nvPicPr>
          <p:cNvPr id="4" name="Content Placeholder 3" descr="A computer screen shot of white text&#10;&#10;AI-generated content may be incorrect.">
            <a:extLst>
              <a:ext uri="{FF2B5EF4-FFF2-40B4-BE49-F238E27FC236}">
                <a16:creationId xmlns:a16="http://schemas.microsoft.com/office/drawing/2014/main" id="{BBAF1729-9C6C-3612-3FC2-0862AA354D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6688" y="2795505"/>
            <a:ext cx="8982075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757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40791F6-715D-481A-9C4A-3645AECFD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BBBD5D-F137-853B-C39B-CE8643034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" y="376154"/>
            <a:ext cx="6389302" cy="1896455"/>
          </a:xfrm>
        </p:spPr>
        <p:txBody>
          <a:bodyPr>
            <a:normAutofit fontScale="90000"/>
          </a:bodyPr>
          <a:lstStyle/>
          <a:p>
            <a:r>
              <a:rPr lang="en-US" sz="2900" b="1" dirty="0"/>
              <a:t>Problem solves so I went ahead and continue. </a:t>
            </a:r>
            <a:r>
              <a:rPr lang="en-US" sz="2900" b="1" u="sng" dirty="0"/>
              <a:t>Combine With Metadata Scan</a:t>
            </a:r>
          </a:p>
          <a:p>
            <a:r>
              <a:rPr lang="en-US" sz="2900" b="1" dirty="0">
                <a:ea typeface="+mj-lt"/>
                <a:cs typeface="+mj-lt"/>
              </a:rPr>
              <a:t>For deeper inspection, and follow up.</a:t>
            </a:r>
            <a:endParaRPr lang="en-US" sz="2900" b="1" dirty="0"/>
          </a:p>
          <a:p>
            <a:endParaRPr lang="en-US" sz="29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40F83A4-FAC4-4867-95A5-BBFD280C7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76240" y="2267421"/>
            <a:ext cx="603504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ED4CC-B7F9-0B2A-80E9-E13F912F9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7" y="2349927"/>
            <a:ext cx="6389302" cy="3763582"/>
          </a:xfrm>
        </p:spPr>
        <p:txBody>
          <a:bodyPr vert="horz" lIns="0" tIns="45720" rIns="0" bIns="45720" rtlCol="0" anchor="t">
            <a:noAutofit/>
          </a:bodyPr>
          <a:lstStyle/>
          <a:p>
            <a:pPr marL="0" indent="0">
              <a:buNone/>
            </a:pPr>
            <a:r>
              <a:rPr lang="en-US" sz="1800" b="1" u="sng" dirty="0">
                <a:ea typeface="+mn-lt"/>
                <a:cs typeface="+mn-lt"/>
              </a:rPr>
              <a:t>This reveals</a:t>
            </a:r>
            <a:r>
              <a:rPr lang="en-US" sz="1800" b="1" dirty="0">
                <a:ea typeface="+mn-lt"/>
                <a:cs typeface="+mn-lt"/>
              </a:rPr>
              <a:t>:</a:t>
            </a:r>
            <a:endParaRPr lang="en-US" sz="1800" b="1"/>
          </a:p>
          <a:p>
            <a:pPr>
              <a:buChar char="-"/>
            </a:pPr>
            <a:r>
              <a:rPr lang="en-US" sz="1800" b="1" dirty="0">
                <a:ea typeface="+mn-lt"/>
                <a:cs typeface="+mn-lt"/>
              </a:rPr>
              <a:t>Author                                                         - PDF generator</a:t>
            </a:r>
            <a:endParaRPr lang="en-US" sz="1800" b="1"/>
          </a:p>
          <a:p>
            <a:pPr>
              <a:buChar char="-"/>
            </a:pPr>
            <a:r>
              <a:rPr lang="en-US" sz="1800" b="1" dirty="0">
                <a:ea typeface="+mn-lt"/>
                <a:cs typeface="+mn-lt"/>
              </a:rPr>
              <a:t>Creation timestamp (can be spoofed)       - Modification history</a:t>
            </a:r>
            <a:endParaRPr lang="en-US" sz="1800" b="1"/>
          </a:p>
          <a:p>
            <a:pPr>
              <a:buChar char="-"/>
            </a:pPr>
            <a:r>
              <a:rPr lang="en-US" sz="1800" b="1" i="1" dirty="0">
                <a:ea typeface="+mn-lt"/>
                <a:cs typeface="+mn-lt"/>
              </a:rPr>
              <a:t>Expands the scan to detect encoded/embedded JS that might not appear in plain form.</a:t>
            </a:r>
            <a:endParaRPr lang="en-US" sz="1800" b="1"/>
          </a:p>
          <a:p>
            <a:pPr>
              <a:buChar char="-"/>
            </a:pPr>
            <a:r>
              <a:rPr lang="en-US" sz="1800" b="1" dirty="0">
                <a:ea typeface="+mn-lt"/>
                <a:cs typeface="+mn-lt"/>
              </a:rPr>
              <a:t>Extracts and decodes hidden payloads or obfuscated code within PDF streams.</a:t>
            </a:r>
            <a:endParaRPr lang="en-US" sz="1800" b="1" i="1"/>
          </a:p>
          <a:p>
            <a:pPr>
              <a:buChar char="-"/>
            </a:pPr>
            <a:r>
              <a:rPr lang="en-US" sz="1800" b="1" i="1" dirty="0">
                <a:ea typeface="+mn-lt"/>
                <a:cs typeface="+mn-lt"/>
              </a:rPr>
              <a:t>Batch analysis for HR teams or shared folders—helps identify risky documents at scale.</a:t>
            </a:r>
            <a:endParaRPr lang="en-US" sz="1800" b="1" dirty="0"/>
          </a:p>
          <a:p>
            <a:pPr>
              <a:buChar char="-"/>
            </a:pPr>
            <a:endParaRPr lang="en-US" sz="1400" b="1" dirty="0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B25B900-BC6C-E091-AB7F-47317EA41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687" y="1079197"/>
            <a:ext cx="4001315" cy="1630536"/>
          </a:xfrm>
          <a:prstGeom prst="rect">
            <a:avLst/>
          </a:prstGeom>
        </p:spPr>
      </p:pic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E0B541C-FC87-034D-3732-02DC8BD72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686" y="3816455"/>
            <a:ext cx="4001315" cy="175057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11CBAFA-D7E0-40A7-BB94-2C05304B4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7205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D5BD7-0226-3B52-52A7-7379E466D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525" y="531018"/>
            <a:ext cx="10058400" cy="832532"/>
          </a:xfrm>
        </p:spPr>
        <p:txBody>
          <a:bodyPr>
            <a:normAutofit/>
          </a:bodyPr>
          <a:lstStyle/>
          <a:p>
            <a:r>
              <a:rPr lang="en-US" sz="5400" b="1" u="sng" dirty="0"/>
              <a:t>SOC Use Case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B5E82-059E-3CB8-1327-5336F653F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526" y="2021937"/>
            <a:ext cx="10058400" cy="3947797"/>
          </a:xfrm>
        </p:spPr>
        <p:txBody>
          <a:bodyPr vert="horz" lIns="0" tIns="45720" rIns="0" bIns="45720" rtlCol="0" anchor="t">
            <a:normAutofit fontScale="70000" lnSpcReduction="20000"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sz="4200" dirty="0">
                <a:latin typeface="Bookman Old Style"/>
              </a:rPr>
              <a:t>🔎 </a:t>
            </a:r>
            <a:r>
              <a:rPr lang="en-US" sz="4200" b="1" i="1" dirty="0">
                <a:latin typeface="Bookman Old Style"/>
              </a:rPr>
              <a:t>Scenario: Resume.doc disguised as Resume.pdf hits HR inbox</a:t>
            </a:r>
            <a:endParaRPr lang="en-US" sz="4200" b="1" dirty="0">
              <a:latin typeface="Bookman Old Style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sz="4200" dirty="0">
                <a:latin typeface="Bookman Old Style"/>
              </a:rPr>
              <a:t>                      </a:t>
            </a:r>
            <a:r>
              <a:rPr lang="en-US" sz="4200" u="sng" dirty="0">
                <a:latin typeface="Bookman Old Style"/>
              </a:rPr>
              <a:t>Steps</a:t>
            </a:r>
            <a:r>
              <a:rPr lang="en-US" sz="4200" dirty="0">
                <a:latin typeface="Bookman Old Style"/>
              </a:rPr>
              <a:t>:</a:t>
            </a:r>
          </a:p>
          <a:p>
            <a:pPr>
              <a:buChar char="-"/>
            </a:pPr>
            <a:r>
              <a:rPr lang="en-US" sz="4200" dirty="0">
                <a:ea typeface="+mn-lt"/>
                <a:cs typeface="+mn-lt"/>
              </a:rPr>
              <a:t>HR saves the PDF to shared drive</a:t>
            </a:r>
            <a:endParaRPr lang="en-US" sz="4200" dirty="0">
              <a:latin typeface="Bookman Old Style"/>
            </a:endParaRPr>
          </a:p>
          <a:p>
            <a:pPr>
              <a:buChar char="-"/>
            </a:pPr>
            <a:r>
              <a:rPr lang="en-US" sz="4200" dirty="0">
                <a:ea typeface="+mn-lt"/>
                <a:cs typeface="+mn-lt"/>
              </a:rPr>
              <a:t>SOC script auto-runs </a:t>
            </a:r>
            <a:r>
              <a:rPr lang="en-US" sz="4200" dirty="0" err="1">
                <a:latin typeface="Consolas"/>
              </a:rPr>
              <a:t>pdfid</a:t>
            </a:r>
            <a:r>
              <a:rPr lang="en-US" sz="4200" dirty="0">
                <a:ea typeface="+mn-lt"/>
                <a:cs typeface="+mn-lt"/>
              </a:rPr>
              <a:t> across all PDFs in </a:t>
            </a:r>
            <a:r>
              <a:rPr lang="en-US" sz="4200" dirty="0">
                <a:latin typeface="Consolas"/>
              </a:rPr>
              <a:t>/inbound</a:t>
            </a:r>
            <a:endParaRPr lang="en-US" dirty="0"/>
          </a:p>
          <a:p>
            <a:pPr>
              <a:buChar char="-"/>
            </a:pPr>
            <a:r>
              <a:rPr lang="en-US" sz="4200" dirty="0" err="1">
                <a:latin typeface="Consolas"/>
              </a:rPr>
              <a:t>pdfid</a:t>
            </a:r>
            <a:r>
              <a:rPr lang="en-US" sz="4200" dirty="0">
                <a:ea typeface="+mn-lt"/>
                <a:cs typeface="+mn-lt"/>
              </a:rPr>
              <a:t> detects </a:t>
            </a:r>
            <a:r>
              <a:rPr lang="en-US" sz="4200" dirty="0">
                <a:latin typeface="Consolas"/>
              </a:rPr>
              <a:t>/Launch</a:t>
            </a:r>
            <a:r>
              <a:rPr lang="en-US" sz="4200" dirty="0">
                <a:ea typeface="+mn-lt"/>
                <a:cs typeface="+mn-lt"/>
              </a:rPr>
              <a:t> and </a:t>
            </a:r>
            <a:r>
              <a:rPr lang="en-US" sz="4200" dirty="0">
                <a:latin typeface="Consolas"/>
              </a:rPr>
              <a:t>/JavaScript</a:t>
            </a:r>
            <a:endParaRPr lang="en-US" dirty="0"/>
          </a:p>
          <a:p>
            <a:pPr>
              <a:buChar char="-"/>
            </a:pPr>
            <a:r>
              <a:rPr lang="en-US" sz="4200" dirty="0">
                <a:ea typeface="+mn-lt"/>
                <a:cs typeface="+mn-lt"/>
              </a:rPr>
              <a:t>Alert is triggered → File quarantined → HR notified</a:t>
            </a:r>
            <a:endParaRPr lang="en-US" dirty="0"/>
          </a:p>
          <a:p>
            <a:pPr>
              <a:buChar char="-"/>
            </a:pPr>
            <a:r>
              <a:rPr lang="en-US" sz="4200" dirty="0">
                <a:ea typeface="+mn-lt"/>
                <a:cs typeface="+mn-lt"/>
              </a:rPr>
              <a:t>Analyst extracts metadata, hashes file, checks </a:t>
            </a:r>
            <a:r>
              <a:rPr lang="en-US" sz="4200" dirty="0" err="1">
                <a:ea typeface="+mn-lt"/>
                <a:cs typeface="+mn-lt"/>
              </a:rPr>
              <a:t>VirusTotal</a:t>
            </a:r>
            <a:endParaRPr lang="en-US" dirty="0" err="1"/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har char="-"/>
            </a:pPr>
            <a:endParaRPr lang="en-US" sz="4200" dirty="0">
              <a:latin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3657244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52FEF-1730-6941-616E-AC0E74821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ea typeface="+mj-lt"/>
                <a:cs typeface="+mj-lt"/>
              </a:rPr>
              <a:t>Real-World Impact &amp; Business Value</a:t>
            </a:r>
            <a:endParaRPr lang="en-US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71B4B-0847-252E-C61F-D96601069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sz="2400" b="1" dirty="0">
                <a:ea typeface="+mn-lt"/>
                <a:cs typeface="+mn-lt"/>
              </a:rPr>
              <a:t>- Prevents zero-click exploits (</a:t>
            </a:r>
            <a:r>
              <a:rPr lang="en-US" sz="2400" b="1" dirty="0" err="1">
                <a:ea typeface="+mn-lt"/>
                <a:cs typeface="+mn-lt"/>
              </a:rPr>
              <a:t>OpenAction</a:t>
            </a:r>
            <a:r>
              <a:rPr lang="en-US" sz="2400" b="1" dirty="0">
                <a:ea typeface="+mn-lt"/>
                <a:cs typeface="+mn-lt"/>
              </a:rPr>
              <a:t>, AA execution)</a:t>
            </a:r>
            <a:endParaRPr lang="en-US" sz="2400" b="1" dirty="0"/>
          </a:p>
          <a:p>
            <a:r>
              <a:rPr lang="en-US" sz="2400" b="1" dirty="0">
                <a:ea typeface="+mn-lt"/>
                <a:cs typeface="+mn-lt"/>
              </a:rPr>
              <a:t>- Saves HR from resume-based phishing attempts</a:t>
            </a:r>
            <a:endParaRPr lang="en-US" sz="2400" b="1" dirty="0"/>
          </a:p>
          <a:p>
            <a:r>
              <a:rPr lang="en-US" sz="2400" b="1" dirty="0">
                <a:ea typeface="+mn-lt"/>
                <a:cs typeface="+mn-lt"/>
              </a:rPr>
              <a:t>- Reduces risk of waterhole-style PDF drive-by attacks</a:t>
            </a:r>
            <a:endParaRPr lang="en-US" sz="2400" b="1" dirty="0"/>
          </a:p>
          <a:p>
            <a:r>
              <a:rPr lang="en-US" sz="2400" b="1" dirty="0">
                <a:ea typeface="+mn-lt"/>
                <a:cs typeface="+mn-lt"/>
              </a:rPr>
              <a:t>- Bolsters Blue Team's ability to pre-scan documents before SOC triage</a:t>
            </a:r>
            <a:endParaRPr lang="en-US" sz="2400" b="1" dirty="0"/>
          </a:p>
          <a:p>
            <a:r>
              <a:rPr lang="en-US" sz="2400" b="1" dirty="0">
                <a:ea typeface="+mn-lt"/>
                <a:cs typeface="+mn-lt"/>
              </a:rPr>
              <a:t>- Low resource overhead—can be part of CI/CD, mail pipelines, or SOC hunting tools</a:t>
            </a:r>
            <a:endParaRPr lang="en-US" sz="2400" b="1" dirty="0"/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47166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8BD37-250D-5EBB-E132-7CFA7D89F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ea typeface="+mj-lt"/>
                <a:cs typeface="+mj-lt"/>
              </a:rPr>
              <a:t> Automate </a:t>
            </a:r>
            <a:r>
              <a:rPr lang="en-US" b="1" u="sng" err="1">
                <a:ea typeface="+mj-lt"/>
                <a:cs typeface="+mj-lt"/>
              </a:rPr>
              <a:t>pdfid</a:t>
            </a:r>
            <a:r>
              <a:rPr lang="en-US" b="1" u="sng" dirty="0">
                <a:ea typeface="+mj-lt"/>
                <a:cs typeface="+mj-lt"/>
              </a:rPr>
              <a:t> scan + hash with Bash/Python scripts</a:t>
            </a:r>
            <a:endParaRPr lang="en-US" b="1" u="s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32089-C16B-49CF-6F9C-D55DF526D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>
                <a:latin typeface="Franklin Gothic Book"/>
                <a:ea typeface="+mn-lt"/>
                <a:cs typeface="+mn-lt"/>
              </a:rPr>
              <a:t>          </a:t>
            </a:r>
            <a:r>
              <a:rPr lang="en-US" b="1" u="sng" dirty="0">
                <a:latin typeface="+mj-lt"/>
                <a:ea typeface="+mn-lt"/>
                <a:cs typeface="+mn-lt"/>
              </a:rPr>
              <a:t>Chain with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>
              <a:buChar char="-"/>
            </a:pPr>
            <a:r>
              <a:rPr lang="en-US" sz="2400" err="1">
                <a:latin typeface="Consolas"/>
              </a:rPr>
              <a:t>exiftool</a:t>
            </a:r>
            <a:r>
              <a:rPr lang="en-US" sz="2400" dirty="0">
                <a:ea typeface="+mn-lt"/>
                <a:cs typeface="+mn-lt"/>
              </a:rPr>
              <a:t> – deeper metadata</a:t>
            </a:r>
            <a:endParaRPr lang="en-US" sz="2400"/>
          </a:p>
          <a:p>
            <a:pPr>
              <a:buChar char="-"/>
            </a:pPr>
            <a:r>
              <a:rPr lang="en-US" sz="2400" dirty="0">
                <a:latin typeface="Consolas"/>
              </a:rPr>
              <a:t>-pdf-parser.py</a:t>
            </a:r>
            <a:r>
              <a:rPr lang="en-US" sz="2400" dirty="0">
                <a:ea typeface="+mn-lt"/>
                <a:cs typeface="+mn-lt"/>
              </a:rPr>
              <a:t> – for deep inspection</a:t>
            </a:r>
            <a:endParaRPr lang="en-US" sz="2400"/>
          </a:p>
          <a:p>
            <a:pPr>
              <a:buChar char="-"/>
            </a:pPr>
            <a:r>
              <a:rPr lang="en-US" sz="2400" err="1">
                <a:latin typeface="Consolas"/>
              </a:rPr>
              <a:t>yara</a:t>
            </a:r>
            <a:r>
              <a:rPr lang="en-US" sz="2400" dirty="0">
                <a:ea typeface="+mn-lt"/>
                <a:cs typeface="+mn-lt"/>
              </a:rPr>
              <a:t> rules – for PDF behavior-based detection</a:t>
            </a:r>
            <a:endParaRPr lang="en-US" sz="2400" dirty="0"/>
          </a:p>
          <a:p>
            <a:pPr marL="0" indent="0">
              <a:buNone/>
            </a:pPr>
            <a:r>
              <a:rPr lang="en-US" sz="2000" b="1" dirty="0">
                <a:latin typeface="+mj-lt"/>
                <a:ea typeface="+mn-lt"/>
                <a:cs typeface="+mn-lt"/>
              </a:rPr>
              <a:t>📈 Include detection metrics in SOC dashboards (Splunk, </a:t>
            </a:r>
            <a:r>
              <a:rPr lang="en-US" sz="2000" b="1" dirty="0" err="1">
                <a:latin typeface="+mj-lt"/>
                <a:ea typeface="+mn-lt"/>
                <a:cs typeface="+mn-lt"/>
              </a:rPr>
              <a:t>Graylog</a:t>
            </a:r>
            <a:r>
              <a:rPr lang="en-US" sz="2000" b="1" dirty="0">
                <a:latin typeface="+mj-lt"/>
                <a:ea typeface="+mn-lt"/>
                <a:cs typeface="+mn-lt"/>
              </a:rPr>
              <a:t>, or ELK)</a:t>
            </a:r>
            <a:endParaRPr lang="en-US" sz="2000" b="1" dirty="0">
              <a:latin typeface="+mj-lt"/>
              <a:ea typeface="+mj-lt"/>
              <a:cs typeface="+mj-lt"/>
            </a:endParaRPr>
          </a:p>
          <a:p>
            <a:pPr marL="0" indent="0">
              <a:buNone/>
            </a:pPr>
            <a:r>
              <a:rPr lang="en-US" sz="2000" b="1" dirty="0">
                <a:latin typeface="+mj-lt"/>
                <a:ea typeface="+mn-lt"/>
                <a:cs typeface="+mn-lt"/>
              </a:rPr>
              <a:t>🧩 Package in my Red/Blue Team toolkit for social engineering simulations</a:t>
            </a:r>
            <a:endParaRPr lang="en-US" sz="2000" dirty="0">
              <a:latin typeface="+mj-lt"/>
            </a:endParaRPr>
          </a:p>
          <a:p>
            <a:pPr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935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3EB66-3345-6CA8-B934-8BFA26DF9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526" y="588528"/>
            <a:ext cx="11625531" cy="1896456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🧪 Case Study: Detecting Hidden Metadata in PDF Using </a:t>
            </a:r>
            <a:r>
              <a:rPr lang="en-US" b="1" u="sng" err="1">
                <a:latin typeface="Consolas"/>
              </a:rPr>
              <a:t>ExifTool</a:t>
            </a:r>
            <a:r>
              <a:rPr lang="en-US" b="1" u="sng" dirty="0"/>
              <a:t> – Threat Simulation</a:t>
            </a:r>
          </a:p>
          <a:p>
            <a:endParaRPr lang="en-US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F8DA7-074A-FDF7-AEDE-B1447B6A7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 fontScale="775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sz="4200" b="1" u="sng" dirty="0">
                <a:latin typeface="Bookman Old Style"/>
              </a:rPr>
              <a:t>Scenario</a:t>
            </a:r>
            <a:r>
              <a:rPr lang="en-US" sz="4200" dirty="0">
                <a:latin typeface="Bookman Old Style"/>
              </a:rPr>
              <a:t>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sz="4200" dirty="0">
                <a:latin typeface="Bookman Old Style"/>
              </a:rPr>
              <a:t>As part of my Cyber Threat Detection &amp; Response lab, I analyzed a suspicious recovery key PDF file using </a:t>
            </a:r>
            <a:r>
              <a:rPr lang="en-US" sz="4200" b="1" dirty="0" err="1">
                <a:latin typeface="Bookman Old Style"/>
              </a:rPr>
              <a:t>ExifTool</a:t>
            </a:r>
            <a:r>
              <a:rPr lang="en-US" sz="4200" dirty="0">
                <a:latin typeface="Bookman Old Style"/>
              </a:rPr>
              <a:t> on my hardened Kali Linux box. </a:t>
            </a:r>
            <a:endParaRPr lang="en-US" dirty="0">
              <a:latin typeface="Franklin Gothic Book" panose="020F0502020204030204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</a:pPr>
            <a:endParaRPr lang="en-US" sz="4200" dirty="0">
              <a:latin typeface="Bookman Old Style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sz="4200" b="1" u="sng" dirty="0">
                <a:latin typeface="Bookman Old Style"/>
              </a:rPr>
              <a:t>The objective</a:t>
            </a:r>
            <a:r>
              <a:rPr lang="en-US" sz="4200" dirty="0">
                <a:latin typeface="Bookman Old Style"/>
              </a:rPr>
              <a:t>: </a:t>
            </a:r>
            <a:endParaRPr lang="en-US" dirty="0">
              <a:latin typeface="Franklin Gothic Book" panose="020F0502020204030204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sz="4200" dirty="0">
                <a:latin typeface="Bookman Old Style"/>
              </a:rPr>
              <a:t>detect potential indicators of compromise and metadata revealing suspicious generation methods.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338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100B7-9F11-2A5E-6052-0DF008B48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61055"/>
            <a:ext cx="10058400" cy="961928"/>
          </a:xfrm>
        </p:spPr>
        <p:txBody>
          <a:bodyPr/>
          <a:lstStyle/>
          <a:p>
            <a:r>
              <a:rPr lang="en-US" b="1" u="sng" dirty="0"/>
              <a:t>VISUAL AID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D7712-F76B-51DB-F7E5-C793A6D5B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dirty="0"/>
              <a:t>🔍 File Details:</a:t>
            </a:r>
          </a:p>
          <a:p>
            <a:r>
              <a:rPr lang="en-US" b="1" dirty="0">
                <a:ea typeface="+mn-lt"/>
                <a:cs typeface="+mn-lt"/>
              </a:rPr>
              <a:t>Filename: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>
                <a:latin typeface="Consolas"/>
                <a:hlinkClick r:id="rId2"/>
              </a:rPr>
              <a:t>Mozilla-******************************leiwei@gmail.com.pdf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Size:</a:t>
            </a:r>
            <a:r>
              <a:rPr lang="en-US" dirty="0">
                <a:ea typeface="+mn-lt"/>
                <a:cs typeface="+mn-lt"/>
              </a:rPr>
              <a:t> 20 kB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PDF Producer &amp; Creator: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>
                <a:latin typeface="Consolas"/>
              </a:rPr>
              <a:t>react-pdf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Creation Date: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>
                <a:latin typeface="Consolas"/>
              </a:rPr>
              <a:t>2025:06:18 13:08:45Z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Linearized: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>
                <a:latin typeface="Consolas"/>
              </a:rPr>
              <a:t>No</a:t>
            </a:r>
            <a:r>
              <a:rPr lang="en-US" dirty="0">
                <a:ea typeface="+mn-lt"/>
                <a:cs typeface="+mn-lt"/>
              </a:rPr>
              <a:t> (this can indicate the file wasn’t optimized for web viewing — suspicious for some phishing lures)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Permissions: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latin typeface="Consolas"/>
              </a:rPr>
              <a:t>rw</a:t>
            </a:r>
            <a:r>
              <a:rPr lang="en-US" dirty="0">
                <a:latin typeface="Consolas"/>
              </a:rPr>
              <a:t>-</a:t>
            </a:r>
            <a:r>
              <a:rPr lang="en-US" dirty="0" err="1">
                <a:latin typeface="Consolas"/>
              </a:rPr>
              <a:t>rw</a:t>
            </a:r>
            <a:r>
              <a:rPr lang="en-US" dirty="0">
                <a:latin typeface="Consolas"/>
              </a:rPr>
              <a:t>-r--</a:t>
            </a:r>
            <a:r>
              <a:rPr lang="en-US" dirty="0">
                <a:ea typeface="+mn-lt"/>
                <a:cs typeface="+mn-lt"/>
              </a:rPr>
              <a:t> (exposed to group read/write)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7391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7219E-9E9C-5CAA-1836-1A436C4E8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82" y="300981"/>
            <a:ext cx="10877908" cy="1810191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</a:pPr>
            <a:r>
              <a:rPr lang="en-US" sz="5400" b="1" u="sng" dirty="0">
                <a:latin typeface="Bookman Old Style"/>
              </a:rPr>
              <a:t>Lessons for Enterprise Teams:</a:t>
            </a:r>
          </a:p>
          <a:p>
            <a:endParaRPr lang="en-US" sz="54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4793C-D4F2-85B4-B42E-8AB4CF126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 fontScale="92500" lnSpcReduction="20000"/>
          </a:bodyPr>
          <a:lstStyle/>
          <a:p>
            <a:pPr>
              <a:buChar char="-"/>
            </a:pPr>
            <a:r>
              <a:rPr lang="en-US" sz="2400" b="1" err="1">
                <a:ea typeface="+mn-lt"/>
                <a:cs typeface="+mn-lt"/>
              </a:rPr>
              <a:t>ExifTool</a:t>
            </a:r>
            <a:r>
              <a:rPr lang="en-US" sz="2400" b="1" dirty="0">
                <a:ea typeface="+mn-lt"/>
                <a:cs typeface="+mn-lt"/>
              </a:rPr>
              <a:t> is invaluable</a:t>
            </a:r>
            <a:r>
              <a:rPr lang="en-US" sz="2400" dirty="0">
                <a:ea typeface="+mn-lt"/>
                <a:cs typeface="+mn-lt"/>
              </a:rPr>
              <a:t> for detecting phishing attempts hiding in PDF attachments.</a:t>
            </a:r>
            <a:endParaRPr lang="en-US" sz="2400"/>
          </a:p>
          <a:p>
            <a:pPr>
              <a:buChar char="-"/>
            </a:pPr>
            <a:r>
              <a:rPr lang="en-US" sz="2400" b="1" dirty="0">
                <a:ea typeface="+mn-lt"/>
                <a:cs typeface="+mn-lt"/>
              </a:rPr>
              <a:t>HR and finance departments</a:t>
            </a:r>
            <a:r>
              <a:rPr lang="en-US" sz="2400" dirty="0">
                <a:ea typeface="+mn-lt"/>
                <a:cs typeface="+mn-lt"/>
              </a:rPr>
              <a:t> often receive PDF attachments—this analysis could prevent </a:t>
            </a:r>
            <a:r>
              <a:rPr lang="en-US" sz="2400" b="1" dirty="0">
                <a:ea typeface="+mn-lt"/>
                <a:cs typeface="+mn-lt"/>
              </a:rPr>
              <a:t>waterhole and spear-phishing attacks.</a:t>
            </a:r>
            <a:endParaRPr lang="en-US" sz="2400" dirty="0"/>
          </a:p>
          <a:p>
            <a:pPr marL="0" indent="0">
              <a:buNone/>
            </a:pPr>
            <a:r>
              <a:rPr lang="en-US" sz="2800" b="1" u="sng" dirty="0">
                <a:ea typeface="+mn-lt"/>
                <a:cs typeface="+mn-lt"/>
              </a:rPr>
              <a:t>Outcome:</a:t>
            </a:r>
          </a:p>
          <a:p>
            <a:pPr>
              <a:buChar char="-"/>
            </a:pPr>
            <a:r>
              <a:rPr lang="en-US" sz="2400" dirty="0">
                <a:ea typeface="+mn-lt"/>
                <a:cs typeface="+mn-lt"/>
              </a:rPr>
              <a:t>The metadata confirms the document was programmatically created using </a:t>
            </a:r>
            <a:r>
              <a:rPr lang="en-US" sz="2400" b="1" dirty="0">
                <a:ea typeface="+mn-lt"/>
                <a:cs typeface="+mn-lt"/>
              </a:rPr>
              <a:t>React-PDF</a:t>
            </a:r>
            <a:r>
              <a:rPr lang="en-US" sz="2400" dirty="0">
                <a:ea typeface="+mn-lt"/>
                <a:cs typeface="+mn-lt"/>
              </a:rPr>
              <a:t>, often used for automation or fake form generation.</a:t>
            </a:r>
            <a:endParaRPr lang="en-US" sz="2400"/>
          </a:p>
          <a:p>
            <a:pPr>
              <a:buChar char="-"/>
            </a:pPr>
            <a:r>
              <a:rPr lang="en-US" sz="2400" dirty="0">
                <a:ea typeface="+mn-lt"/>
                <a:cs typeface="+mn-lt"/>
              </a:rPr>
              <a:t>There are </a:t>
            </a:r>
            <a:r>
              <a:rPr lang="en-US" sz="2400" b="1" dirty="0">
                <a:ea typeface="+mn-lt"/>
                <a:cs typeface="+mn-lt"/>
              </a:rPr>
              <a:t>no embedded JavaScript, suspicious actions, or hidden files</a:t>
            </a:r>
            <a:r>
              <a:rPr lang="en-US" sz="2400" dirty="0">
                <a:ea typeface="+mn-lt"/>
                <a:cs typeface="+mn-lt"/>
              </a:rPr>
              <a:t> at this stage, but the tool allowed </a:t>
            </a:r>
            <a:r>
              <a:rPr lang="en-US" sz="2400" b="1" dirty="0">
                <a:ea typeface="+mn-lt"/>
                <a:cs typeface="+mn-lt"/>
              </a:rPr>
              <a:t>quick threat triage</a:t>
            </a:r>
            <a:r>
              <a:rPr lang="en-US" sz="2400" dirty="0">
                <a:ea typeface="+mn-lt"/>
                <a:cs typeface="+mn-lt"/>
              </a:rPr>
              <a:t>.</a:t>
            </a:r>
            <a:br>
              <a:rPr lang="en-US" dirty="0"/>
            </a:br>
            <a:endParaRPr lang="en-US"/>
          </a:p>
          <a:p>
            <a:pPr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096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F49AC-9A93-735C-31C0-F2701311E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61697"/>
            <a:ext cx="10058400" cy="861286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Automated PDF Threat Detection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E2D77-0815-68A8-EC1A-1DD438D4F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 fontScale="92500" lnSpcReduction="10000"/>
          </a:bodyPr>
          <a:lstStyle/>
          <a:p>
            <a:r>
              <a:rPr lang="en-US" sz="3200" b="1" u="sng" dirty="0"/>
              <a:t>TITLE</a:t>
            </a:r>
            <a:r>
              <a:rPr lang="en-US" sz="3200" dirty="0"/>
              <a:t>:</a:t>
            </a:r>
            <a:endParaRPr lang="en-US" sz="3200" dirty="0">
              <a:ea typeface="+mn-lt"/>
              <a:cs typeface="+mn-lt"/>
            </a:endParaRPr>
          </a:p>
          <a:p>
            <a:r>
              <a:rPr lang="en-US" sz="2800" b="1" dirty="0">
                <a:ea typeface="+mn-lt"/>
                <a:cs typeface="+mn-lt"/>
              </a:rPr>
              <a:t>Proactive Defense: Real-Time PDF Threat Monitoring Script</a:t>
            </a:r>
            <a:endParaRPr lang="en-US" sz="2800" b="1" dirty="0"/>
          </a:p>
          <a:p>
            <a:r>
              <a:rPr lang="en-US" sz="3200" b="1" u="sng" dirty="0"/>
              <a:t>CONTEXT</a:t>
            </a:r>
            <a:r>
              <a:rPr lang="en-US" sz="3200" dirty="0"/>
              <a:t>:</a:t>
            </a:r>
          </a:p>
          <a:p>
            <a:r>
              <a:rPr lang="en-US" sz="2800" dirty="0">
                <a:ea typeface="+mn-lt"/>
                <a:cs typeface="+mn-lt"/>
              </a:rPr>
              <a:t>Implemented a live PDF scanning solution to </a:t>
            </a:r>
            <a:r>
              <a:rPr lang="en-US" sz="2800" b="1" dirty="0">
                <a:ea typeface="+mn-lt"/>
                <a:cs typeface="+mn-lt"/>
              </a:rPr>
              <a:t>detect phishing documents</a:t>
            </a:r>
            <a:r>
              <a:rPr lang="en-US" sz="2800" dirty="0">
                <a:ea typeface="+mn-lt"/>
                <a:cs typeface="+mn-lt"/>
              </a:rPr>
              <a:t> downloaded by end-users.</a:t>
            </a:r>
            <a:endParaRPr lang="en-US" sz="2800" dirty="0"/>
          </a:p>
          <a:p>
            <a:r>
              <a:rPr lang="en-US" sz="2800" dirty="0">
                <a:ea typeface="+mn-lt"/>
                <a:cs typeface="+mn-lt"/>
              </a:rPr>
              <a:t>Combines </a:t>
            </a:r>
            <a:r>
              <a:rPr lang="en-US" sz="2800" b="1" dirty="0" err="1">
                <a:latin typeface="Consolas"/>
              </a:rPr>
              <a:t>pdfid</a:t>
            </a:r>
            <a:r>
              <a:rPr lang="en-US" sz="2800" b="1" dirty="0">
                <a:ea typeface="+mn-lt"/>
                <a:cs typeface="+mn-lt"/>
              </a:rPr>
              <a:t> + </a:t>
            </a:r>
            <a:r>
              <a:rPr lang="en-US" sz="2800" b="1" dirty="0" err="1">
                <a:latin typeface="Consolas"/>
              </a:rPr>
              <a:t>inotifywait</a:t>
            </a:r>
            <a:r>
              <a:rPr lang="en-US" sz="2800" b="1" dirty="0">
                <a:ea typeface="+mn-lt"/>
                <a:cs typeface="+mn-lt"/>
              </a:rPr>
              <a:t> + </a:t>
            </a:r>
            <a:r>
              <a:rPr lang="en-US" sz="2800" b="1" dirty="0" err="1">
                <a:ea typeface="+mn-lt"/>
                <a:cs typeface="+mn-lt"/>
              </a:rPr>
              <a:t>systemd</a:t>
            </a:r>
            <a:r>
              <a:rPr lang="en-US" sz="2800" dirty="0">
                <a:ea typeface="+mn-lt"/>
                <a:cs typeface="+mn-lt"/>
              </a:rPr>
              <a:t> for bulletproof automation.</a:t>
            </a: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1721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2BF80-77A4-190F-50D0-9613441FB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2374" y="272226"/>
            <a:ext cx="9382665" cy="933173"/>
          </a:xfrm>
        </p:spPr>
        <p:txBody>
          <a:bodyPr>
            <a:normAutofit/>
          </a:bodyPr>
          <a:lstStyle/>
          <a:p>
            <a:r>
              <a:rPr lang="en-US" b="1" u="sng" dirty="0"/>
              <a:t>Alerting System Using </a:t>
            </a:r>
            <a:r>
              <a:rPr lang="en-US" b="1" u="sng" dirty="0" err="1">
                <a:latin typeface="Consolas"/>
              </a:rPr>
              <a:t>pdfid</a:t>
            </a:r>
            <a:endParaRPr lang="en-US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DC9F2-46EF-D21F-D643-F7837A440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224" y="1202428"/>
            <a:ext cx="10719757" cy="4666664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sz="4200" dirty="0">
                <a:latin typeface="Bookman Old Style"/>
              </a:rPr>
              <a:t>I build a </a:t>
            </a:r>
            <a:r>
              <a:rPr lang="en-US" sz="4200" b="1" dirty="0">
                <a:latin typeface="Bookman Old Style"/>
              </a:rPr>
              <a:t>bash-based detection script</a:t>
            </a:r>
            <a:r>
              <a:rPr lang="en-US" sz="4200" dirty="0">
                <a:latin typeface="Bookman Old Style"/>
              </a:rPr>
              <a:t> that auto-scans every newly downloaded PDF on my system using </a:t>
            </a:r>
            <a:r>
              <a:rPr lang="en-US" sz="4200" dirty="0" err="1">
                <a:latin typeface="Consolas"/>
              </a:rPr>
              <a:t>pdfid</a:t>
            </a:r>
            <a:r>
              <a:rPr lang="en-US" sz="4200" dirty="0">
                <a:latin typeface="Bookman Old Style"/>
              </a:rPr>
              <a:t> and </a:t>
            </a:r>
            <a:r>
              <a:rPr lang="en-US" sz="4200" b="1" dirty="0">
                <a:latin typeface="Bookman Old Style"/>
              </a:rPr>
              <a:t>flags any that contain embedded JavaScript or launch actions</a:t>
            </a:r>
            <a:r>
              <a:rPr lang="en-US" sz="4200" dirty="0">
                <a:latin typeface="Bookman Old Style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914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86FF-DB61-7D43-3AD7-2D9B4A183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590" y="643468"/>
            <a:ext cx="3623545" cy="1746067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</a:pPr>
            <a:r>
              <a:rPr lang="en-US" sz="2400" b="1" u="sng" dirty="0">
                <a:ea typeface="+mj-lt"/>
                <a:cs typeface="+mj-lt"/>
              </a:rPr>
              <a:t>How It Works: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Font typeface="Calibri"/>
              <a:buChar char="-"/>
            </a:pPr>
            <a:r>
              <a:rPr lang="en-US" sz="2400" b="1" u="sng" dirty="0">
                <a:ea typeface="+mj-lt"/>
                <a:cs typeface="+mj-lt"/>
              </a:rPr>
              <a:t>📁 Watches the Downloads folder using </a:t>
            </a:r>
            <a:r>
              <a:rPr lang="en-US" sz="2400" b="1" u="sng" err="1">
                <a:ea typeface="+mj-lt"/>
                <a:cs typeface="+mj-lt"/>
              </a:rPr>
              <a:t>inotifywait</a:t>
            </a:r>
            <a:r>
              <a:rPr lang="en-US" sz="2400" b="1" u="sng" dirty="0">
                <a:ea typeface="+mj-lt"/>
                <a:cs typeface="+mj-lt"/>
              </a:rPr>
              <a:t>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B57AA8-F021-480C-A9E2-F89913313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D2A403-8DAA-BDC8-60BC-DCA6E760B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121" y="2596250"/>
            <a:ext cx="3435086" cy="3272844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n-US" sz="2000" b="1" dirty="0">
                <a:ea typeface="+mn-lt"/>
                <a:cs typeface="+mn-lt"/>
              </a:rPr>
              <a:t>🔍 Uses </a:t>
            </a:r>
            <a:r>
              <a:rPr lang="en-US" sz="2000" b="1" err="1">
                <a:latin typeface="Consolas"/>
              </a:rPr>
              <a:t>pdfid</a:t>
            </a:r>
            <a:r>
              <a:rPr lang="en-US" sz="2000" b="1" dirty="0">
                <a:ea typeface="+mn-lt"/>
                <a:cs typeface="+mn-lt"/>
              </a:rPr>
              <a:t> to scan for:</a:t>
            </a:r>
            <a:endParaRPr lang="en-US" sz="2000" b="1"/>
          </a:p>
          <a:p>
            <a:pPr marL="383540" lvl="1"/>
            <a:r>
              <a:rPr lang="en-US" sz="2000" b="1" dirty="0">
                <a:latin typeface="Consolas"/>
              </a:rPr>
              <a:t>/JavaScript</a:t>
            </a:r>
            <a:endParaRPr lang="en-US" sz="2000" b="1"/>
          </a:p>
          <a:p>
            <a:pPr marL="383540" lvl="1"/>
            <a:r>
              <a:rPr lang="en-US" sz="2000" b="1" dirty="0">
                <a:latin typeface="Consolas"/>
              </a:rPr>
              <a:t>/Launch</a:t>
            </a:r>
            <a:endParaRPr lang="en-US" sz="2000" b="1"/>
          </a:p>
          <a:p>
            <a:pPr marL="383540" lvl="1"/>
            <a:r>
              <a:rPr lang="en-US" sz="2000" b="1" dirty="0">
                <a:latin typeface="Consolas"/>
              </a:rPr>
              <a:t>/</a:t>
            </a:r>
            <a:r>
              <a:rPr lang="en-US" sz="2000" b="1" dirty="0" err="1">
                <a:latin typeface="Consolas"/>
              </a:rPr>
              <a:t>OpenAction</a:t>
            </a:r>
            <a:endParaRPr lang="en-US" sz="2000" b="1" dirty="0"/>
          </a:p>
          <a:p>
            <a:pPr marL="383540" lvl="1"/>
            <a:r>
              <a:rPr lang="en-US" sz="2000" b="1" dirty="0">
                <a:latin typeface="Consolas"/>
              </a:rPr>
              <a:t>/</a:t>
            </a:r>
            <a:r>
              <a:rPr lang="en-US" sz="2000" b="1" dirty="0" err="1">
                <a:latin typeface="Consolas"/>
              </a:rPr>
              <a:t>EmbeddedFile</a:t>
            </a:r>
            <a:endParaRPr lang="en-US" sz="2000" b="1" dirty="0"/>
          </a:p>
          <a:p>
            <a:r>
              <a:rPr lang="en-US" sz="2000" b="1" dirty="0">
                <a:ea typeface="+mn-lt"/>
                <a:cs typeface="+mn-lt"/>
              </a:rPr>
              <a:t>📢 Sends a desktop alert and logs suspicious findings to </a:t>
            </a:r>
            <a:r>
              <a:rPr lang="en-US" sz="2000" b="1" dirty="0">
                <a:latin typeface="Consolas"/>
              </a:rPr>
              <a:t>pdf_scan_alerts.log</a:t>
            </a:r>
            <a:r>
              <a:rPr lang="en-US" sz="2000" b="1" dirty="0">
                <a:ea typeface="+mn-lt"/>
                <a:cs typeface="+mn-lt"/>
              </a:rPr>
              <a:t>.</a:t>
            </a:r>
            <a:endParaRPr lang="en-US" sz="2000" b="1"/>
          </a:p>
          <a:p>
            <a:endParaRPr lang="en-US" sz="2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F36B24-6632-4516-9692-73146289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F1CDF8-97B2-B1B7-1E7B-68286EDA3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489" y="5360605"/>
            <a:ext cx="7391400" cy="507508"/>
          </a:xfrm>
          <a:prstGeom prst="rect">
            <a:avLst/>
          </a:prstGeom>
        </p:spPr>
      </p:pic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2B8F0D3A-7FDF-DA64-8CE9-CD6BAF7C8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564" y="642039"/>
            <a:ext cx="6471249" cy="41361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EBE8C9-416F-391B-01F9-4BC6B9817B3E}"/>
              </a:ext>
            </a:extLst>
          </p:cNvPr>
          <p:cNvSpPr txBox="1"/>
          <p:nvPr/>
        </p:nvSpPr>
        <p:spPr>
          <a:xfrm rot="-10800000" flipV="1">
            <a:off x="4893530" y="4990346"/>
            <a:ext cx="59781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Franklin Gothic Book"/>
              </a:rPr>
              <a:t>This gives it permission to run as a standalone program.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97482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2DFCD-E34A-31E3-182E-B9CAE5AAD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35" y="-944"/>
            <a:ext cx="11467381" cy="1422003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ea typeface="+mj-lt"/>
                <a:cs typeface="+mj-lt"/>
              </a:rPr>
              <a:t>Integrated the PDF monitoring alert script with system startup</a:t>
            </a:r>
            <a:r>
              <a:rPr lang="en-US" u="sng" dirty="0">
                <a:ea typeface="+mj-lt"/>
                <a:cs typeface="+mj-lt"/>
              </a:rPr>
              <a:t> using </a:t>
            </a:r>
            <a:r>
              <a:rPr lang="en-US" b="1" u="sng" err="1">
                <a:ea typeface="+mj-lt"/>
                <a:cs typeface="+mj-lt"/>
              </a:rPr>
              <a:t>systemd</a:t>
            </a:r>
            <a:endParaRPr lang="en-US" u="sng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6C526-00F8-B369-8EEF-38BFF3A17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🧰 Deploying PDF Threat Monitor at Startup (</a:t>
            </a:r>
            <a:r>
              <a:rPr lang="en-US" err="1">
                <a:ea typeface="+mn-lt"/>
                <a:cs typeface="+mn-lt"/>
              </a:rPr>
              <a:t>Systemd</a:t>
            </a:r>
            <a:r>
              <a:rPr lang="en-US" dirty="0">
                <a:ea typeface="+mn-lt"/>
                <a:cs typeface="+mn-lt"/>
              </a:rPr>
              <a:t> Service)</a:t>
            </a:r>
            <a:endParaRPr lang="en-US"/>
          </a:p>
          <a:p>
            <a:pPr>
              <a:buChar char="-"/>
            </a:pPr>
            <a:r>
              <a:rPr lang="en-US" dirty="0">
                <a:ea typeface="+mn-lt"/>
                <a:cs typeface="+mn-lt"/>
              </a:rPr>
              <a:t>Creating the </a:t>
            </a:r>
            <a:r>
              <a:rPr lang="en-US" dirty="0" err="1">
                <a:ea typeface="+mn-lt"/>
                <a:cs typeface="+mn-lt"/>
              </a:rPr>
              <a:t>Systemd</a:t>
            </a:r>
            <a:r>
              <a:rPr lang="en-US" dirty="0">
                <a:ea typeface="+mn-lt"/>
                <a:cs typeface="+mn-lt"/>
              </a:rPr>
              <a:t> Service File.</a:t>
            </a:r>
            <a:endParaRPr lang="en-US" dirty="0"/>
          </a:p>
          <a:p>
            <a:pPr>
              <a:buChar char="-"/>
            </a:pPr>
            <a:r>
              <a:rPr lang="en-US" dirty="0">
                <a:ea typeface="+mn-lt"/>
                <a:cs typeface="+mn-lt"/>
              </a:rPr>
              <a:t>Enable and Start the Service</a:t>
            </a:r>
            <a:endParaRPr lang="en-US" dirty="0"/>
          </a:p>
          <a:p>
            <a:pPr>
              <a:buChar char="-"/>
            </a:pPr>
            <a:r>
              <a:rPr lang="en-US" dirty="0">
                <a:ea typeface="+mn-lt"/>
                <a:cs typeface="+mn-lt"/>
              </a:rPr>
              <a:t>This will now automatically 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monitor new PDF downloads </a:t>
            </a: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every time my Kali system boots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77C2FD5-980C-A39F-E1C1-82F0972EF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2966" y="2256976"/>
            <a:ext cx="3667125" cy="676275"/>
          </a:xfrm>
          <a:prstGeom prst="rect">
            <a:avLst/>
          </a:prstGeom>
        </p:spPr>
      </p:pic>
      <p:pic>
        <p:nvPicPr>
          <p:cNvPr id="5" name="Picture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162546BC-0FE7-3AFD-844D-9ACE1103B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988" y="5233987"/>
            <a:ext cx="9182100" cy="962025"/>
          </a:xfrm>
          <a:prstGeom prst="rect">
            <a:avLst/>
          </a:prstGeom>
        </p:spPr>
      </p:pic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420C434-A09A-6CAC-FFBA-FFABBBE262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5105" y="2946729"/>
            <a:ext cx="3819525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9944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C5692-8D81-E12D-55AD-A71D0C87F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525" y="559773"/>
            <a:ext cx="10058400" cy="83253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6000" b="1" dirty="0">
                <a:solidFill>
                  <a:srgbClr val="000000"/>
                </a:solidFill>
                <a:ea typeface="+mj-lt"/>
                <a:cs typeface="+mj-lt"/>
              </a:rPr>
              <a:t>📊  Summary:</a:t>
            </a:r>
            <a:endParaRPr lang="en-US" sz="6000" dirty="0">
              <a:ea typeface="+mj-lt"/>
              <a:cs typeface="+mj-lt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89943AD-1088-6159-4C19-F210F11339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9030899"/>
              </p:ext>
            </p:extLst>
          </p:nvPr>
        </p:nvGraphicFramePr>
        <p:xfrm>
          <a:off x="1063925" y="1926566"/>
          <a:ext cx="10058400" cy="434349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314854568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4233138992"/>
                    </a:ext>
                  </a:extLst>
                </a:gridCol>
              </a:tblGrid>
              <a:tr h="7239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u="none" dirty="0">
                          <a:latin typeface="+mj-lt"/>
                        </a:rPr>
                        <a:t>🧠 What Learned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u="none" dirty="0">
                          <a:latin typeface="+mj-lt"/>
                        </a:rPr>
                        <a:t>💡 Application in Real Environments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241730"/>
                  </a:ext>
                </a:extLst>
              </a:tr>
              <a:tr h="723915">
                <a:tc>
                  <a:txBody>
                    <a:bodyPr/>
                    <a:lstStyle/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US" dirty="0"/>
                        <a:t>Metadata reveals hidden behavior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US" dirty="0"/>
                        <a:t>Monitor file origins &amp; suspicious flags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5645"/>
                  </a:ext>
                </a:extLst>
              </a:tr>
              <a:tr h="723915">
                <a:tc>
                  <a:txBody>
                    <a:bodyPr/>
                    <a:lstStyle/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US" dirty="0" err="1"/>
                        <a:t>PDFiD</a:t>
                      </a:r>
                      <a:r>
                        <a:rPr lang="en-US" dirty="0"/>
                        <a:t> flags embedded scripts &amp; launch 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US" dirty="0"/>
                        <a:t>Helps triage attachments in SOC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0695594"/>
                  </a:ext>
                </a:extLst>
              </a:tr>
              <a:tr h="723915">
                <a:tc>
                  <a:txBody>
                    <a:bodyPr/>
                    <a:lstStyle/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US" dirty="0" err="1"/>
                        <a:t>inotifywait</a:t>
                      </a:r>
                      <a:r>
                        <a:rPr lang="en-US" dirty="0"/>
                        <a:t> enables real-time alerting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US" dirty="0"/>
                        <a:t>Great for Red Team/Blue Team labs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270645"/>
                  </a:ext>
                </a:extLst>
              </a:tr>
              <a:tr h="723915">
                <a:tc>
                  <a:txBody>
                    <a:bodyPr/>
                    <a:lstStyle/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US" dirty="0"/>
                        <a:t>Alerting with notify-send and logging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US" dirty="0"/>
                        <a:t>Supports DFIR, audit &amp; accountability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3424492"/>
                  </a:ext>
                </a:extLst>
              </a:tr>
              <a:tr h="723915">
                <a:tc>
                  <a:txBody>
                    <a:bodyPr/>
                    <a:lstStyle/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US" dirty="0" err="1"/>
                        <a:t>ExifTool</a:t>
                      </a:r>
                      <a:r>
                        <a:rPr lang="en-US" dirty="0"/>
                        <a:t> helps verify PDF origin, version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US" dirty="0"/>
                        <a:t>Adds forensic depth to PDF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018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1041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45BF5-BFEB-9378-766B-D4BF6E8BE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82" y="272226"/>
            <a:ext cx="10892286" cy="1436380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ea typeface="+mj-lt"/>
                <a:cs typeface="+mj-lt"/>
              </a:rPr>
              <a:t>Final Takeaways + Branding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E01D37-D75B-3B84-3EDE-EA62AE347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979" y="1906918"/>
            <a:ext cx="10432210" cy="4494135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Not all payloads come as EXEs—sometimes, the real threat is a report, contract, proposal, resume or invoice.pdf.</a:t>
            </a:r>
          </a:p>
          <a:p>
            <a:r>
              <a:rPr lang="en-US" sz="1800" dirty="0"/>
              <a:t>🔐 </a:t>
            </a:r>
            <a:r>
              <a:rPr lang="en-US" sz="1800" b="1" dirty="0"/>
              <a:t>Key Takeaways</a:t>
            </a:r>
            <a:r>
              <a:rPr lang="en-US" sz="1800" dirty="0"/>
              <a:t>:</a:t>
            </a:r>
          </a:p>
          <a:p>
            <a:r>
              <a:rPr lang="en-US" sz="1800" dirty="0"/>
              <a:t>Combining lightweight CLI tools = a powerful pre-screening defense layer.</a:t>
            </a:r>
          </a:p>
          <a:p>
            <a:r>
              <a:rPr lang="en-US" sz="1800" dirty="0"/>
              <a:t>This lab reinforces the mindset of </a:t>
            </a:r>
            <a:r>
              <a:rPr lang="en-US" sz="1800" b="1" dirty="0"/>
              <a:t>security at first touch</a:t>
            </a:r>
            <a:r>
              <a:rPr lang="en-US" sz="1800" dirty="0"/>
              <a:t>—validating even before double-click.</a:t>
            </a:r>
          </a:p>
          <a:p>
            <a:r>
              <a:rPr lang="en-US" sz="1800" dirty="0"/>
              <a:t>Integrates well with SOC playbooks, phishing defenses, and even Red Team payload evaluation.</a:t>
            </a:r>
          </a:p>
          <a:p>
            <a:r>
              <a:rPr lang="en-US" sz="1800" dirty="0"/>
              <a:t>🎯 </a:t>
            </a:r>
            <a:r>
              <a:rPr lang="en-US" sz="1800" b="1" dirty="0"/>
              <a:t>Use Case Tie-ins</a:t>
            </a:r>
            <a:r>
              <a:rPr lang="en-US" sz="1800" dirty="0"/>
              <a:t>:</a:t>
            </a:r>
          </a:p>
          <a:p>
            <a:r>
              <a:rPr lang="en-US" sz="1800" b="1" dirty="0"/>
              <a:t>SOC Analyst</a:t>
            </a:r>
            <a:r>
              <a:rPr lang="en-US" sz="1800" dirty="0"/>
              <a:t>: Triage suspicious files at the entry point.</a:t>
            </a:r>
          </a:p>
          <a:p>
            <a:r>
              <a:rPr lang="en-US" sz="1800" b="1" dirty="0"/>
              <a:t>Red Team</a:t>
            </a:r>
            <a:r>
              <a:rPr lang="en-US" sz="1800" dirty="0"/>
              <a:t>: Validate crafted PDFs for stealth testing.</a:t>
            </a:r>
          </a:p>
          <a:p>
            <a:r>
              <a:rPr lang="en-US" sz="1800" b="1" dirty="0"/>
              <a:t>Blue Team:</a:t>
            </a:r>
            <a:r>
              <a:rPr lang="en-US" sz="1800" dirty="0"/>
              <a:t> Enforce document hygiene across departments.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6E490BB-C15D-D996-8A33-03683905A784}"/>
              </a:ext>
            </a:extLst>
          </p:cNvPr>
          <p:cNvSpPr>
            <a:spLocks noGrp="1"/>
          </p:cNvSpPr>
          <p:nvPr/>
        </p:nvSpPr>
        <p:spPr>
          <a:xfrm>
            <a:off x="-1102456" y="1418088"/>
            <a:ext cx="10058400" cy="3760891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8077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2003D-EFD4-2643-DF7B-07ECCBDB8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0827" y="1983131"/>
            <a:ext cx="5285117" cy="1450757"/>
          </a:xfrm>
        </p:spPr>
        <p:txBody>
          <a:bodyPr>
            <a:normAutofit/>
          </a:bodyPr>
          <a:lstStyle/>
          <a:p>
            <a:r>
              <a:rPr lang="en-US" sz="6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38455880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9EB45E-E4D2-4DCE-B9A6-76D2511C3B1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30492C7-3D05-4252-9070-907F9CD94CF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26888FA6-D30E-4A7B-B44D-38F479CF5C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TM22712842</Template>
  <TotalTime>0</TotalTime>
  <Words>121</Words>
  <Application>Microsoft Office PowerPoint</Application>
  <PresentationFormat>Widescreen</PresentationFormat>
  <Paragraphs>19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1_RetrospectVTI</vt:lpstr>
      <vt:lpstr>PRO-ACTIVE PDF THREAT DETECTION for SOC &amp; Red Team Defense</vt:lpstr>
      <vt:lpstr>️ Presentation Note Title: Proactive PDF Threat Detection for SOC &amp; Red Team Defense</vt:lpstr>
      <vt:lpstr>🎯 Business Value:</vt:lpstr>
      <vt:lpstr>PDF Threat Detection Using pdfid in Kali Linux SOC Lab</vt:lpstr>
      <vt:lpstr>Why PDF Analysis Matters</vt:lpstr>
      <vt:lpstr>Tool Overview – What is pdfid?</vt:lpstr>
      <vt:lpstr>Key Terminal Commands &amp; What They Do.</vt:lpstr>
      <vt:lpstr>Hands-on lab analyzing a PDF file for potential threats</vt:lpstr>
      <vt:lpstr>If you see any non-zero values for /JavaScript, /OpenAction, or /Launch, the PDF is highly suspicious.</vt:lpstr>
      <vt:lpstr>Decode Hex-Encoded/Obfuscated Content</vt:lpstr>
      <vt:lpstr>Dump Results to a File For reporting purpose I output the results to a .txt file: </vt:lpstr>
      <vt:lpstr>I got some errors due to bad network from the weather and I was able to fix the broken dependencies, and installed the exiftool.</vt:lpstr>
      <vt:lpstr>Problem solves so I went ahead and continue. Combine With Metadata Scan For deeper inspection, and follow up. </vt:lpstr>
      <vt:lpstr>SOC Use Case Simulation</vt:lpstr>
      <vt:lpstr>Real-World Impact &amp; Business Value</vt:lpstr>
      <vt:lpstr> Automate pdfid scan + hash with Bash/Python scripts</vt:lpstr>
      <vt:lpstr>🧪 Case Study: Detecting Hidden Metadata in PDF Using ExifTool – Threat Simulation </vt:lpstr>
      <vt:lpstr>VISUAL AID</vt:lpstr>
      <vt:lpstr>Lessons for Enterprise Teams: </vt:lpstr>
      <vt:lpstr>Automated PDF Threat Detection</vt:lpstr>
      <vt:lpstr>Alerting System Using pdfid</vt:lpstr>
      <vt:lpstr>How It Works: 📁 Watches the Downloads folder using inotifywait.</vt:lpstr>
      <vt:lpstr>Integrated the PDF monitoring alert script with system startup using systemd</vt:lpstr>
      <vt:lpstr>📊  Summary:</vt:lpstr>
      <vt:lpstr>Final Takeaways + Branding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630</cp:revision>
  <dcterms:created xsi:type="dcterms:W3CDTF">2025-07-02T15:03:03Z</dcterms:created>
  <dcterms:modified xsi:type="dcterms:W3CDTF">2025-07-03T14:30:25Z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