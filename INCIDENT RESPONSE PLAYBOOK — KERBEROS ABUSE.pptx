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00" r:id="rId5"/>
    <p:sldId id="308" r:id="rId6"/>
    <p:sldId id="309" r:id="rId7"/>
    <p:sldId id="310" r:id="rId8"/>
    <p:sldId id="311" r:id="rId9"/>
    <p:sldId id="312" r:id="rId10"/>
    <p:sldId id="313" r:id="rId11"/>
    <p:sldId id="315" r:id="rId12"/>
    <p:sldId id="314" r:id="rId13"/>
    <p:sldId id="316" r:id="rId14"/>
    <p:sldId id="317" r:id="rId15"/>
    <p:sldId id="320" r:id="rId16"/>
    <p:sldId id="321" r:id="rId17"/>
    <p:sldId id="322" r:id="rId18"/>
    <p:sldId id="323" r:id="rId19"/>
    <p:sldId id="324" r:id="rId20"/>
    <p:sldId id="31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DF6E9A-BA96-DEE6-3C50-957F5E69729E}" v="890" dt="2025-09-17T05:10:04.111"/>
  </p1510:revLst>
</p1510:revInfo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4672"/>
  </p:normalViewPr>
  <p:slideViewPr>
    <p:cSldViewPr snapToGrid="0">
      <p:cViewPr>
        <p:scale>
          <a:sx n="100" d="100"/>
          <a:sy n="100" d="100"/>
        </p:scale>
        <p:origin x="58" y="-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C669D0-F8F9-909F-F36A-221EAC7424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1AC27-49A0-3B4C-5F49-D6641499EF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F45D-55D9-47BA-9640-E7EB1024F606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7AD1BD-C6AD-D1DF-596E-659165024C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A659A-33FC-973A-2DD5-89A959CA8C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A2DCA-E9F6-4345-9316-BF42F09A2C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6691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9C6F8-5F98-E04A-B725-72D1A5FE8444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A9608-B288-5444-9C81-49B56A597B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77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161BAA5-48F7-7727-F9D9-CE83907F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64ED4F-0011-0734-A8CE-F357C9B3C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23776" y="0"/>
            <a:ext cx="16715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C40BC2-4799-E79D-1CFD-4A82C90A1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693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7662E9-6C4B-1DCF-4FA0-9D0E52069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5232" y="463974"/>
            <a:ext cx="4217424" cy="3709195"/>
          </a:xfrm>
        </p:spPr>
        <p:txBody>
          <a:bodyPr anchor="b">
            <a:normAutofit/>
          </a:bodyPr>
          <a:lstStyle>
            <a:lvl1pPr algn="l">
              <a:defRPr sz="4800" b="1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2C7390-A781-021E-CEDA-D904030438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0158" y="1741488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>
            <a:extLst>
              <a:ext uri="{FF2B5EF4-FFF2-40B4-BE49-F238E27FC236}">
                <a16:creationId xmlns:a16="http://schemas.microsoft.com/office/drawing/2014/main" id="{F31C49C2-4E92-6564-1A68-190EFACC5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03C2B3-3873-7FFA-2567-57F2F6ABB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3334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619A50-ADC7-AA30-E96F-D0853D0D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6501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447AC2-F09C-2AC2-0522-F871987D6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140" y="576470"/>
            <a:ext cx="4831209" cy="2266121"/>
          </a:xfrm>
        </p:spPr>
        <p:txBody>
          <a:bodyPr anchor="ctr">
            <a:normAutofit/>
          </a:bodyPr>
          <a:lstStyle>
            <a:lvl1pPr algn="r">
              <a:defRPr sz="4400" b="0" spc="0" baseline="0"/>
            </a:lvl1pPr>
          </a:lstStyle>
          <a:p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C3A4AA6-1D0C-DE79-F399-33299CB812C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7139" y="3031435"/>
            <a:ext cx="4831209" cy="3478944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 algn="r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 algn="r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 algn="r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 algn="r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90039" y="1751216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E58A54-F746-59CF-007A-329493EC50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075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991E4A-E418-E9C0-B35B-0A81DCE3A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1138655 w 12192000"/>
              <a:gd name="connsiteY0" fmla="*/ 1746908 h 6858000"/>
              <a:gd name="connsiteX1" fmla="*/ 913599 w 12192000"/>
              <a:gd name="connsiteY1" fmla="*/ 1971964 h 6858000"/>
              <a:gd name="connsiteX2" fmla="*/ 913599 w 12192000"/>
              <a:gd name="connsiteY2" fmla="*/ 5520711 h 6858000"/>
              <a:gd name="connsiteX3" fmla="*/ 1138655 w 12192000"/>
              <a:gd name="connsiteY3" fmla="*/ 5745767 h 6858000"/>
              <a:gd name="connsiteX4" fmla="*/ 6091846 w 12192000"/>
              <a:gd name="connsiteY4" fmla="*/ 5745767 h 6858000"/>
              <a:gd name="connsiteX5" fmla="*/ 6316902 w 12192000"/>
              <a:gd name="connsiteY5" fmla="*/ 5520711 h 6858000"/>
              <a:gd name="connsiteX6" fmla="*/ 6316902 w 12192000"/>
              <a:gd name="connsiteY6" fmla="*/ 1971964 h 6858000"/>
              <a:gd name="connsiteX7" fmla="*/ 6091846 w 12192000"/>
              <a:gd name="connsiteY7" fmla="*/ 1746908 h 6858000"/>
              <a:gd name="connsiteX8" fmla="*/ 1218461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12184610 w 12192000"/>
              <a:gd name="connsiteY11" fmla="*/ 6858000 h 6858000"/>
              <a:gd name="connsiteX12" fmla="*/ 0 w 12192000"/>
              <a:gd name="connsiteY12" fmla="*/ 0 h 6858000"/>
              <a:gd name="connsiteX13" fmla="*/ 918140 w 12192000"/>
              <a:gd name="connsiteY13" fmla="*/ 0 h 6858000"/>
              <a:gd name="connsiteX14" fmla="*/ 918140 w 12192000"/>
              <a:gd name="connsiteY14" fmla="*/ 1010539 h 6858000"/>
              <a:gd name="connsiteX15" fmla="*/ 1195741 w 12192000"/>
              <a:gd name="connsiteY15" fmla="*/ 1288140 h 6858000"/>
              <a:gd name="connsiteX16" fmla="*/ 6043842 w 12192000"/>
              <a:gd name="connsiteY16" fmla="*/ 1288140 h 6858000"/>
              <a:gd name="connsiteX17" fmla="*/ 6321443 w 12192000"/>
              <a:gd name="connsiteY17" fmla="*/ 1010539 h 6858000"/>
              <a:gd name="connsiteX18" fmla="*/ 6321443 w 12192000"/>
              <a:gd name="connsiteY18" fmla="*/ 0 h 6858000"/>
              <a:gd name="connsiteX19" fmla="*/ 11019692 w 12192000"/>
              <a:gd name="connsiteY19" fmla="*/ 0 h 6858000"/>
              <a:gd name="connsiteX20" fmla="*/ 11019692 w 12192000"/>
              <a:gd name="connsiteY20" fmla="*/ 6858000 h 6858000"/>
              <a:gd name="connsiteX21" fmla="*/ 6283982 w 12192000"/>
              <a:gd name="connsiteY21" fmla="*/ 6858000 h 6858000"/>
              <a:gd name="connsiteX22" fmla="*/ 6283982 w 12192000"/>
              <a:gd name="connsiteY22" fmla="*/ 6429590 h 6858000"/>
              <a:gd name="connsiteX23" fmla="*/ 6058926 w 12192000"/>
              <a:gd name="connsiteY23" fmla="*/ 6204534 h 6858000"/>
              <a:gd name="connsiteX24" fmla="*/ 1105735 w 12192000"/>
              <a:gd name="connsiteY24" fmla="*/ 6204534 h 6858000"/>
              <a:gd name="connsiteX25" fmla="*/ 880679 w 12192000"/>
              <a:gd name="connsiteY25" fmla="*/ 6429590 h 6858000"/>
              <a:gd name="connsiteX26" fmla="*/ 880679 w 12192000"/>
              <a:gd name="connsiteY26" fmla="*/ 6858000 h 6858000"/>
              <a:gd name="connsiteX27" fmla="*/ 0 w 12192000"/>
              <a:gd name="connsiteY2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close/>
                <a:moveTo>
                  <a:pt x="1218461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84610" y="6858000"/>
                </a:lnTo>
                <a:close/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1019692" y="0"/>
                </a:lnTo>
                <a:lnTo>
                  <a:pt x="11019692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315A23-2C00-4A7E-B9E9-65CF734EE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068700" y="1116391"/>
            <a:ext cx="4120055" cy="4308449"/>
            <a:chOff x="5656746" y="820557"/>
            <a:chExt cx="4120055" cy="4308449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FF8075D-03CC-DDD4-332C-F26F61AF7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E03B7A5-6E3E-5DC1-6705-A3B82F408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480627"/>
            <a:ext cx="4505155" cy="2894495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541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1313" y="3505200"/>
            <a:ext cx="4029859" cy="300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2A9BE-2A46-4899-C38E-B513CC1AF11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59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A9EF1CCA-35D0-41F4-BC3D-AA1679C3E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76514" y="397442"/>
            <a:ext cx="9619886" cy="6623279"/>
            <a:chOff x="1276514" y="397442"/>
            <a:chExt cx="9619886" cy="662327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39112C6-05E1-7A58-F9B3-4ED607F0FEB5}"/>
                </a:ext>
              </a:extLst>
            </p:cNvPr>
            <p:cNvGrpSpPr/>
            <p:nvPr userDrawn="1"/>
          </p:nvGrpSpPr>
          <p:grpSpPr>
            <a:xfrm>
              <a:off x="1276514" y="397442"/>
              <a:ext cx="3028206" cy="3166674"/>
              <a:chOff x="5656746" y="820557"/>
              <a:chExt cx="4120055" cy="4308449"/>
            </a:xfrm>
          </p:grpSpPr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580B3039-6990-1E35-87E4-6C581CF7BA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37F0331D-9A8D-485F-9469-6B31E3D61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1BCBEDD-D6D8-B22D-46D2-C061FBDFE326}"/>
                </a:ext>
              </a:extLst>
            </p:cNvPr>
            <p:cNvGrpSpPr/>
            <p:nvPr userDrawn="1"/>
          </p:nvGrpSpPr>
          <p:grpSpPr>
            <a:xfrm>
              <a:off x="6776345" y="2712272"/>
              <a:ext cx="4120055" cy="4308449"/>
              <a:chOff x="5656746" y="820557"/>
              <a:chExt cx="4120055" cy="4308449"/>
            </a:xfrm>
          </p:grpSpPr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43D2104B-238A-6958-53E9-4C3CFC4C99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FE1FCD13-2E12-4019-9FCB-3A53D17321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CEA9FD7-5B24-27A7-2BB5-A937B6A4D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938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3731B0-8EE6-11A7-D5EB-431792C48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2568" y="0"/>
            <a:ext cx="210812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8745" y="507244"/>
            <a:ext cx="9143999" cy="2162065"/>
          </a:xfrm>
        </p:spPr>
        <p:txBody>
          <a:bodyPr anchor="b">
            <a:normAutofit/>
          </a:bodyPr>
          <a:lstStyle>
            <a:lvl1pPr algn="l">
              <a:defRPr sz="48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52700" y="3586281"/>
            <a:ext cx="7086600" cy="22860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AEB78-507E-76A4-533C-B685FBB9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715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8A07D-9CD9-61E7-5307-509E256E3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19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D3D556-F10A-EC7C-0757-E00C6BD11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55612" y="0"/>
            <a:ext cx="39699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F434F37-A346-4DC3-ACA1-FE0B5DD0A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405264" y="1517829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CD6BFE6-65DF-2EFD-2AB8-EF54AE6ED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72A018D-5452-637A-6EFC-8A1C55CE0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43AED969-CB3F-45E5-4B56-8D4841A04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53444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7523" y="750316"/>
            <a:ext cx="5469591" cy="2066052"/>
          </a:xfrm>
        </p:spPr>
        <p:txBody>
          <a:bodyPr anchor="ctr">
            <a:normAutofit/>
          </a:bodyPr>
          <a:lstStyle>
            <a:lvl1pPr algn="l">
              <a:defRPr sz="4400" b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F3BAA8E-44E6-12B3-F690-09AB8C245E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97703" y="2884989"/>
            <a:ext cx="4768850" cy="36253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A042FB-AE91-12A6-1B9A-55AE16FB53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997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FA63973E-7BCA-0A84-9988-670F7B31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28" y="1925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9F5EDC-2D5E-96A7-AAB9-D60B6E1AF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6699" y="3527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424DE0-155D-2A3C-788A-5A0C0D9CD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6728" y="275768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87C557-55D3-F920-773C-DDD1348C4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2673" y="2714197"/>
            <a:ext cx="4120055" cy="4308449"/>
            <a:chOff x="5656746" y="820557"/>
            <a:chExt cx="4120055" cy="4308449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BC0724F-AE42-0E0F-E392-0C3EBB9DD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B6F6A44-F108-5B62-1638-5680B0204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0667" y="405113"/>
            <a:ext cx="4505155" cy="6007261"/>
          </a:xfrm>
        </p:spPr>
        <p:txBody>
          <a:bodyPr anchor="ctr">
            <a:normAutofit/>
          </a:bodyPr>
          <a:lstStyle>
            <a:lvl1pPr algn="r">
              <a:defRPr sz="48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83A8F0F5-EBCC-860A-B0EE-A7F56BA39A4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76079" y="1748992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0224B-09BE-F95F-F2DE-0EA9731AEB8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764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D13AA8-D23C-5C6A-33DF-C454CDF89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930" y="347620"/>
            <a:ext cx="5163939" cy="2474204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0017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599930" y="2961187"/>
            <a:ext cx="5163939" cy="3346735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/>
            </a:lvl1pPr>
            <a:lvl2pPr marL="8001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2pPr>
            <a:lvl3pPr marL="12001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/>
            </a:lvl3pPr>
            <a:lvl4pPr marL="16573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4pPr>
            <a:lvl5pPr marL="21145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AD0209-DE4E-6825-8F20-EC9CF7FA6A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08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1F6D51D-5B15-9B30-DC19-5F58B3052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7577" y="3429000"/>
            <a:ext cx="3288931" cy="3439321"/>
            <a:chOff x="5656746" y="820557"/>
            <a:chExt cx="4120055" cy="4308449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A480DA77-F71B-5298-1353-A41A3B4DA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0839BC8-89BD-1554-5D44-CDDBE6CA9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1216545-2BDC-F9A0-F675-174EDC926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36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68970B-8B94-3775-274C-FB844115E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2942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972257-517A-A49E-FA85-ED69B1A6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68288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247067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34851" y="1825625"/>
            <a:ext cx="4247067" cy="435133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4AC65-CD3D-69D7-24FB-C82AA429A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D04544E-40BA-0EF3-1D11-F15C7E80D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356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06BFA7-94AE-3A18-523D-C688ECFB4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78414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786F04-54BF-9AA6-0B44-DE78BB380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85177" y="2407472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A2FB764-6719-6FC4-D31C-F96BBA0A6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87175FD-8DE3-7754-36A9-07FEE388E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3" y="1825625"/>
            <a:ext cx="3525772" cy="4351338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149516" y="1733025"/>
            <a:ext cx="6204283" cy="398938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DBFC337-301C-C3ED-321C-AB4EF4A108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93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9B0186-5603-6346-34F2-6BFA71BC6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14738" y="2425699"/>
            <a:ext cx="3288931" cy="3439321"/>
            <a:chOff x="5656746" y="820557"/>
            <a:chExt cx="4120055" cy="4308449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6A59AE-96E4-A701-461B-61618472B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8649D3D-45B7-44C7-93B4-BDC88C328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349E-C488-C02B-B3B1-CCDBD3A78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77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2520" y="1825625"/>
            <a:ext cx="4825294" cy="4651375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 marL="457200" indent="0">
              <a:spcAft>
                <a:spcPts val="800"/>
              </a:spcAft>
              <a:buNone/>
              <a:defRPr sz="2000"/>
            </a:lvl2pPr>
            <a:lvl3pPr marL="914400" indent="0">
              <a:spcAft>
                <a:spcPts val="800"/>
              </a:spcAft>
              <a:buNone/>
              <a:defRPr sz="2000"/>
            </a:lvl3pPr>
            <a:lvl4pPr marL="1371600" indent="0">
              <a:spcAft>
                <a:spcPts val="800"/>
              </a:spcAft>
              <a:buNone/>
              <a:defRPr sz="2000"/>
            </a:lvl4pPr>
            <a:lvl5pPr marL="1828800" indent="0">
              <a:spcAft>
                <a:spcPts val="800"/>
              </a:spcAft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96778" y="1813720"/>
            <a:ext cx="4657021" cy="4051300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004FE-7725-F349-1245-F443F9E81B9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276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F97B6B-1E04-799C-CDFE-9DAFCA93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28970" y="13063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11DE0A-4C1D-01B1-AA49-D966343F6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77288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BEA20E-0FF2-2897-8BD6-8EFAA8C8D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78460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E259F776-4BD1-2F21-61F0-3B60DF6F0366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25625"/>
            <a:ext cx="10515600" cy="405447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table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987B8-BA6E-EE2B-BFB9-D52D6D956A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869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4A07D69-1AF2-A193-316E-DD3803E94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520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E4D2FA-0049-1792-F6B4-D5FE1EE5A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2348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E6ACF-3879-BE02-100B-2096C2235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4323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74699B-D6F0-303E-200A-7017E1842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06739" y="2603777"/>
            <a:ext cx="4120055" cy="4308449"/>
            <a:chOff x="5656746" y="820557"/>
            <a:chExt cx="4120055" cy="4308449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9C9E38E0-92AE-5063-B259-A22230AA6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260EEF0-1C13-AD9A-0967-0460B979E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FE848A-1123-37B6-C43C-5DC49EE0A1D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412173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FB0C591-7E28-3722-4795-07BFB9ED09C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851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312039-7E28-974D-ED1C-90F1E53E9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382344"/>
            <a:ext cx="4377767" cy="2719337"/>
          </a:xfrm>
        </p:spPr>
        <p:txBody>
          <a:bodyPr anchor="b">
            <a:normAutofit/>
          </a:bodyPr>
          <a:lstStyle>
            <a:lvl1pPr algn="l">
              <a:defRPr sz="44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1745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9992" y="3340800"/>
            <a:ext cx="4368450" cy="316633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/>
            </a:lvl1pPr>
            <a:lvl2pPr marL="57150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/>
            </a:lvl2pPr>
            <a:lvl3pPr marL="9715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3pPr>
            <a:lvl4pPr marL="14287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4pPr>
            <a:lvl5pPr marL="18859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2793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4CE42-5F4D-E722-7ABC-852575A3E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FCB7E-A25D-2786-57F4-CAC8C0B7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8020-3841-3809-A971-C013AF1C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6D726-924C-E5EB-B28C-E3B9B446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79A287-35CA-B289-525D-D67FB24B3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B2365-305E-AE99-1CD4-605540C7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187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1452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2000" y="6145255"/>
            <a:ext cx="8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AFD02D-325A-F2A8-9A62-D6D0AF069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52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6" r:id="rId3"/>
    <p:sldLayoutId id="2147483663" r:id="rId4"/>
    <p:sldLayoutId id="2147483667" r:id="rId5"/>
    <p:sldLayoutId id="2147483668" r:id="rId6"/>
    <p:sldLayoutId id="2147483669" r:id="rId7"/>
    <p:sldLayoutId id="2147483650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54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62488" y="948355"/>
            <a:ext cx="5919143" cy="4996928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u="sng" dirty="0">
                <a:latin typeface="Angsana New"/>
                <a:ea typeface="+mj-lt"/>
                <a:cs typeface="+mj-lt"/>
              </a:rPr>
              <a:t>Phase 2 (Active Directory - Focused Adversary </a:t>
            </a:r>
            <a:r>
              <a:rPr lang="en-US" u="sng">
                <a:latin typeface="Angsana New"/>
                <a:ea typeface="+mj-lt"/>
                <a:cs typeface="+mj-lt"/>
              </a:rPr>
              <a:t>Emulation).</a:t>
            </a:r>
            <a:br>
              <a:rPr lang="en-US" u="sng" dirty="0">
                <a:latin typeface="Angsana New"/>
                <a:ea typeface="+mj-lt"/>
                <a:cs typeface="+mj-lt"/>
              </a:rPr>
            </a:br>
            <a:r>
              <a:rPr lang="en-US">
                <a:latin typeface="Angsana New"/>
                <a:ea typeface="+mj-lt"/>
                <a:cs typeface="+mj-lt"/>
              </a:rPr>
              <a:t>Full Incident Response </a:t>
            </a:r>
            <a:r>
              <a:rPr lang="en-US" dirty="0">
                <a:latin typeface="Angsana New"/>
                <a:ea typeface="+mj-lt"/>
                <a:cs typeface="+mj-lt"/>
              </a:rPr>
              <a:t>Playbook - Kerberos Abuse (Detect → Triage → Contain → Remediate → Recover).</a:t>
            </a:r>
            <a:br>
              <a:rPr lang="en-US" dirty="0">
                <a:latin typeface="Angsana New"/>
                <a:ea typeface="+mj-lt"/>
                <a:cs typeface="+mj-lt"/>
              </a:rPr>
            </a:br>
            <a:r>
              <a:rPr lang="en-US" u="sng" dirty="0">
                <a:latin typeface="Angsana New"/>
                <a:cs typeface="Arial"/>
              </a:rPr>
              <a:t>&amp;</a:t>
            </a:r>
            <a:endParaRPr lang="en-US">
              <a:cs typeface="Arial"/>
            </a:endParaRPr>
          </a:p>
          <a:p>
            <a:pPr algn="ctr"/>
            <a:r>
              <a:rPr lang="en-US" dirty="0">
                <a:latin typeface="Angsana New"/>
                <a:ea typeface="+mj-lt"/>
                <a:cs typeface="+mj-lt"/>
              </a:rPr>
              <a:t>One-Page Executive Remediation Report - Kerberos Abuse (stakeholder-ready)</a:t>
            </a:r>
            <a:endParaRPr lang="en-US" dirty="0">
              <a:latin typeface="Angsana New"/>
              <a:cs typeface="Arial"/>
            </a:endParaRPr>
          </a:p>
        </p:txBody>
      </p:sp>
      <p:pic>
        <p:nvPicPr>
          <p:cNvPr id="14" name="Picture Placeholder 13" descr="A person writing on a clipboard">
            <a:extLst>
              <a:ext uri="{FF2B5EF4-FFF2-40B4-BE49-F238E27FC236}">
                <a16:creationId xmlns:a16="http://schemas.microsoft.com/office/drawing/2014/main" id="{2048BD92-647F-33AD-A0B3-2AB2D7BE464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" r="97"/>
          <a:stretch/>
        </p:blipFill>
        <p:spPr>
          <a:xfrm>
            <a:off x="464817" y="1546341"/>
            <a:ext cx="5394960" cy="3997325"/>
          </a:xfrm>
        </p:spPr>
      </p:pic>
    </p:spTree>
    <p:extLst>
      <p:ext uri="{BB962C8B-B14F-4D97-AF65-F5344CB8AC3E}">
        <p14:creationId xmlns:p14="http://schemas.microsoft.com/office/powerpoint/2010/main" val="4186662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A4A7895-3FBB-9134-6284-4A5950F5B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0528" y="353446"/>
            <a:ext cx="11324470" cy="1198941"/>
          </a:xfrm>
        </p:spPr>
        <p:txBody>
          <a:bodyPr>
            <a:normAutofit fontScale="90000"/>
          </a:bodyPr>
          <a:lstStyle/>
          <a:p>
            <a:pPr algn="ctr"/>
            <a:r>
              <a:rPr lang="en-US" u="sng" dirty="0">
                <a:ea typeface="+mj-lt"/>
                <a:cs typeface="+mj-lt"/>
              </a:rPr>
              <a:t>INCIDENT RESPONSE PLAYBOOK — Kerberos Abuse (AS-REP / </a:t>
            </a:r>
            <a:r>
              <a:rPr lang="en-US" u="sng" dirty="0" err="1">
                <a:ea typeface="+mj-lt"/>
                <a:cs typeface="+mj-lt"/>
              </a:rPr>
              <a:t>Kerberoast</a:t>
            </a:r>
            <a:r>
              <a:rPr lang="en-US" u="sng" dirty="0">
                <a:ea typeface="+mj-lt"/>
                <a:cs typeface="+mj-lt"/>
              </a:rPr>
              <a:t> / TGS Anomalies)</a:t>
            </a:r>
            <a:endParaRPr lang="en-US" u="sng" dirty="0">
              <a:cs typeface="Arial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9F04B66-5C68-5FD6-773C-3016CF0ACC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09593" y="1975026"/>
            <a:ext cx="10840619" cy="41803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1" u="sng" dirty="0">
                <a:ea typeface="+mn-lt"/>
                <a:cs typeface="+mn-lt"/>
              </a:rPr>
              <a:t>SCOPE</a:t>
            </a:r>
            <a:endParaRPr lang="en-US" u="sng" dirty="0">
              <a:ea typeface="+mn-lt"/>
              <a:cs typeface="+mn-lt"/>
            </a:endParaRPr>
          </a:p>
          <a:p>
            <a:pPr algn="ctr"/>
            <a:r>
              <a:rPr lang="en-US" dirty="0">
                <a:ea typeface="+mn-lt"/>
                <a:cs typeface="+mn-lt"/>
              </a:rPr>
              <a:t>Detect, triage, contain, remediate, and report on Kerberos-ticket abuse in an Active Directory environment.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u="sng" dirty="0">
                <a:ea typeface="+mn-lt"/>
                <a:cs typeface="+mn-lt"/>
              </a:rPr>
              <a:t>AUDIENCE</a:t>
            </a:r>
            <a:endParaRPr lang="en-US" u="sng" dirty="0">
              <a:ea typeface="+mn-lt"/>
              <a:cs typeface="+mn-lt"/>
            </a:endParaRPr>
          </a:p>
          <a:p>
            <a:pPr algn="ctr"/>
            <a:r>
              <a:rPr lang="en-US" dirty="0">
                <a:ea typeface="+mn-lt"/>
                <a:cs typeface="+mn-lt"/>
              </a:rPr>
              <a:t>SOC analyst, IR lead, AD admin, Forensics, Network team, CISO.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u="sng" dirty="0">
                <a:ea typeface="+mn-lt"/>
                <a:cs typeface="+mn-lt"/>
              </a:rPr>
              <a:t>PRECONDITIONS</a:t>
            </a:r>
            <a:endParaRPr lang="en-US" u="sng" dirty="0">
              <a:ea typeface="+mn-lt"/>
              <a:cs typeface="+mn-lt"/>
            </a:endParaRPr>
          </a:p>
          <a:p>
            <a:pPr algn="ctr"/>
            <a:r>
              <a:rPr lang="en-US" dirty="0">
                <a:ea typeface="+mn-lt"/>
                <a:cs typeface="+mn-lt"/>
              </a:rPr>
              <a:t>Sysmon/Windows Event Logging enabled on DCs, domain controllers forwarding to SIEM (Splunk), </a:t>
            </a:r>
            <a:r>
              <a:rPr lang="en-US" dirty="0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 data available, snapshots/backups of DCs and critical systems.</a:t>
            </a:r>
            <a:endParaRPr lang="en-US">
              <a:cs typeface="Arial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1F36102-91E3-B5B6-05D2-563D2642C9A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403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AF5A1F-B233-C75A-B7DC-066E53119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4677" y="376718"/>
            <a:ext cx="10012336" cy="660450"/>
          </a:xfrm>
        </p:spPr>
        <p:txBody>
          <a:bodyPr>
            <a:normAutofit fontScale="90000"/>
          </a:bodyPr>
          <a:lstStyle/>
          <a:p>
            <a:pPr algn="ctr"/>
            <a:r>
              <a:rPr lang="en-US" u="sng" dirty="0">
                <a:ea typeface="+mj-lt"/>
                <a:cs typeface="+mj-lt"/>
              </a:rPr>
              <a:t>QUICK SUMMARY</a:t>
            </a:r>
            <a:endParaRPr lang="en-US" u="sng" dirty="0">
              <a:cs typeface="Arial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09B322C-92BF-3972-EB9C-80C69BC2D96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70291" y="1271155"/>
            <a:ext cx="10974449" cy="508014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ctr"/>
            <a:r>
              <a:rPr lang="en-US">
                <a:ea typeface="+mn-lt"/>
                <a:cs typeface="+mn-lt"/>
              </a:rPr>
              <a:t>Kerberos abuse covers suspicious patterns in authentication requests (AS-REQ/TGS-REQ/TGS-REP) often used to extract or misuse service tickets (Kerberoast, AS-REP roasting) or to request unusual tickets for privilege escalation. Rapid detection and isolation of impacted service accounts and hosts prevents privilege escalation to Domain Admin.</a:t>
            </a:r>
            <a:endParaRPr lang="en-US">
              <a:cs typeface="Arial"/>
            </a:endParaRPr>
          </a:p>
          <a:p>
            <a:pPr algn="ctr"/>
            <a:endParaRPr lang="en-US" dirty="0">
              <a:cs typeface="Arial"/>
            </a:endParaRPr>
          </a:p>
          <a:p>
            <a:pPr algn="ctr"/>
            <a:r>
              <a:rPr lang="en-US" u="sng" dirty="0"/>
              <a:t>Roles &amp; Responsibilities</a:t>
            </a:r>
            <a:endParaRPr lang="en-US" u="sng" dirty="0">
              <a:cs typeface="Arial"/>
            </a:endParaRPr>
          </a:p>
          <a:p>
            <a:pPr marL="285750" indent="-285750" algn="ctr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SOC Analyst (Tier 1/2):</a:t>
            </a:r>
            <a:r>
              <a:rPr lang="en-US">
                <a:ea typeface="+mn-lt"/>
                <a:cs typeface="+mn-lt"/>
              </a:rPr>
              <a:t> Monitor alerts, perform initial triage, gather logs, escalate.</a:t>
            </a:r>
            <a:endParaRPr lang="en-US">
              <a:cs typeface="Arial"/>
            </a:endParaRPr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IR Lead:</a:t>
            </a:r>
            <a:r>
              <a:rPr lang="en-US" dirty="0">
                <a:ea typeface="+mn-lt"/>
                <a:cs typeface="+mn-lt"/>
              </a:rPr>
              <a:t> Coordinate containment and remediation, approve account resets, communicate with stakeholders.</a:t>
            </a:r>
            <a:endParaRPr lang="en-US" dirty="0">
              <a:cs typeface="Arial"/>
            </a:endParaRPr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AD Admin:</a:t>
            </a:r>
            <a:r>
              <a:rPr lang="en-US" dirty="0">
                <a:ea typeface="+mn-lt"/>
                <a:cs typeface="+mn-lt"/>
              </a:rPr>
              <a:t> Rotate/disable compromised service accounts, apply GPO changes, enforce Kerberos settings.</a:t>
            </a:r>
            <a:endParaRPr lang="en-US" dirty="0">
              <a:cs typeface="Arial"/>
            </a:endParaRPr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Forensics:</a:t>
            </a:r>
            <a:r>
              <a:rPr lang="en-US" dirty="0">
                <a:ea typeface="+mn-lt"/>
                <a:cs typeface="+mn-lt"/>
              </a:rPr>
              <a:t> Acquire volatile memory, event logs, and PCAPs for evidence.</a:t>
            </a:r>
            <a:endParaRPr lang="en-US" dirty="0">
              <a:cs typeface="Arial"/>
            </a:endParaRPr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Network Team:</a:t>
            </a:r>
            <a:r>
              <a:rPr lang="en-US" dirty="0">
                <a:ea typeface="+mn-lt"/>
                <a:cs typeface="+mn-lt"/>
              </a:rPr>
              <a:t> Isolate affected hosts, block egress if C2 suspected.</a:t>
            </a:r>
            <a:endParaRPr lang="en-US" dirty="0">
              <a:cs typeface="Arial"/>
            </a:endParaRPr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Legal/Compliance &amp; Comms:</a:t>
            </a:r>
            <a:r>
              <a:rPr lang="en-US" dirty="0">
                <a:ea typeface="+mn-lt"/>
                <a:cs typeface="+mn-lt"/>
              </a:rPr>
              <a:t> Approve external notifications and regulatory reporting if needed.</a:t>
            </a:r>
            <a:endParaRPr lang="en-US" dirty="0">
              <a:cs typeface="Arial"/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0F67C-5190-34BB-E17A-1733452721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624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AFF48-132C-6DAA-622E-E58AF3A8D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201" y="507244"/>
            <a:ext cx="10728611" cy="1200907"/>
          </a:xfrm>
        </p:spPr>
        <p:txBody>
          <a:bodyPr>
            <a:normAutofit fontScale="90000"/>
          </a:bodyPr>
          <a:lstStyle/>
          <a:p>
            <a:pPr algn="ctr"/>
            <a:r>
              <a:rPr lang="en-US" b="0" u="sng" dirty="0">
                <a:ea typeface="+mj-lt"/>
                <a:cs typeface="+mj-lt"/>
              </a:rPr>
              <a:t>DETECTION — KEY SIGNALS </a:t>
            </a:r>
            <a:br>
              <a:rPr lang="en-US" b="0" u="sng" dirty="0">
                <a:ea typeface="+mj-lt"/>
                <a:cs typeface="+mj-lt"/>
              </a:rPr>
            </a:br>
            <a:r>
              <a:rPr lang="en-US" b="0" u="sng" dirty="0">
                <a:ea typeface="+mj-lt"/>
                <a:cs typeface="+mj-lt"/>
              </a:rPr>
              <a:t>(What to watch).</a:t>
            </a:r>
            <a:endParaRPr lang="en-US" u="sng" dirty="0"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7C2841-47C6-02F9-83CF-508A0ADF0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064" y="1707259"/>
            <a:ext cx="10948555" cy="461529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Spike in </a:t>
            </a:r>
            <a:r>
              <a:rPr lang="en-US" b="1" dirty="0" err="1">
                <a:ea typeface="+mn-lt"/>
                <a:cs typeface="+mn-lt"/>
              </a:rPr>
              <a:t>EventID</a:t>
            </a:r>
            <a:r>
              <a:rPr lang="en-US" b="1" dirty="0">
                <a:ea typeface="+mn-lt"/>
                <a:cs typeface="+mn-lt"/>
              </a:rPr>
              <a:t> 4769</a:t>
            </a:r>
            <a:r>
              <a:rPr lang="en-US" dirty="0">
                <a:ea typeface="+mn-lt"/>
                <a:cs typeface="+mn-lt"/>
              </a:rPr>
              <a:t> (A Kerberos service ticket (TGS) was requested) for particular SPNs or service accounts.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Unusual </a:t>
            </a:r>
            <a:r>
              <a:rPr lang="en-US" b="1" dirty="0" err="1">
                <a:ea typeface="+mn-lt"/>
                <a:cs typeface="+mn-lt"/>
              </a:rPr>
              <a:t>EventID</a:t>
            </a:r>
            <a:r>
              <a:rPr lang="en-US" b="1" dirty="0">
                <a:ea typeface="+mn-lt"/>
                <a:cs typeface="+mn-lt"/>
              </a:rPr>
              <a:t> 4768</a:t>
            </a:r>
            <a:r>
              <a:rPr lang="en-US" dirty="0">
                <a:ea typeface="+mn-lt"/>
                <a:cs typeface="+mn-lt"/>
              </a:rPr>
              <a:t> (TGT requests) or </a:t>
            </a:r>
            <a:r>
              <a:rPr lang="en-US" b="1" dirty="0">
                <a:ea typeface="+mn-lt"/>
                <a:cs typeface="+mn-lt"/>
              </a:rPr>
              <a:t>4771</a:t>
            </a:r>
            <a:r>
              <a:rPr lang="en-US" dirty="0">
                <a:ea typeface="+mn-lt"/>
                <a:cs typeface="+mn-lt"/>
              </a:rPr>
              <a:t> (Kerberos pre-auth failed).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High volume of TGS-REQ for SPNs by non-admin accounts.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Service accounts being targeted repeatedly, or TGS requests from rarely-used hosts.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Authentication anomalies combined with suspicious process creation on endpoints (Sysmon </a:t>
            </a:r>
            <a:r>
              <a:rPr lang="en-US" dirty="0" err="1">
                <a:ea typeface="+mn-lt"/>
                <a:cs typeface="+mn-lt"/>
              </a:rPr>
              <a:t>EventID</a:t>
            </a:r>
            <a:r>
              <a:rPr lang="en-US" dirty="0">
                <a:ea typeface="+mn-lt"/>
                <a:cs typeface="+mn-lt"/>
              </a:rPr>
              <a:t> 1).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Unusual network egress after ticket requests (possible C2).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C4D93-CBC8-E70B-5147-AEC324F7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446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739A0-AB25-231D-F1BE-533B41CCC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522" y="369316"/>
            <a:ext cx="10236737" cy="597808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ea typeface="+mj-lt"/>
                <a:cs typeface="+mj-lt"/>
              </a:rPr>
              <a:t>Splunk / SPL Example Searches (starter)</a:t>
            </a:r>
            <a:endParaRPr lang="en-US" u="sng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4B449-06A6-DA15-9625-E5279E21ED2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63702" y="1100794"/>
            <a:ext cx="10232948" cy="5223733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u="sng" dirty="0">
                <a:ea typeface="+mn-lt"/>
                <a:cs typeface="+mn-lt"/>
              </a:rPr>
              <a:t>Kerberos TGS spike by account (24h window)</a:t>
            </a:r>
            <a:endParaRPr lang="en-US" u="sng" dirty="0"/>
          </a:p>
          <a:p>
            <a:pPr algn="ctr">
              <a:buChar char="•"/>
            </a:pPr>
            <a:r>
              <a:rPr lang="en-US" dirty="0">
                <a:ea typeface="+mn-lt"/>
                <a:cs typeface="+mn-lt"/>
              </a:rPr>
              <a:t>index=</a:t>
            </a:r>
            <a:r>
              <a:rPr lang="en-US" err="1">
                <a:ea typeface="+mn-lt"/>
                <a:cs typeface="+mn-lt"/>
              </a:rPr>
              <a:t>wineventlog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EventCode</a:t>
            </a:r>
            <a:r>
              <a:rPr lang="en-US" dirty="0">
                <a:ea typeface="+mn-lt"/>
                <a:cs typeface="+mn-lt"/>
              </a:rPr>
              <a:t>=4769</a:t>
            </a:r>
            <a:endParaRPr lang="en-US" dirty="0">
              <a:cs typeface="Arial"/>
            </a:endParaRPr>
          </a:p>
          <a:p>
            <a:pPr algn="ctr">
              <a:buChar char="•"/>
            </a:pPr>
            <a:r>
              <a:rPr lang="en-US" dirty="0">
                <a:ea typeface="+mn-lt"/>
                <a:cs typeface="+mn-lt"/>
              </a:rPr>
              <a:t>| stats count by </a:t>
            </a:r>
            <a:r>
              <a:rPr lang="en-US" dirty="0" err="1">
                <a:ea typeface="+mn-lt"/>
                <a:cs typeface="+mn-lt"/>
              </a:rPr>
              <a:t>Account_Name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Service_Name</a:t>
            </a:r>
            <a:r>
              <a:rPr lang="en-US" dirty="0">
                <a:ea typeface="+mn-lt"/>
                <a:cs typeface="+mn-lt"/>
              </a:rPr>
              <a:t>, host, </a:t>
            </a:r>
            <a:r>
              <a:rPr lang="en-US" dirty="0" err="1">
                <a:ea typeface="+mn-lt"/>
                <a:cs typeface="+mn-lt"/>
              </a:rPr>
              <a:t>src_ip</a:t>
            </a:r>
            <a:endParaRPr lang="en-US" dirty="0" err="1">
              <a:cs typeface="Arial"/>
            </a:endParaRPr>
          </a:p>
          <a:p>
            <a:pPr algn="ctr">
              <a:buChar char="•"/>
            </a:pPr>
            <a:r>
              <a:rPr lang="en-US" dirty="0">
                <a:ea typeface="+mn-lt"/>
                <a:cs typeface="+mn-lt"/>
              </a:rPr>
              <a:t>| where count &gt; 50</a:t>
            </a:r>
            <a:endParaRPr lang="en-US" dirty="0">
              <a:cs typeface="Arial"/>
            </a:endParaRPr>
          </a:p>
          <a:p>
            <a:pPr algn="ctr">
              <a:buChar char="•"/>
            </a:pPr>
            <a:r>
              <a:rPr lang="en-US" dirty="0">
                <a:ea typeface="+mn-lt"/>
                <a:cs typeface="+mn-lt"/>
              </a:rPr>
              <a:t>| sort -count</a:t>
            </a:r>
            <a:endParaRPr lang="en-US" dirty="0">
              <a:cs typeface="Arial"/>
            </a:endParaRPr>
          </a:p>
          <a:p>
            <a:pPr algn="ctr"/>
            <a:r>
              <a:rPr lang="en-US" u="sng" dirty="0">
                <a:ea typeface="+mn-lt"/>
                <a:cs typeface="+mn-lt"/>
              </a:rPr>
              <a:t>Unusual AS-REP/No </a:t>
            </a:r>
            <a:r>
              <a:rPr lang="en-US" u="sng" err="1">
                <a:ea typeface="+mn-lt"/>
                <a:cs typeface="+mn-lt"/>
              </a:rPr>
              <a:t>preauth</a:t>
            </a:r>
            <a:r>
              <a:rPr lang="en-US" u="sng" dirty="0">
                <a:ea typeface="+mn-lt"/>
                <a:cs typeface="+mn-lt"/>
              </a:rPr>
              <a:t> (AS-REP roasting indicator)</a:t>
            </a:r>
          </a:p>
          <a:p>
            <a:pPr algn="ctr">
              <a:buChar char="•"/>
            </a:pPr>
            <a:r>
              <a:rPr lang="en-US" dirty="0">
                <a:ea typeface="+mn-lt"/>
                <a:cs typeface="+mn-lt"/>
              </a:rPr>
              <a:t>index=</a:t>
            </a:r>
            <a:r>
              <a:rPr lang="en-US" err="1">
                <a:ea typeface="+mn-lt"/>
                <a:cs typeface="+mn-lt"/>
              </a:rPr>
              <a:t>wineventlog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EventCode</a:t>
            </a:r>
            <a:r>
              <a:rPr lang="en-US" dirty="0">
                <a:ea typeface="+mn-lt"/>
                <a:cs typeface="+mn-lt"/>
              </a:rPr>
              <a:t>=4768 OR </a:t>
            </a:r>
            <a:r>
              <a:rPr lang="en-US" err="1">
                <a:ea typeface="+mn-lt"/>
                <a:cs typeface="+mn-lt"/>
              </a:rPr>
              <a:t>EventCode</a:t>
            </a:r>
            <a:r>
              <a:rPr lang="en-US" dirty="0">
                <a:ea typeface="+mn-lt"/>
                <a:cs typeface="+mn-lt"/>
              </a:rPr>
              <a:t>=4771)</a:t>
            </a:r>
          </a:p>
          <a:p>
            <a:pPr algn="ctr">
              <a:buChar char="•"/>
            </a:pPr>
            <a:r>
              <a:rPr lang="en-US" dirty="0">
                <a:ea typeface="+mn-lt"/>
                <a:cs typeface="+mn-lt"/>
              </a:rPr>
              <a:t>| stats count by </a:t>
            </a:r>
            <a:r>
              <a:rPr lang="en-US" dirty="0" err="1">
                <a:ea typeface="+mn-lt"/>
                <a:cs typeface="+mn-lt"/>
              </a:rPr>
              <a:t>Account_Name</a:t>
            </a:r>
            <a:r>
              <a:rPr lang="en-US" dirty="0">
                <a:ea typeface="+mn-lt"/>
                <a:cs typeface="+mn-lt"/>
              </a:rPr>
              <a:t>, Protocol, host</a:t>
            </a:r>
            <a:endParaRPr lang="en-US" dirty="0">
              <a:cs typeface="Arial"/>
            </a:endParaRPr>
          </a:p>
          <a:p>
            <a:pPr algn="ctr">
              <a:buChar char="•"/>
            </a:pPr>
            <a:r>
              <a:rPr lang="en-US" dirty="0">
                <a:ea typeface="+mn-lt"/>
                <a:cs typeface="+mn-lt"/>
              </a:rPr>
              <a:t>| where </a:t>
            </a:r>
            <a:r>
              <a:rPr lang="en-US" err="1">
                <a:ea typeface="+mn-lt"/>
                <a:cs typeface="+mn-lt"/>
              </a:rPr>
              <a:t>EventCode</a:t>
            </a:r>
            <a:r>
              <a:rPr lang="en-US" dirty="0">
                <a:ea typeface="+mn-lt"/>
                <a:cs typeface="+mn-lt"/>
              </a:rPr>
              <a:t>=4771 OR </a:t>
            </a:r>
            <a:r>
              <a:rPr lang="en-US" err="1">
                <a:ea typeface="+mn-lt"/>
                <a:cs typeface="+mn-lt"/>
              </a:rPr>
              <a:t>Account_Name</a:t>
            </a:r>
            <a:r>
              <a:rPr lang="en-US" dirty="0">
                <a:ea typeface="+mn-lt"/>
                <a:cs typeface="+mn-lt"/>
              </a:rPr>
              <a:t> IN ("svc_*","service_*")</a:t>
            </a:r>
            <a:endParaRPr lang="en-US" dirty="0">
              <a:cs typeface="Arial"/>
            </a:endParaRPr>
          </a:p>
          <a:p>
            <a:pPr algn="ctr"/>
            <a:r>
              <a:rPr lang="en-US" u="sng" dirty="0">
                <a:ea typeface="+mn-lt"/>
                <a:cs typeface="+mn-lt"/>
              </a:rPr>
              <a:t>Correlate TGS requests with new scheduled task / process creation</a:t>
            </a:r>
          </a:p>
          <a:p>
            <a:pPr algn="ctr">
              <a:buChar char="•"/>
            </a:pPr>
            <a:r>
              <a:rPr lang="en-US" dirty="0">
                <a:ea typeface="+mn-lt"/>
                <a:cs typeface="+mn-lt"/>
              </a:rPr>
              <a:t>index=</a:t>
            </a:r>
            <a:r>
              <a:rPr lang="en-US" dirty="0" err="1">
                <a:ea typeface="+mn-lt"/>
                <a:cs typeface="+mn-lt"/>
              </a:rPr>
              <a:t>wineventlog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EventCode</a:t>
            </a:r>
            <a:r>
              <a:rPr lang="en-US" dirty="0">
                <a:ea typeface="+mn-lt"/>
                <a:cs typeface="+mn-lt"/>
              </a:rPr>
              <a:t>=4769 OR </a:t>
            </a:r>
            <a:r>
              <a:rPr lang="en-US" dirty="0" err="1">
                <a:ea typeface="+mn-lt"/>
                <a:cs typeface="+mn-lt"/>
              </a:rPr>
              <a:t>EventCode</a:t>
            </a:r>
            <a:r>
              <a:rPr lang="en-US" dirty="0">
                <a:ea typeface="+mn-lt"/>
                <a:cs typeface="+mn-lt"/>
              </a:rPr>
              <a:t>=1) </a:t>
            </a:r>
            <a:endParaRPr lang="en-US" dirty="0">
              <a:cs typeface="Arial"/>
            </a:endParaRPr>
          </a:p>
          <a:p>
            <a:pPr algn="ctr">
              <a:buChar char="•"/>
            </a:pPr>
            <a:r>
              <a:rPr lang="en-US" dirty="0">
                <a:ea typeface="+mn-lt"/>
                <a:cs typeface="+mn-lt"/>
              </a:rPr>
              <a:t>| transaction host </a:t>
            </a:r>
            <a:r>
              <a:rPr lang="en-US" dirty="0" err="1">
                <a:ea typeface="+mn-lt"/>
                <a:cs typeface="+mn-lt"/>
              </a:rPr>
              <a:t>maxspan</a:t>
            </a:r>
            <a:r>
              <a:rPr lang="en-US" dirty="0">
                <a:ea typeface="+mn-lt"/>
                <a:cs typeface="+mn-lt"/>
              </a:rPr>
              <a:t>=5m </a:t>
            </a:r>
            <a:r>
              <a:rPr lang="en-US" dirty="0" err="1">
                <a:ea typeface="+mn-lt"/>
                <a:cs typeface="+mn-lt"/>
              </a:rPr>
              <a:t>startswith</a:t>
            </a:r>
            <a:r>
              <a:rPr lang="en-US" dirty="0">
                <a:ea typeface="+mn-lt"/>
                <a:cs typeface="+mn-lt"/>
              </a:rPr>
              <a:t>=</a:t>
            </a:r>
            <a:r>
              <a:rPr lang="en-US" dirty="0" err="1">
                <a:ea typeface="+mn-lt"/>
                <a:cs typeface="+mn-lt"/>
              </a:rPr>
              <a:t>EventCode</a:t>
            </a:r>
            <a:r>
              <a:rPr lang="en-US" dirty="0">
                <a:ea typeface="+mn-lt"/>
                <a:cs typeface="+mn-lt"/>
              </a:rPr>
              <a:t>=4769 </a:t>
            </a:r>
            <a:r>
              <a:rPr lang="en-US" dirty="0" err="1">
                <a:ea typeface="+mn-lt"/>
                <a:cs typeface="+mn-lt"/>
              </a:rPr>
              <a:t>endswith</a:t>
            </a:r>
            <a:r>
              <a:rPr lang="en-US" dirty="0">
                <a:ea typeface="+mn-lt"/>
                <a:cs typeface="+mn-lt"/>
              </a:rPr>
              <a:t>=</a:t>
            </a:r>
            <a:r>
              <a:rPr lang="en-US" dirty="0" err="1">
                <a:ea typeface="+mn-lt"/>
                <a:cs typeface="+mn-lt"/>
              </a:rPr>
              <a:t>EventCode</a:t>
            </a:r>
            <a:r>
              <a:rPr lang="en-US" dirty="0">
                <a:ea typeface="+mn-lt"/>
                <a:cs typeface="+mn-lt"/>
              </a:rPr>
              <a:t>=1</a:t>
            </a:r>
            <a:endParaRPr lang="en-US" dirty="0">
              <a:cs typeface="Arial"/>
            </a:endParaRPr>
          </a:p>
          <a:p>
            <a:pPr algn="ctr">
              <a:buChar char="•"/>
            </a:pPr>
            <a:r>
              <a:rPr lang="en-US" dirty="0">
                <a:ea typeface="+mn-lt"/>
                <a:cs typeface="+mn-lt"/>
              </a:rPr>
              <a:t>| search </a:t>
            </a:r>
            <a:r>
              <a:rPr lang="en-US" dirty="0" err="1">
                <a:ea typeface="+mn-lt"/>
                <a:cs typeface="+mn-lt"/>
              </a:rPr>
              <a:t>EventCode</a:t>
            </a:r>
            <a:r>
              <a:rPr lang="en-US" dirty="0">
                <a:ea typeface="+mn-lt"/>
                <a:cs typeface="+mn-lt"/>
              </a:rPr>
              <a:t>=1 Image="*powershell.exe" OR Image="*</a:t>
            </a:r>
            <a:r>
              <a:rPr lang="en-US" dirty="0" err="1">
                <a:ea typeface="+mn-lt"/>
                <a:cs typeface="+mn-lt"/>
              </a:rPr>
              <a:t>mimikatz</a:t>
            </a:r>
            <a:r>
              <a:rPr lang="en-US" dirty="0">
                <a:ea typeface="+mn-lt"/>
                <a:cs typeface="+mn-lt"/>
              </a:rPr>
              <a:t>*"</a:t>
            </a:r>
            <a:endParaRPr lang="en-US" dirty="0">
              <a:cs typeface="Arial"/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62A93-B05D-F902-E82F-647AA5B895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295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1B9F9E-EC8A-09BD-BA33-8D977519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230" y="373363"/>
            <a:ext cx="10966278" cy="6118387"/>
          </a:xfrm>
        </p:spPr>
        <p:txBody>
          <a:bodyPr>
            <a:normAutofit/>
          </a:bodyPr>
          <a:lstStyle/>
          <a:p>
            <a:pPr algn="ctr"/>
            <a:r>
              <a:rPr lang="en-US" sz="2400" b="0" u="sng" dirty="0">
                <a:ea typeface="+mj-lt"/>
                <a:cs typeface="+mj-lt"/>
              </a:rPr>
              <a:t>SIGMA RULE (conceptual) — Kerberos TGS surge</a:t>
            </a:r>
            <a:br>
              <a:rPr lang="en-US" sz="2400" b="0" u="sng" dirty="0">
                <a:ea typeface="+mj-lt"/>
                <a:cs typeface="+mj-lt"/>
              </a:rPr>
            </a:br>
            <a:br>
              <a:rPr lang="en-US" sz="2400" b="0" u="sng" dirty="0">
                <a:ea typeface="+mj-lt"/>
                <a:cs typeface="+mj-lt"/>
              </a:rPr>
            </a:br>
            <a:r>
              <a:rPr lang="en-US" sz="2400" b="0" u="sng" dirty="0">
                <a:ea typeface="+mj-lt"/>
                <a:cs typeface="+mj-lt"/>
              </a:rPr>
              <a:t>Unusual Kerberos TGS Spike for Service Accounts</a:t>
            </a:r>
            <a:endParaRPr lang="en-US" sz="2400" b="0" u="sng">
              <a:cs typeface="Arial"/>
            </a:endParaRPr>
          </a:p>
          <a:p>
            <a:pPr algn="ctr"/>
            <a:r>
              <a:rPr lang="en-US" sz="2400" b="0" dirty="0">
                <a:ea typeface="+mj-lt"/>
                <a:cs typeface="+mj-lt"/>
              </a:rPr>
              <a:t>id: 0d8b...-example</a:t>
            </a:r>
            <a:endParaRPr lang="en-US" sz="2400">
              <a:cs typeface="Arial"/>
            </a:endParaRPr>
          </a:p>
          <a:p>
            <a:pPr algn="ctr"/>
            <a:r>
              <a:rPr lang="en-US" sz="2400" b="0" dirty="0">
                <a:ea typeface="+mj-lt"/>
                <a:cs typeface="+mj-lt"/>
              </a:rPr>
              <a:t>status: experimental</a:t>
            </a:r>
            <a:endParaRPr lang="en-US" sz="2400">
              <a:cs typeface="Arial"/>
            </a:endParaRPr>
          </a:p>
          <a:p>
            <a:pPr algn="ctr"/>
            <a:r>
              <a:rPr lang="en-US" sz="2400" b="0" u="sng" dirty="0">
                <a:ea typeface="+mj-lt"/>
                <a:cs typeface="+mj-lt"/>
              </a:rPr>
              <a:t>description: Detects unusual surge in Kerberos TGS requests for service accounts (possible </a:t>
            </a:r>
            <a:r>
              <a:rPr lang="en-US" sz="2400" b="0" u="sng" err="1">
                <a:ea typeface="+mj-lt"/>
                <a:cs typeface="+mj-lt"/>
              </a:rPr>
              <a:t>Kerberoasting</a:t>
            </a:r>
            <a:r>
              <a:rPr lang="en-US" sz="2400" b="0" u="sng" dirty="0">
                <a:ea typeface="+mj-lt"/>
                <a:cs typeface="+mj-lt"/>
              </a:rPr>
              <a:t>)</a:t>
            </a:r>
            <a:endParaRPr lang="en-US" sz="2400" u="sng">
              <a:cs typeface="Arial"/>
            </a:endParaRPr>
          </a:p>
          <a:p>
            <a:pPr algn="ctr"/>
            <a:r>
              <a:rPr lang="en-US" sz="2400" b="0" err="1">
                <a:ea typeface="+mj-lt"/>
                <a:cs typeface="+mj-lt"/>
              </a:rPr>
              <a:t>logsource</a:t>
            </a:r>
            <a:r>
              <a:rPr lang="en-US" sz="2400" b="0" dirty="0">
                <a:ea typeface="+mj-lt"/>
                <a:cs typeface="+mj-lt"/>
              </a:rPr>
              <a:t>:</a:t>
            </a:r>
            <a:endParaRPr lang="en-US" sz="2400">
              <a:cs typeface="Arial"/>
            </a:endParaRPr>
          </a:p>
          <a:p>
            <a:pPr algn="ctr"/>
            <a:r>
              <a:rPr lang="en-US" sz="2400" b="0" dirty="0">
                <a:ea typeface="+mj-lt"/>
                <a:cs typeface="+mj-lt"/>
              </a:rPr>
              <a:t>  product: windows</a:t>
            </a:r>
            <a:endParaRPr lang="en-US" sz="2400">
              <a:cs typeface="Arial"/>
            </a:endParaRPr>
          </a:p>
          <a:p>
            <a:pPr algn="ctr"/>
            <a:r>
              <a:rPr lang="en-US" sz="2400" b="0" dirty="0">
                <a:ea typeface="+mj-lt"/>
                <a:cs typeface="+mj-lt"/>
              </a:rPr>
              <a:t>  service: security</a:t>
            </a:r>
            <a:endParaRPr lang="en-US" sz="2400">
              <a:cs typeface="Arial"/>
            </a:endParaRPr>
          </a:p>
          <a:p>
            <a:pPr algn="ctr"/>
            <a:r>
              <a:rPr lang="en-US" sz="2400" b="0" dirty="0">
                <a:ea typeface="+mj-lt"/>
                <a:cs typeface="+mj-lt"/>
              </a:rPr>
              <a:t>detection:</a:t>
            </a:r>
            <a:endParaRPr lang="en-US" sz="2400">
              <a:cs typeface="Arial"/>
            </a:endParaRPr>
          </a:p>
          <a:p>
            <a:pPr algn="ctr"/>
            <a:r>
              <a:rPr lang="en-US" sz="2400" b="0" dirty="0">
                <a:ea typeface="+mj-lt"/>
                <a:cs typeface="+mj-lt"/>
              </a:rPr>
              <a:t>  selection:</a:t>
            </a:r>
            <a:endParaRPr lang="en-US" sz="2400">
              <a:cs typeface="Arial"/>
            </a:endParaRPr>
          </a:p>
          <a:p>
            <a:pPr algn="ctr"/>
            <a:r>
              <a:rPr lang="en-US" sz="2400" b="0" dirty="0">
                <a:ea typeface="+mj-lt"/>
                <a:cs typeface="+mj-lt"/>
              </a:rPr>
              <a:t>    </a:t>
            </a:r>
            <a:r>
              <a:rPr lang="en-US" sz="2400" b="0" err="1">
                <a:ea typeface="+mj-lt"/>
                <a:cs typeface="+mj-lt"/>
              </a:rPr>
              <a:t>EventID</a:t>
            </a:r>
            <a:r>
              <a:rPr lang="en-US" sz="2400" b="0" dirty="0">
                <a:ea typeface="+mj-lt"/>
                <a:cs typeface="+mj-lt"/>
              </a:rPr>
              <a:t>: 4769</a:t>
            </a:r>
            <a:endParaRPr lang="en-US" sz="2400">
              <a:cs typeface="Arial"/>
            </a:endParaRPr>
          </a:p>
          <a:p>
            <a:pPr algn="ctr"/>
            <a:r>
              <a:rPr lang="en-US" sz="2400" b="0" dirty="0">
                <a:ea typeface="+mj-lt"/>
                <a:cs typeface="+mj-lt"/>
              </a:rPr>
              <a:t>  </a:t>
            </a:r>
            <a:r>
              <a:rPr lang="en-US" sz="2400" b="0" u="sng" dirty="0">
                <a:ea typeface="+mj-lt"/>
                <a:cs typeface="+mj-lt"/>
              </a:rPr>
              <a:t>condition: selection | count() by </a:t>
            </a:r>
            <a:r>
              <a:rPr lang="en-US" sz="2400" b="0" u="sng" err="1">
                <a:ea typeface="+mj-lt"/>
                <a:cs typeface="+mj-lt"/>
              </a:rPr>
              <a:t>AccountName</a:t>
            </a:r>
            <a:r>
              <a:rPr lang="en-US" sz="2400" b="0" u="sng" dirty="0">
                <a:ea typeface="+mj-lt"/>
                <a:cs typeface="+mj-lt"/>
              </a:rPr>
              <a:t>, </a:t>
            </a:r>
            <a:r>
              <a:rPr lang="en-US" sz="2400" b="0" u="sng" err="1">
                <a:ea typeface="+mj-lt"/>
                <a:cs typeface="+mj-lt"/>
              </a:rPr>
              <a:t>ServiceName</a:t>
            </a:r>
            <a:r>
              <a:rPr lang="en-US" sz="2400" b="0" u="sng" dirty="0">
                <a:ea typeface="+mj-lt"/>
                <a:cs typeface="+mj-lt"/>
              </a:rPr>
              <a:t> &gt; 50 within 24h</a:t>
            </a:r>
            <a:endParaRPr lang="en-US" sz="2400" u="sng">
              <a:cs typeface="Arial"/>
            </a:endParaRPr>
          </a:p>
          <a:p>
            <a:pPr algn="ctr"/>
            <a:r>
              <a:rPr lang="en-US" sz="2400" b="0" err="1">
                <a:ea typeface="+mj-lt"/>
                <a:cs typeface="+mj-lt"/>
              </a:rPr>
              <a:t>falsepositives</a:t>
            </a:r>
            <a:r>
              <a:rPr lang="en-US" sz="2400" b="0" dirty="0">
                <a:ea typeface="+mj-lt"/>
                <a:cs typeface="+mj-lt"/>
              </a:rPr>
              <a:t>:</a:t>
            </a:r>
            <a:endParaRPr lang="en-US" sz="2400">
              <a:cs typeface="Arial"/>
            </a:endParaRPr>
          </a:p>
          <a:p>
            <a:pPr algn="ctr"/>
            <a:r>
              <a:rPr lang="en-US" sz="2400" b="0" dirty="0">
                <a:ea typeface="+mj-lt"/>
                <a:cs typeface="+mj-lt"/>
              </a:rPr>
              <a:t>  </a:t>
            </a:r>
            <a:r>
              <a:rPr lang="en-US" sz="2400" b="0" u="sng" dirty="0">
                <a:ea typeface="+mj-lt"/>
                <a:cs typeface="+mj-lt"/>
              </a:rPr>
              <a:t>Legitimate automation or backup jobs performing many service ticket requests. Tune thresholds.</a:t>
            </a:r>
            <a:endParaRPr lang="en-US" sz="2400" u="sng">
              <a:cs typeface="Arial"/>
            </a:endParaRPr>
          </a:p>
          <a:p>
            <a:pPr algn="ctr"/>
            <a:r>
              <a:rPr lang="en-US" sz="2400" b="0" dirty="0">
                <a:ea typeface="+mj-lt"/>
                <a:cs typeface="+mj-lt"/>
              </a:rPr>
              <a:t>level: high</a:t>
            </a:r>
            <a:endParaRPr lang="en-US" sz="2400" dirty="0"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B617AD-09E2-07D1-0572-86BE7139B99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821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DA9D2C-79E5-25CF-E4A6-2AA9C1BE8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9243" y="498432"/>
            <a:ext cx="7291188" cy="688267"/>
          </a:xfrm>
        </p:spPr>
        <p:txBody>
          <a:bodyPr>
            <a:normAutofit fontScale="90000"/>
          </a:bodyPr>
          <a:lstStyle/>
          <a:p>
            <a:pPr algn="ctr"/>
            <a:r>
              <a:rPr lang="en-US" u="sng" dirty="0">
                <a:ea typeface="+mj-lt"/>
                <a:cs typeface="+mj-lt"/>
              </a:rPr>
              <a:t>Triage Checklist (first 30 min)</a:t>
            </a:r>
            <a:endParaRPr lang="en-US" u="sng" dirty="0">
              <a:cs typeface="Arial"/>
            </a:endParaRPr>
          </a:p>
        </p:txBody>
      </p:sp>
      <p:pic>
        <p:nvPicPr>
          <p:cNvPr id="6" name="Picture Placeholder 5" descr="A hand holding a black shirt on hangers">
            <a:extLst>
              <a:ext uri="{FF2B5EF4-FFF2-40B4-BE49-F238E27FC236}">
                <a16:creationId xmlns:a16="http://schemas.microsoft.com/office/drawing/2014/main" id="{5326D26B-3D67-152D-1D62-B066AE80932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" b="10"/>
          <a:stretch/>
        </p:blipFill>
        <p:spPr>
          <a:xfrm>
            <a:off x="900170" y="1720010"/>
            <a:ext cx="3855085" cy="4013199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887FC-D1FD-80FF-11CA-504D9B1DB9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58431" y="1548311"/>
            <a:ext cx="6005313" cy="4584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u="sng" dirty="0">
                <a:ea typeface="+mn-lt"/>
                <a:cs typeface="+mn-lt"/>
              </a:rPr>
              <a:t>Acknowledge Alert</a:t>
            </a:r>
            <a:r>
              <a:rPr lang="en-US" u="sng" dirty="0">
                <a:ea typeface="+mn-lt"/>
                <a:cs typeface="+mn-lt"/>
              </a:rPr>
              <a:t> and Record TTP Summary.</a:t>
            </a:r>
            <a:endParaRPr lang="en-US" u="sng" dirty="0">
              <a:cs typeface="Arial"/>
            </a:endParaRPr>
          </a:p>
          <a:p>
            <a:r>
              <a:rPr lang="en-US" b="1" dirty="0">
                <a:ea typeface="+mn-lt"/>
                <a:cs typeface="+mn-lt"/>
              </a:rPr>
              <a:t>Collect timeline</a:t>
            </a:r>
            <a:r>
              <a:rPr lang="en-US" dirty="0">
                <a:ea typeface="+mn-lt"/>
                <a:cs typeface="+mn-lt"/>
              </a:rPr>
              <a:t>: time of first alert, top affected accounts, source hosts.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Pull DC logs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EventID</a:t>
            </a:r>
            <a:r>
              <a:rPr lang="en-US" dirty="0">
                <a:ea typeface="+mn-lt"/>
                <a:cs typeface="+mn-lt"/>
              </a:rPr>
              <a:t> 4768/4769/4771/4624), endpoint Sysmon logs, and network flow (PCAP if possible).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Query </a:t>
            </a:r>
            <a:r>
              <a:rPr lang="en-US" b="1" dirty="0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 for attack path analysis: check relationships of targeted service accounts.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Snapshot</a:t>
            </a:r>
            <a:r>
              <a:rPr lang="en-US" dirty="0">
                <a:ea typeface="+mn-lt"/>
                <a:cs typeface="+mn-lt"/>
              </a:rPr>
              <a:t>/backup DCs + affected hosts (if environment permits) before changes.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Escalate</a:t>
            </a:r>
            <a:r>
              <a:rPr lang="en-US" dirty="0">
                <a:ea typeface="+mn-lt"/>
                <a:cs typeface="+mn-lt"/>
              </a:rPr>
              <a:t> to IR Lead if evidence of ticket theft, lateral movement, or privilege escalation.</a:t>
            </a:r>
            <a:endParaRPr lang="en-US" dirty="0"/>
          </a:p>
          <a:p>
            <a:endParaRPr lang="en-US" dirty="0">
              <a:cs typeface="Arial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62F5D22-6C73-5967-E35C-917445CF13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33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865FC3-5E5A-2CB6-EF6D-0D318425C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613317" y="349832"/>
            <a:ext cx="10621536" cy="635191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ea typeface="+mj-lt"/>
                <a:cs typeface="+mj-lt"/>
              </a:rPr>
              <a:t>CONTAINMENT (short-term)</a:t>
            </a:r>
            <a:endParaRPr lang="en-US" b="1" u="sng"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1D7CA-E9C7-0293-D696-D1D3BCE5B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371" y="1119383"/>
            <a:ext cx="11136472" cy="520626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ctr"/>
            <a:r>
              <a:rPr lang="en-US" dirty="0">
                <a:ea typeface="+mn-lt"/>
                <a:cs typeface="+mn-lt"/>
              </a:rPr>
              <a:t>Isolate source host(s) from the network or block at firewall (segmentation).</a:t>
            </a:r>
          </a:p>
          <a:p>
            <a:pPr algn="ctr"/>
            <a:r>
              <a:rPr lang="en-US" dirty="0">
                <a:ea typeface="+mn-lt"/>
                <a:cs typeface="+mn-lt"/>
              </a:rPr>
              <a:t>Disable or restrict the offending service account(s) (set </a:t>
            </a:r>
            <a:r>
              <a:rPr lang="en-US" dirty="0" err="1">
                <a:latin typeface="Consolas"/>
              </a:rPr>
              <a:t>UserAccountControl</a:t>
            </a:r>
            <a:r>
              <a:rPr lang="en-US" dirty="0">
                <a:ea typeface="+mn-lt"/>
                <a:cs typeface="+mn-lt"/>
              </a:rPr>
              <a:t>/disable). </a:t>
            </a:r>
            <a:r>
              <a:rPr lang="en-US" i="1" dirty="0">
                <a:ea typeface="+mn-lt"/>
                <a:cs typeface="+mn-lt"/>
              </a:rPr>
              <a:t>Prefer rotate credentials instead of immediate deletion.</a:t>
            </a:r>
          </a:p>
          <a:p>
            <a:pPr algn="ctr"/>
            <a:r>
              <a:rPr lang="en-US" dirty="0">
                <a:ea typeface="+mn-lt"/>
                <a:cs typeface="+mn-lt"/>
              </a:rPr>
              <a:t>Block outbound egress if C2 is suspected (DNS/HTTP/HTTPS anomalies).</a:t>
            </a:r>
          </a:p>
          <a:p>
            <a:pPr algn="ctr"/>
            <a:r>
              <a:rPr lang="en-US" dirty="0">
                <a:ea typeface="+mn-lt"/>
                <a:cs typeface="+mn-lt"/>
              </a:rPr>
              <a:t>Temporarily raise monitoring sensitivity for DC logs, scheduled task creation, and new service creation.</a:t>
            </a:r>
            <a:endParaRPr lang="en-US">
              <a:ea typeface="+mn-lt"/>
              <a:cs typeface="+mn-lt"/>
            </a:endParaRPr>
          </a:p>
          <a:p>
            <a:pPr algn="ctr">
              <a:buNone/>
            </a:pPr>
            <a:r>
              <a:rPr lang="en-US" u="sng" dirty="0"/>
              <a:t>Recovery &amp; Validation</a:t>
            </a:r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Reintroduce isolated hosts to network after monitoring for 24–72 hours with elevated logging.</a:t>
            </a:r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Validate no unauthorized scheduled tasks/services exist.</a:t>
            </a:r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Re-run </a:t>
            </a:r>
            <a:r>
              <a:rPr lang="en-US" dirty="0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 to confirm removal of privilege escalation chains.</a:t>
            </a:r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Confirm Splunk alerts showing normal baseline behavior; compare to pre-incident baselines.</a:t>
            </a:r>
            <a:endParaRPr lang="en-US">
              <a:ea typeface="+mn-lt"/>
              <a:cs typeface="+mn-lt"/>
            </a:endParaRPr>
          </a:p>
          <a:p>
            <a:pPr marL="0" indent="0" algn="ctr">
              <a:buNone/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C76580-2AD8-C4C1-30CB-9530F6DE72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156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E6599B-92EE-DA04-9056-C282E455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951" y="381000"/>
            <a:ext cx="9971050" cy="675076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ea typeface="+mj-lt"/>
                <a:cs typeface="+mj-lt"/>
              </a:rPr>
              <a:t>Remediation (step-by-step)</a:t>
            </a:r>
            <a:endParaRPr lang="en-US" u="sng"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5F0C6D4-02DE-0349-3B53-5B0E8FD1DB0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63680" y="1258772"/>
            <a:ext cx="9980652" cy="502970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85750" indent="-285750"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Reset/Rotate Service Account Credentials</a:t>
            </a:r>
            <a:r>
              <a:rPr lang="en-US" b="0" dirty="0">
                <a:ea typeface="+mn-lt"/>
                <a:cs typeface="+mn-lt"/>
              </a:rPr>
              <a:t> for accounts identified in TGS/AS-REP abuse. Ensure new passwords are complex and long; update associated service configurations.</a:t>
            </a:r>
            <a:endParaRPr lang="en-US" dirty="0">
              <a:cs typeface="Arial"/>
            </a:endParaRPr>
          </a:p>
          <a:p>
            <a:pPr marL="285750" indent="-285750"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Enforce Kerberos pre-auth and AES-only encryption</a:t>
            </a:r>
            <a:r>
              <a:rPr lang="en-US" b="0" dirty="0">
                <a:ea typeface="+mn-lt"/>
                <a:cs typeface="+mn-lt"/>
              </a:rPr>
              <a:t>: disable legacy RC4 for service tickets. (Coordinate change windows because it may break legacy services.)</a:t>
            </a:r>
            <a:endParaRPr lang="en-US" dirty="0">
              <a:cs typeface="Arial"/>
            </a:endParaRPr>
          </a:p>
          <a:p>
            <a:pPr marL="285750" indent="-285750" algn="ctr">
              <a:buFont typeface="Arial"/>
            </a:pPr>
            <a:r>
              <a:rPr lang="en-US" dirty="0">
                <a:ea typeface="+mn-lt"/>
                <a:cs typeface="+mn-lt"/>
              </a:rPr>
              <a:t>Harden SPNs &amp; Service Accounts: move service principals to managed/non-interactive accounts and enforce </a:t>
            </a:r>
            <a:r>
              <a:rPr lang="en-US" dirty="0" err="1">
                <a:latin typeface="Consolas"/>
              </a:rPr>
              <a:t>msDS-AllowedToDelegate</a:t>
            </a:r>
            <a:r>
              <a:rPr lang="en-US" dirty="0">
                <a:latin typeface="Consolas"/>
              </a:rPr>
              <a:t>...</a:t>
            </a:r>
            <a:r>
              <a:rPr lang="en-US" dirty="0">
                <a:ea typeface="+mn-lt"/>
                <a:cs typeface="+mn-lt"/>
              </a:rPr>
              <a:t> controls as needed.</a:t>
            </a:r>
            <a:endParaRPr lang="en-US" dirty="0">
              <a:cs typeface="Arial"/>
            </a:endParaRPr>
          </a:p>
          <a:p>
            <a:pPr marL="285750" indent="-285750" algn="ctr">
              <a:buFont typeface="Arial"/>
            </a:pPr>
            <a:r>
              <a:rPr lang="en-US" dirty="0">
                <a:ea typeface="+mn-lt"/>
                <a:cs typeface="+mn-lt"/>
              </a:rPr>
              <a:t>Patch &amp; Harden Hosts: ensure DCs and endpoints have latest security patches and LSA protections.</a:t>
            </a:r>
            <a:endParaRPr lang="en-US" dirty="0">
              <a:cs typeface="Arial"/>
            </a:endParaRPr>
          </a:p>
          <a:p>
            <a:pPr marL="285750" indent="-285750" algn="ctr">
              <a:buFont typeface="Arial"/>
            </a:pPr>
            <a:r>
              <a:rPr lang="en-US" dirty="0">
                <a:ea typeface="+mn-lt"/>
                <a:cs typeface="+mn-lt"/>
              </a:rPr>
              <a:t>GPO Hardening: restrict who can modify GPOs and who can write to SYSVOL; audit GPO changes (</a:t>
            </a:r>
            <a:r>
              <a:rPr lang="en-US" dirty="0" err="1">
                <a:ea typeface="+mn-lt"/>
                <a:cs typeface="+mn-lt"/>
              </a:rPr>
              <a:t>EventID</a:t>
            </a:r>
            <a:r>
              <a:rPr lang="en-US" dirty="0">
                <a:ea typeface="+mn-lt"/>
                <a:cs typeface="+mn-lt"/>
              </a:rPr>
              <a:t> 5136).</a:t>
            </a:r>
            <a:endParaRPr lang="en-US" dirty="0">
              <a:cs typeface="Arial"/>
            </a:endParaRPr>
          </a:p>
          <a:p>
            <a:pPr marL="285750" indent="-285750" algn="ctr">
              <a:buFont typeface="Arial"/>
            </a:pPr>
            <a:r>
              <a:rPr lang="en-US" dirty="0">
                <a:ea typeface="+mn-lt"/>
                <a:cs typeface="+mn-lt"/>
              </a:rPr>
              <a:t>Implement Credential Hygiene: enforce least privilege, rotate creds regularly, enable managed service accounts (</a:t>
            </a:r>
            <a:r>
              <a:rPr lang="en-US" dirty="0" err="1">
                <a:ea typeface="+mn-lt"/>
                <a:cs typeface="+mn-lt"/>
              </a:rPr>
              <a:t>gMSA</a:t>
            </a:r>
            <a:r>
              <a:rPr lang="en-US" dirty="0">
                <a:ea typeface="+mn-lt"/>
                <a:cs typeface="+mn-lt"/>
              </a:rPr>
              <a:t>) where possible.</a:t>
            </a:r>
            <a:endParaRPr lang="en-US">
              <a:cs typeface="Arial"/>
            </a:endParaRPr>
          </a:p>
          <a:p>
            <a:pPr marL="285750" indent="-285750" algn="ctr">
              <a:buFont typeface="Arial"/>
            </a:pPr>
            <a:r>
              <a:rPr lang="en-US" dirty="0">
                <a:ea typeface="+mn-lt"/>
                <a:cs typeface="+mn-lt"/>
              </a:rPr>
              <a:t>EDR / SIEM Tuning: add new signatures and thresholds; tune to reduce false positives.</a:t>
            </a:r>
            <a:endParaRPr lang="en-US" dirty="0">
              <a:cs typeface="Arial"/>
            </a:endParaRPr>
          </a:p>
          <a:p>
            <a:pPr marL="285750" indent="-285750" algn="ctr">
              <a:buFont typeface="Arial"/>
            </a:pPr>
            <a:r>
              <a:rPr lang="en-US" dirty="0">
                <a:ea typeface="+mn-lt"/>
                <a:cs typeface="+mn-lt"/>
              </a:rPr>
              <a:t>Re-enable services gradually and monitor for reoccurrence.</a:t>
            </a:r>
            <a:endParaRPr lang="en-US" dirty="0">
              <a:cs typeface="Arial"/>
            </a:endParaRPr>
          </a:p>
          <a:p>
            <a:pPr algn="ctr"/>
            <a:endParaRPr lang="en-US" dirty="0"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232BDC-58BE-5669-7C02-6227C42B53A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614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B195E-449B-6D1C-97A2-99C5CAFA4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667" y="506064"/>
            <a:ext cx="11069976" cy="58129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u="sng"/>
              <a:t>Evidence Collection (forensic minimum)</a:t>
            </a:r>
            <a:endParaRPr lang="en-US" b="1" u="sng">
              <a:cs typeface="Arial"/>
            </a:endParaRPr>
          </a:p>
          <a:p>
            <a:pPr algn="ctr"/>
            <a:r>
              <a:rPr lang="en-US" b="1">
                <a:ea typeface="+mn-lt"/>
                <a:cs typeface="+mn-lt"/>
              </a:rPr>
              <a:t>Export DC Security Event logs (</a:t>
            </a:r>
            <a:r>
              <a:rPr lang="en-US" b="1" err="1">
                <a:ea typeface="+mn-lt"/>
                <a:cs typeface="+mn-lt"/>
              </a:rPr>
              <a:t>EventIDs</a:t>
            </a:r>
            <a:r>
              <a:rPr lang="en-US" b="1">
                <a:ea typeface="+mn-lt"/>
                <a:cs typeface="+mn-lt"/>
              </a:rPr>
              <a:t> 4768/4769/4672/4624).</a:t>
            </a:r>
            <a:endParaRPr lang="en-US" b="1">
              <a:cs typeface="Arial"/>
            </a:endParaRPr>
          </a:p>
          <a:p>
            <a:pPr algn="ctr"/>
            <a:r>
              <a:rPr lang="en-US" b="1">
                <a:ea typeface="+mn-lt"/>
                <a:cs typeface="+mn-lt"/>
              </a:rPr>
              <a:t>Export Sysmon logs from endpoint (</a:t>
            </a:r>
            <a:r>
              <a:rPr lang="en-US" b="1" err="1">
                <a:ea typeface="+mn-lt"/>
                <a:cs typeface="+mn-lt"/>
              </a:rPr>
              <a:t>EventID</a:t>
            </a:r>
            <a:r>
              <a:rPr lang="en-US" b="1">
                <a:ea typeface="+mn-lt"/>
                <a:cs typeface="+mn-lt"/>
              </a:rPr>
              <a:t> 1,3,7,11,22).</a:t>
            </a:r>
            <a:endParaRPr lang="en-US" b="1">
              <a:cs typeface="Arial"/>
            </a:endParaRPr>
          </a:p>
          <a:p>
            <a:pPr algn="ctr"/>
            <a:r>
              <a:rPr lang="en-US" b="1">
                <a:ea typeface="+mn-lt"/>
                <a:cs typeface="+mn-lt"/>
              </a:rPr>
              <a:t>Capture PCAPs from affected host subnets.</a:t>
            </a:r>
            <a:endParaRPr lang="en-US" b="1">
              <a:cs typeface="Arial"/>
            </a:endParaRPr>
          </a:p>
          <a:p>
            <a:pPr algn="ctr"/>
            <a:r>
              <a:rPr lang="en-US" b="1" err="1">
                <a:ea typeface="+mn-lt"/>
                <a:cs typeface="+mn-lt"/>
              </a:rPr>
              <a:t>BloodHound</a:t>
            </a:r>
            <a:r>
              <a:rPr lang="en-US" b="1">
                <a:ea typeface="+mn-lt"/>
                <a:cs typeface="+mn-lt"/>
              </a:rPr>
              <a:t> data export of relevant accounts/AD relationships.</a:t>
            </a:r>
            <a:endParaRPr lang="en-US" b="1">
              <a:cs typeface="Arial"/>
            </a:endParaRPr>
          </a:p>
          <a:p>
            <a:pPr algn="ctr"/>
            <a:r>
              <a:rPr lang="en-US" b="1">
                <a:ea typeface="+mn-lt"/>
                <a:cs typeface="+mn-lt"/>
              </a:rPr>
              <a:t>Timeline/IOC list with hostnames, IPs, accounts, timestamps.</a:t>
            </a:r>
            <a:endParaRPr lang="en-US" b="1">
              <a:cs typeface="Arial"/>
            </a:endParaRPr>
          </a:p>
          <a:p>
            <a:pPr marL="0" indent="0" algn="ctr">
              <a:buNone/>
            </a:pPr>
            <a:r>
              <a:rPr lang="en-US" b="1" u="sng"/>
              <a:t>Post-Incident Actions</a:t>
            </a:r>
            <a:endParaRPr lang="en-US" b="1" u="sng">
              <a:cs typeface="Arial"/>
            </a:endParaRPr>
          </a:p>
          <a:p>
            <a:pPr algn="ctr"/>
            <a:r>
              <a:rPr lang="en-US" b="1">
                <a:ea typeface="+mn-lt"/>
                <a:cs typeface="+mn-lt"/>
              </a:rPr>
              <a:t>After-action report: timeline, root cause, remediation actions taken, residual risk.</a:t>
            </a:r>
            <a:endParaRPr lang="en-US" b="1">
              <a:cs typeface="Arial"/>
            </a:endParaRPr>
          </a:p>
          <a:p>
            <a:pPr algn="ctr"/>
            <a:r>
              <a:rPr lang="en-US" b="1">
                <a:ea typeface="+mn-lt"/>
                <a:cs typeface="+mn-lt"/>
              </a:rPr>
              <a:t>Update IR runbooks &amp; SOC detection rules (include new detections learned).</a:t>
            </a:r>
            <a:endParaRPr lang="en-US" b="1">
              <a:cs typeface="Arial"/>
            </a:endParaRPr>
          </a:p>
          <a:p>
            <a:pPr algn="ctr"/>
            <a:r>
              <a:rPr lang="en-US" b="1">
                <a:ea typeface="+mn-lt"/>
                <a:cs typeface="+mn-lt"/>
              </a:rPr>
              <a:t>Host/Service hardening project &amp; schedule (patching, migration to </a:t>
            </a:r>
            <a:r>
              <a:rPr lang="en-US" b="1" err="1">
                <a:ea typeface="+mn-lt"/>
                <a:cs typeface="+mn-lt"/>
              </a:rPr>
              <a:t>gMSA</a:t>
            </a:r>
            <a:r>
              <a:rPr lang="en-US" b="1">
                <a:ea typeface="+mn-lt"/>
                <a:cs typeface="+mn-lt"/>
              </a:rPr>
              <a:t>).</a:t>
            </a:r>
            <a:endParaRPr lang="en-US" b="1">
              <a:cs typeface="Arial"/>
            </a:endParaRPr>
          </a:p>
          <a:p>
            <a:pPr algn="ctr"/>
            <a:r>
              <a:rPr lang="en-US" b="1">
                <a:ea typeface="+mn-lt"/>
                <a:cs typeface="+mn-lt"/>
              </a:rPr>
              <a:t>Training session for admins: Kerberos hygiene, SPN management, GPO principals.</a:t>
            </a:r>
            <a:endParaRPr lang="en-US" b="1"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51400D-A5B1-7DF5-73CA-6C020EFD7A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416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E36B3-6688-F44F-0765-B9F7F44FB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02122" cy="5925441"/>
          </a:xfrm>
        </p:spPr>
        <p:txBody>
          <a:bodyPr>
            <a:normAutofit/>
          </a:bodyPr>
          <a:lstStyle/>
          <a:p>
            <a:r>
              <a:rPr lang="en-US" sz="2800" u="sng" dirty="0"/>
              <a:t>KPIs &amp; SLA targets (recommended)</a:t>
            </a:r>
            <a:endParaRPr lang="en-US" sz="2800" u="sng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 dirty="0">
                <a:ea typeface="+mj-lt"/>
                <a:cs typeface="+mj-lt"/>
              </a:rPr>
              <a:t>Time-to-detect (TTD):</a:t>
            </a:r>
            <a:r>
              <a:rPr lang="en-US" sz="2800" dirty="0">
                <a:ea typeface="+mj-lt"/>
                <a:cs typeface="+mj-lt"/>
              </a:rPr>
              <a:t> &lt; 10 minutes for high-confidence Kerberos abuse alerts.</a:t>
            </a:r>
            <a:endParaRPr lang="en-US" sz="28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 dirty="0">
                <a:ea typeface="+mj-lt"/>
                <a:cs typeface="+mj-lt"/>
              </a:rPr>
              <a:t>Time-to-contain (TTC):</a:t>
            </a:r>
            <a:r>
              <a:rPr lang="en-US" sz="2800" dirty="0">
                <a:ea typeface="+mj-lt"/>
                <a:cs typeface="+mj-lt"/>
              </a:rPr>
              <a:t> &lt; 60 minutes for affected host isolation.</a:t>
            </a:r>
            <a:endParaRPr lang="en-US" sz="28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 dirty="0">
                <a:ea typeface="+mj-lt"/>
                <a:cs typeface="+mj-lt"/>
              </a:rPr>
              <a:t>Time-to-remediate (TTR):</a:t>
            </a:r>
            <a:r>
              <a:rPr lang="en-US" sz="2800" dirty="0">
                <a:ea typeface="+mj-lt"/>
                <a:cs typeface="+mj-lt"/>
              </a:rPr>
              <a:t> Reset credentials &amp; block vectors within 24 hours.</a:t>
            </a:r>
            <a:endParaRPr lang="en-US" sz="28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 dirty="0">
                <a:ea typeface="+mj-lt"/>
                <a:cs typeface="+mj-lt"/>
              </a:rPr>
              <a:t>False positive target for new rules:</a:t>
            </a:r>
            <a:r>
              <a:rPr lang="en-US" sz="2800" dirty="0">
                <a:ea typeface="+mj-lt"/>
                <a:cs typeface="+mj-lt"/>
              </a:rPr>
              <a:t> &lt; 10% within 7-day tuning window.</a:t>
            </a:r>
            <a:br>
              <a:rPr lang="en-US" sz="2800" dirty="0">
                <a:ea typeface="+mj-lt"/>
                <a:cs typeface="+mj-lt"/>
              </a:rPr>
            </a:br>
            <a:endParaRPr lang="en-US" sz="2800" dirty="0">
              <a:cs typeface="Arial"/>
            </a:endParaRPr>
          </a:p>
          <a:p>
            <a:r>
              <a:rPr lang="en-US" sz="2800" u="sng" dirty="0"/>
              <a:t>Playbook Template (how to save/share)</a:t>
            </a:r>
            <a:endParaRPr lang="en-US" sz="2800" u="sng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j-lt"/>
                <a:cs typeface="+mj-lt"/>
              </a:rPr>
              <a:t>Filename: </a:t>
            </a:r>
            <a:r>
              <a:rPr lang="en-US" sz="2800" dirty="0">
                <a:latin typeface="Consolas"/>
                <a:cs typeface="Arial"/>
              </a:rPr>
              <a:t>IR_Playbook_Kerberos_Abuse_v1.0.md</a:t>
            </a:r>
            <a:endParaRPr lang="en-US" sz="28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j-lt"/>
                <a:cs typeface="+mj-lt"/>
              </a:rPr>
              <a:t>Attachments: Evidence checklist, Splunk saved searches (.txt), Sigma rule (.</a:t>
            </a:r>
            <a:r>
              <a:rPr lang="en-US" sz="2800" dirty="0" err="1">
                <a:ea typeface="+mj-lt"/>
                <a:cs typeface="+mj-lt"/>
              </a:rPr>
              <a:t>yml</a:t>
            </a:r>
            <a:r>
              <a:rPr lang="en-US" sz="2800" dirty="0">
                <a:ea typeface="+mj-lt"/>
                <a:cs typeface="+mj-lt"/>
              </a:rPr>
              <a:t>), </a:t>
            </a:r>
            <a:r>
              <a:rPr lang="en-US" sz="2800" dirty="0" err="1">
                <a:ea typeface="+mj-lt"/>
                <a:cs typeface="+mj-lt"/>
              </a:rPr>
              <a:t>BloodHound</a:t>
            </a:r>
            <a:r>
              <a:rPr lang="en-US" sz="2800" dirty="0">
                <a:ea typeface="+mj-lt"/>
                <a:cs typeface="+mj-lt"/>
              </a:rPr>
              <a:t> export (.</a:t>
            </a:r>
            <a:r>
              <a:rPr lang="en-US" sz="2800" dirty="0" err="1">
                <a:ea typeface="+mj-lt"/>
                <a:cs typeface="+mj-lt"/>
              </a:rPr>
              <a:t>json</a:t>
            </a:r>
            <a:r>
              <a:rPr lang="en-US" sz="2800" dirty="0">
                <a:ea typeface="+mj-lt"/>
                <a:cs typeface="+mj-lt"/>
              </a:rPr>
              <a:t>).</a:t>
            </a:r>
            <a:endParaRPr lang="en-US" sz="2800" dirty="0"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CA788F-A96A-BC1E-FBB1-D5901D496D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815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306F1-042E-BFFE-AC1A-208D7F416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02122" cy="1000320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ea typeface="+mj-lt"/>
                <a:cs typeface="+mj-lt"/>
              </a:rPr>
              <a:t>ONE-PAGE EXECUTIVE REMEDIATION REPORT — KERBEROS ABUSE</a:t>
            </a:r>
            <a:endParaRPr lang="en-US" u="sng" dirty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D4850-FCAF-108B-9A53-4088FFBADA6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B1D1A-87F9-E5DC-72F6-B69DC5CE096C}"/>
              </a:ext>
            </a:extLst>
          </p:cNvPr>
          <p:cNvSpPr txBox="1"/>
          <p:nvPr/>
        </p:nvSpPr>
        <p:spPr>
          <a:xfrm>
            <a:off x="564065" y="1765147"/>
            <a:ext cx="10781369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ea typeface="+mn-lt"/>
                <a:cs typeface="+mn-lt"/>
              </a:rPr>
              <a:t>Title</a:t>
            </a:r>
            <a:r>
              <a:rPr lang="en-US" sz="2800" u="sng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Executive Summary — Kerberos Abuse Risk &amp; Remediation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b="1" u="sng" dirty="0">
                <a:solidFill>
                  <a:schemeClr val="bg1"/>
                </a:solidFill>
                <a:ea typeface="+mn-lt"/>
                <a:cs typeface="+mn-lt"/>
              </a:rPr>
              <a:t>Prepared by</a:t>
            </a:r>
            <a:endParaRPr lang="en-US" sz="2800" u="sng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Bassey Solomon Henry — Active Directory Exploitation &amp; Defense Lab (September 2025)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800" b="1" u="sng" dirty="0">
                <a:solidFill>
                  <a:schemeClr val="bg1"/>
                </a:solidFill>
                <a:ea typeface="+mn-lt"/>
                <a:cs typeface="+mn-lt"/>
              </a:rPr>
              <a:t>Audience</a:t>
            </a:r>
            <a:endParaRPr lang="en-US" sz="2800" u="sng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CISO / IT Leadership / Risk &amp; Compliance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800" b="1" u="sng" dirty="0">
                <a:solidFill>
                  <a:schemeClr val="bg1"/>
                </a:solidFill>
                <a:ea typeface="+mn-lt"/>
                <a:cs typeface="+mn-lt"/>
              </a:rPr>
              <a:t>Impact </a:t>
            </a:r>
            <a:endParaRPr lang="en-US" sz="2800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I detected Kerberos-ticket abuse patterns in my Active Directory lab environment; implementing prioritized remediation will reduce AD attack surface and materially lower enterprise breach risk.</a:t>
            </a:r>
            <a:endParaRPr lang="en-US" sz="2800">
              <a:solidFill>
                <a:schemeClr val="bg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9503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BC2B2-D03D-7350-A345-F51B94F30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428" y="395732"/>
            <a:ext cx="9766609" cy="851797"/>
          </a:xfrm>
        </p:spPr>
        <p:txBody>
          <a:bodyPr>
            <a:normAutofit/>
          </a:bodyPr>
          <a:lstStyle/>
          <a:p>
            <a:pPr algn="ctr"/>
            <a:r>
              <a:rPr lang="en-US" b="0" u="sng" dirty="0">
                <a:ea typeface="+mj-lt"/>
                <a:cs typeface="+mj-lt"/>
              </a:rPr>
              <a:t>Key Findings (summary)</a:t>
            </a:r>
            <a:endParaRPr lang="en-US" u="sng" dirty="0"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EBCB8-8C94-1555-722B-8700B042B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603" y="1263112"/>
            <a:ext cx="9772184" cy="5064510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What happened:</a:t>
            </a:r>
            <a:r>
              <a:rPr lang="en-US">
                <a:ea typeface="+mn-lt"/>
                <a:cs typeface="+mn-lt"/>
              </a:rPr>
              <a:t> Repeated anomalous Kerberos TGS/AS-REP activity targeting service accounts was observed in lab telemetry. This pattern represents a known attack path for lateral movement and privilege escalation.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Risk to business:</a:t>
            </a:r>
            <a:r>
              <a:rPr lang="en-US" dirty="0">
                <a:ea typeface="+mn-lt"/>
                <a:cs typeface="+mn-lt"/>
              </a:rPr>
              <a:t> Compromise of AD can lead to enterprise-wide takeover — email, file shares, applications and cloud services — with potential breach costs in the millions.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Detection gap:</a:t>
            </a:r>
            <a:r>
              <a:rPr lang="en-US" dirty="0">
                <a:ea typeface="+mn-lt"/>
                <a:cs typeface="+mn-lt"/>
              </a:rPr>
              <a:t> Legacy SPNs and weak Kerberos configurations enabled observable TGS abuse patterns; SIEM detected activity but required tuning for rapid response.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u="sng" dirty="0"/>
              <a:t>Business Impact (quantified)</a:t>
            </a:r>
            <a:endParaRPr lang="en-US" u="sng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Modeled reduction in attack surface: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65%</a:t>
            </a:r>
            <a:r>
              <a:rPr lang="en-US" dirty="0">
                <a:ea typeface="+mn-lt"/>
                <a:cs typeface="+mn-lt"/>
              </a:rPr>
              <a:t> projected after recommended controls.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Expected improvement in IR metrics:</a:t>
            </a:r>
            <a:r>
              <a:rPr lang="en-US" dirty="0">
                <a:ea typeface="+mn-lt"/>
                <a:cs typeface="+mn-lt"/>
              </a:rPr>
              <a:t> Detection &amp; response readiness improved by </a:t>
            </a:r>
            <a:r>
              <a:rPr lang="en-US" b="1" dirty="0">
                <a:ea typeface="+mn-lt"/>
                <a:cs typeface="+mn-lt"/>
              </a:rPr>
              <a:t>40%</a:t>
            </a:r>
            <a:r>
              <a:rPr lang="en-US" dirty="0">
                <a:ea typeface="+mn-lt"/>
                <a:cs typeface="+mn-lt"/>
              </a:rPr>
              <a:t>, with Time-to-Detect SLA target ≤10 minutes.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Scope:</a:t>
            </a:r>
            <a:r>
              <a:rPr lang="en-US" dirty="0">
                <a:ea typeface="+mn-lt"/>
                <a:cs typeface="+mn-lt"/>
              </a:rPr>
              <a:t> Applicable to environments using legacy SPNs, unmanaged service accounts, and insufficient GPO protections across </a:t>
            </a:r>
            <a:r>
              <a:rPr lang="en-US" b="1" dirty="0">
                <a:ea typeface="+mn-lt"/>
                <a:cs typeface="+mn-lt"/>
              </a:rPr>
              <a:t>500+ endpoints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Estimated financial risk avoided:</a:t>
            </a:r>
            <a:r>
              <a:rPr lang="en-US" dirty="0">
                <a:ea typeface="+mn-lt"/>
                <a:cs typeface="+mn-lt"/>
              </a:rPr>
              <a:t> Prevented exposure to potential breach costs (industry average ~$3–5M per breach) by reducing attack vectors and enabling earlier containment.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278D8-073B-8580-088E-EFACC76CD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704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26451-7559-CFBB-E9D2-FE759F5FB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672" y="367854"/>
            <a:ext cx="10872437" cy="638066"/>
          </a:xfrm>
        </p:spPr>
        <p:txBody>
          <a:bodyPr>
            <a:normAutofit fontScale="90000"/>
          </a:bodyPr>
          <a:lstStyle/>
          <a:p>
            <a:pPr algn="ctr"/>
            <a:r>
              <a:rPr lang="en-US" b="0" u="sng" dirty="0">
                <a:ea typeface="+mj-lt"/>
                <a:cs typeface="+mj-lt"/>
              </a:rPr>
              <a:t>Recommended Remediation (prioritized)</a:t>
            </a:r>
            <a:endParaRPr lang="en-US" u="sng" dirty="0">
              <a:ea typeface="+mj-lt"/>
              <a:cs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85ED2-7D56-8463-E34E-03C512179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139" y="1151599"/>
            <a:ext cx="10868721" cy="4990169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b="1">
                <a:ea typeface="+mn-lt"/>
                <a:cs typeface="+mn-lt"/>
              </a:rPr>
              <a:t>I</a:t>
            </a:r>
            <a:r>
              <a:rPr lang="en-US" b="1" u="sng">
                <a:ea typeface="+mn-lt"/>
                <a:cs typeface="+mn-lt"/>
              </a:rPr>
              <a:t>mmediate (0–7 days)</a:t>
            </a:r>
            <a:endParaRPr lang="en-US" u="sng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Rotate/reset credentials for targeted service accounts; suspend accounts exhibiting abuse.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Increase monitoring on Kerberos </a:t>
            </a:r>
            <a:r>
              <a:rPr lang="en-US" dirty="0" err="1">
                <a:ea typeface="+mn-lt"/>
                <a:cs typeface="+mn-lt"/>
              </a:rPr>
              <a:t>EventIDs</a:t>
            </a:r>
            <a:r>
              <a:rPr lang="en-US" dirty="0">
                <a:ea typeface="+mn-lt"/>
                <a:cs typeface="+mn-lt"/>
              </a:rPr>
              <a:t> and set high-priority alerts in Splunk.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Isolate and snapshot affected hosts.</a:t>
            </a:r>
            <a:endParaRPr lang="en-US" dirty="0"/>
          </a:p>
          <a:p>
            <a:r>
              <a:rPr lang="en-US" b="1" u="sng">
                <a:ea typeface="+mn-lt"/>
                <a:cs typeface="+mn-lt"/>
              </a:rPr>
              <a:t>Short Term (7–30 days)</a:t>
            </a:r>
            <a:endParaRPr lang="en-US" u="sng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Enforce Kerberos pre-auth and disable RC4/legacy encryption on service accounts.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Audit and remove writable access to GPOs and SYSVOL; lock down GPO modification permissions.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Implement temporary increased logging and retention for DC event logs.</a:t>
            </a:r>
            <a:endParaRPr lang="en-US" dirty="0"/>
          </a:p>
          <a:p>
            <a:r>
              <a:rPr lang="en-US" u="sng">
                <a:ea typeface="+mn-lt"/>
                <a:cs typeface="+mn-lt"/>
              </a:rPr>
              <a:t>Medium Term (30–90 days)</a:t>
            </a:r>
            <a:endParaRPr lang="en-US" u="sng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Migrate service accounts to managed service accounts (</a:t>
            </a:r>
            <a:r>
              <a:rPr lang="en-US" dirty="0" err="1">
                <a:ea typeface="+mn-lt"/>
                <a:cs typeface="+mn-lt"/>
              </a:rPr>
              <a:t>gMSA</a:t>
            </a:r>
            <a:r>
              <a:rPr lang="en-US" dirty="0">
                <a:ea typeface="+mn-lt"/>
                <a:cs typeface="+mn-lt"/>
              </a:rPr>
              <a:t>) where possible.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Deploy SIEM detections (Sigma/SPL) and tune to &lt;10% false positives.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Conduct tabletop &amp; red/blue exercises simulating Kerberos abuse.</a:t>
            </a:r>
            <a:endParaRPr lang="en-US" dirty="0"/>
          </a:p>
          <a:p>
            <a:r>
              <a:rPr lang="en-US" b="1" u="sng" dirty="0">
                <a:ea typeface="+mn-lt"/>
                <a:cs typeface="+mn-lt"/>
              </a:rPr>
              <a:t>Long Term (90–180 days)</a:t>
            </a:r>
            <a:endParaRPr lang="en-US" u="sng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Harden identity lifecycle and credential rotation program.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Integrate AD hardening into change management and CI/CD pipeline where applicable.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Periodic third-party pen-testing &amp; continuous monitoring for AD anomalies.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AAFEA-6AC8-43CC-20CA-C4E1B54B8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165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6B36-E634-11A1-B051-C8486633A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574" y="507244"/>
            <a:ext cx="9255512" cy="693822"/>
          </a:xfrm>
        </p:spPr>
        <p:txBody>
          <a:bodyPr>
            <a:normAutofit fontScale="90000"/>
          </a:bodyPr>
          <a:lstStyle/>
          <a:p>
            <a:pPr algn="ctr"/>
            <a:r>
              <a:rPr lang="en-US" b="0" u="sng" dirty="0">
                <a:ea typeface="+mj-lt"/>
                <a:cs typeface="+mj-lt"/>
              </a:rPr>
              <a:t>Resources &amp; Estimated Effort</a:t>
            </a:r>
            <a:endParaRPr lang="en-US" u="sng" dirty="0"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B031DC-D709-B97B-1F49-C71598C41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579" y="1356039"/>
            <a:ext cx="10543478" cy="480431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u="sng" dirty="0">
                <a:ea typeface="+mn-lt"/>
                <a:cs typeface="+mn-lt"/>
              </a:rPr>
              <a:t>Immediate Actions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AD Admin (4–8 </a:t>
            </a:r>
            <a:r>
              <a:rPr lang="en-US" dirty="0" err="1">
                <a:ea typeface="+mn-lt"/>
                <a:cs typeface="+mn-lt"/>
              </a:rPr>
              <a:t>hrs</a:t>
            </a:r>
            <a:r>
              <a:rPr lang="en-US" dirty="0">
                <a:ea typeface="+mn-lt"/>
                <a:cs typeface="+mn-lt"/>
              </a:rPr>
              <a:t>), SOC rule tuning (4–8 </a:t>
            </a:r>
            <a:r>
              <a:rPr lang="en-US" dirty="0" err="1">
                <a:ea typeface="+mn-lt"/>
                <a:cs typeface="+mn-lt"/>
              </a:rPr>
              <a:t>hrs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>
              <a:cs typeface="Arial"/>
            </a:endParaRPr>
          </a:p>
          <a:p>
            <a:r>
              <a:rPr lang="en-US" u="sng" dirty="0">
                <a:ea typeface="+mn-lt"/>
                <a:cs typeface="+mn-lt"/>
              </a:rPr>
              <a:t>Short &amp; Medium Term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AD project (2–3 FTE-weeks), Splunk engineer (1–2 FTE-weeks). 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Identity program &amp; </a:t>
            </a:r>
            <a:r>
              <a:rPr lang="en-US" dirty="0" err="1">
                <a:ea typeface="+mn-lt"/>
                <a:cs typeface="+mn-lt"/>
              </a:rPr>
              <a:t>gMSA</a:t>
            </a:r>
            <a:r>
              <a:rPr lang="en-US" dirty="0">
                <a:ea typeface="+mn-lt"/>
                <a:cs typeface="+mn-lt"/>
              </a:rPr>
              <a:t> migration (1–3 months depending on size).</a:t>
            </a:r>
            <a:endParaRPr lang="en-US">
              <a:cs typeface="Arial"/>
            </a:endParaRPr>
          </a:p>
          <a:p>
            <a:r>
              <a:rPr lang="en-US" u="sng" dirty="0"/>
              <a:t>KPIs to Track Post-Remediation</a:t>
            </a:r>
            <a:endParaRPr lang="en-US" u="sng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% reduction in exploitable SPNs / weak service accounts (target: 75%+).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Median Time-to-Detect Kerberos abuse (target: &lt;10 min).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False positive rate for Kerberos rules (target: &lt;10%).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Number of detected Kerberos anomalies per month (trend downwards after remediation).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CD84C-AF17-B69D-80D5-506522062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427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E0B7C-E592-16F1-94E9-87CB931A2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087" y="386440"/>
            <a:ext cx="10891023" cy="768163"/>
          </a:xfrm>
        </p:spPr>
        <p:txBody>
          <a:bodyPr>
            <a:normAutofit/>
          </a:bodyPr>
          <a:lstStyle/>
          <a:p>
            <a:pPr algn="ctr"/>
            <a:r>
              <a:rPr lang="en-US" sz="4400" b="0" u="sng" dirty="0">
                <a:cs typeface="Arial"/>
              </a:rPr>
              <a:t>Recommended Acceptance Criteria</a:t>
            </a:r>
            <a:endParaRPr lang="en-US" sz="4400" u="sng" dirty="0"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420F8-0038-7210-FE1D-2A09DB70C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700" y="1476842"/>
            <a:ext cx="10710747" cy="466492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SIEM detects and alerts on high-confidence Kerberos abuse events within 10 minutes.</a:t>
            </a: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All high-risk service accounts remediated or on rotation schedule within 30 days.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GPO write permissions restricted to approved change owners; verified </a:t>
            </a:r>
            <a:r>
              <a:rPr lang="en-US">
                <a:ea typeface="+mn-lt"/>
                <a:cs typeface="+mn-lt"/>
              </a:rPr>
              <a:t>by audit.</a:t>
            </a:r>
            <a:endParaRPr lang="en-US"/>
          </a:p>
          <a:p>
            <a:endParaRPr lang="en-US" dirty="0">
              <a:cs typeface="Arial"/>
            </a:endParaRPr>
          </a:p>
          <a:p>
            <a:r>
              <a:rPr lang="en-US" u="sng" dirty="0"/>
              <a:t>Conclusion</a:t>
            </a:r>
            <a:endParaRPr lang="en-US" u="sng" dirty="0">
              <a:cs typeface="Arial"/>
            </a:endParaRPr>
          </a:p>
          <a:p>
            <a:r>
              <a:rPr lang="en-US" dirty="0">
                <a:ea typeface="+mn-lt"/>
                <a:cs typeface="+mn-lt"/>
              </a:rPr>
              <a:t>Addressing Kerberos abuse is an identity-first defense priority — by </a:t>
            </a:r>
            <a:r>
              <a:rPr lang="en-US">
                <a:ea typeface="+mn-lt"/>
                <a:cs typeface="+mn-lt"/>
              </a:rPr>
              <a:t>executing this prioritized remediation plan I materially reduce the </a:t>
            </a:r>
            <a:r>
              <a:rPr lang="en-US" dirty="0">
                <a:ea typeface="+mn-lt"/>
                <a:cs typeface="+mn-lt"/>
              </a:rPr>
              <a:t>chance of an enterprise-wide compromise and improve SOC effectiveness.</a:t>
            </a:r>
            <a:endParaRPr lang="en-US" dirty="0"/>
          </a:p>
          <a:p>
            <a:endParaRPr lang="en-US" dirty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40DAE-06BC-18A6-713D-809BAF2B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17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AAB1C8-4A29-D350-B7C4-3089C13BF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7775" y="1772994"/>
            <a:ext cx="4720667" cy="125248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6" name="Picture Placeholder 5" descr="A table and chairs in a room">
            <a:extLst>
              <a:ext uri="{FF2B5EF4-FFF2-40B4-BE49-F238E27FC236}">
                <a16:creationId xmlns:a16="http://schemas.microsoft.com/office/drawing/2014/main" id="{30452C6F-947C-89F5-F589-F6759321BB8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" r="35"/>
          <a:stretch/>
        </p:blipFill>
        <p:spPr>
          <a:xfrm>
            <a:off x="911745" y="1751759"/>
            <a:ext cx="5394960" cy="399732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8618F-D769-F666-B1AD-B03C82DA1B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029992" y="3340800"/>
            <a:ext cx="4368450" cy="31663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Arial"/>
              </a:rPr>
              <a:t>Bassey Solomon Henry</a:t>
            </a:r>
            <a:endParaRPr lang="en-US" dirty="0"/>
          </a:p>
          <a:p>
            <a:r>
              <a:rPr lang="en-US" dirty="0">
                <a:cs typeface="Arial"/>
              </a:rPr>
              <a:t>Cert: SOC Level 1</a:t>
            </a:r>
          </a:p>
          <a:p>
            <a:r>
              <a:rPr lang="en-US" dirty="0">
                <a:cs typeface="Arial"/>
              </a:rPr>
              <a:t>Red Team Enthusiast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293850"/>
      </p:ext>
    </p:extLst>
  </p:cSld>
  <p:clrMapOvr>
    <a:masterClrMapping/>
  </p:clrMapOvr>
</p:sld>
</file>

<file path=ppt/theme/theme1.xml><?xml version="1.0" encoding="utf-8"?>
<a:theme xmlns:a="http://schemas.openxmlformats.org/drawingml/2006/main" name="Madison">
  <a:themeElements>
    <a:clrScheme name="TM45439525">
      <a:dk1>
        <a:srgbClr val="000000"/>
      </a:dk1>
      <a:lt1>
        <a:srgbClr val="FFFFFF"/>
      </a:lt1>
      <a:dk2>
        <a:srgbClr val="1F2C28"/>
      </a:dk2>
      <a:lt2>
        <a:srgbClr val="E7E6E6"/>
      </a:lt2>
      <a:accent1>
        <a:srgbClr val="A1D58B"/>
      </a:accent1>
      <a:accent2>
        <a:srgbClr val="5EC795"/>
      </a:accent2>
      <a:accent3>
        <a:srgbClr val="4DADCE"/>
      </a:accent3>
      <a:accent4>
        <a:srgbClr val="CCB756"/>
      </a:accent4>
      <a:accent5>
        <a:srgbClr val="E29B35"/>
      </a:accent5>
      <a:accent6>
        <a:srgbClr val="8DC0C0"/>
      </a:accent6>
      <a:hlink>
        <a:srgbClr val="0563C1"/>
      </a:hlink>
      <a:folHlink>
        <a:srgbClr val="954F72"/>
      </a:folHlink>
    </a:clrScheme>
    <a:fontScheme name="Custom 11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525_Win32_SL_V10" id="{6D1E132C-EE58-410C-AA79-6634C21077D3}" vid="{B34F418C-A6AD-4EA0-82A8-449DB69F48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DFC609-3144-4451-A09C-1FEABE97DD6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94F803-78B0-4743-862C-5C0CA596512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BD5B0D0-2713-4A58-8851-7057612DF0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328</Words>
  <Application>Microsoft Office PowerPoint</Application>
  <PresentationFormat>Widescreen</PresentationFormat>
  <Paragraphs>110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Madison</vt:lpstr>
      <vt:lpstr>Phase 2 (Active Directory - Focused Adversary Emulation). Full Incident Response Playbook - Kerberos Abuse (Detect → Triage → Contain → Remediate → Recover). &amp; One-Page Executive Remediation Report - Kerberos Abuse (stakeholder-ready)</vt:lpstr>
      <vt:lpstr>INCIDENT RESPONSE PLAYBOOK — Kerberos Abuse (AS-REP / Kerberoast / TGS Anomalies)</vt:lpstr>
      <vt:lpstr>QUICK SUMMARY</vt:lpstr>
      <vt:lpstr>DETECTION — KEY SIGNALS  (What to watch).</vt:lpstr>
      <vt:lpstr>Splunk / SPL Example Searches (starter)</vt:lpstr>
      <vt:lpstr>SIGMA RULE (conceptual) — Kerberos TGS surge  Unusual Kerberos TGS Spike for Service Accounts id: 0d8b...-example status: experimental description: Detects unusual surge in Kerberos TGS requests for service accounts (possible Kerberoasting) logsource:   product: windows   service: security detection:   selection:     EventID: 4769   condition: selection | count() by AccountName, ServiceName &gt; 50 within 24h falsepositives:   Legitimate automation or backup jobs performing many service ticket requests. Tune thresholds. level: high</vt:lpstr>
      <vt:lpstr>Triage Checklist (first 30 min)</vt:lpstr>
      <vt:lpstr>CONTAINMENT (short-term)</vt:lpstr>
      <vt:lpstr>Remediation (step-by-step)</vt:lpstr>
      <vt:lpstr>PowerPoint Presentation</vt:lpstr>
      <vt:lpstr>KPIs &amp; SLA targets (recommended) Time-to-detect (TTD): &lt; 10 minutes for high-confidence Kerberos abuse alerts. Time-to-contain (TTC): &lt; 60 minutes for affected host isolation. Time-to-remediate (TTR): Reset credentials &amp; block vectors within 24 hours. False positive target for new rules: &lt; 10% within 7-day tuning window.  Playbook Template (how to save/share) Filename: IR_Playbook_Kerberos_Abuse_v1.0.md Attachments: Evidence checklist, Splunk saved searches (.txt), Sigma rule (.yml), BloodHound export (.json).</vt:lpstr>
      <vt:lpstr>ONE-PAGE EXECUTIVE REMEDIATION REPORT — KERBEROS ABUSE</vt:lpstr>
      <vt:lpstr>Key Findings (summary)</vt:lpstr>
      <vt:lpstr>Recommended Remediation (prioritized)</vt:lpstr>
      <vt:lpstr>Resources &amp; Estimated Effort</vt:lpstr>
      <vt:lpstr>Recommended Acceptance Criteria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490</cp:revision>
  <dcterms:created xsi:type="dcterms:W3CDTF">2025-09-17T03:27:28Z</dcterms:created>
  <dcterms:modified xsi:type="dcterms:W3CDTF">2025-09-17T05:10:33Z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