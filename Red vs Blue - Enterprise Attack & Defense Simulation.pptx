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7" r:id="rId4"/>
  </p:sldMasterIdLst>
  <p:notesMasterIdLst>
    <p:notesMasterId r:id="rId32"/>
  </p:notesMasterIdLst>
  <p:handoutMasterIdLst>
    <p:handoutMasterId r:id="rId33"/>
  </p:handoutMasterIdLst>
  <p:sldIdLst>
    <p:sldId id="289" r:id="rId5"/>
    <p:sldId id="276" r:id="rId6"/>
    <p:sldId id="288" r:id="rId7"/>
    <p:sldId id="283" r:id="rId8"/>
    <p:sldId id="261" r:id="rId9"/>
    <p:sldId id="257" r:id="rId10"/>
    <p:sldId id="264" r:id="rId11"/>
    <p:sldId id="291" r:id="rId12"/>
    <p:sldId id="290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300" r:id="rId21"/>
    <p:sldId id="299" r:id="rId22"/>
    <p:sldId id="301" r:id="rId23"/>
    <p:sldId id="302" r:id="rId24"/>
    <p:sldId id="303" r:id="rId25"/>
    <p:sldId id="304" r:id="rId26"/>
    <p:sldId id="305" r:id="rId27"/>
    <p:sldId id="265" r:id="rId28"/>
    <p:sldId id="266" r:id="rId29"/>
    <p:sldId id="263" r:id="rId30"/>
    <p:sldId id="26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C9F3D-53B9-80A8-2721-132568A6091E}" v="1108" dt="2025-09-17T03:18:19.41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567" y="551186"/>
            <a:ext cx="6728557" cy="3181555"/>
          </a:xfrm>
        </p:spPr>
        <p:txBody>
          <a:bodyPr/>
          <a:lstStyle/>
          <a:p>
            <a:pPr algn="ctr"/>
            <a:r>
              <a:rPr lang="en-US" b="1" i="0" dirty="0">
                <a:latin typeface="Book Antiqua"/>
                <a:ea typeface="Batang"/>
              </a:rPr>
              <a:t>ENTERPRISE </a:t>
            </a:r>
            <a:br>
              <a:rPr lang="en-US" b="1" i="0" dirty="0">
                <a:latin typeface="Book Antiqua"/>
                <a:ea typeface="Batang"/>
              </a:rPr>
            </a:br>
            <a:r>
              <a:rPr lang="en-US" b="1" i="0" dirty="0">
                <a:latin typeface="Book Antiqua"/>
                <a:ea typeface="Batang"/>
              </a:rPr>
              <a:t>ACTIVE DIRECTORY ATTACK AND DEFENSE SIMULATION</a:t>
            </a:r>
            <a:endParaRPr lang="en-US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5160139" y="-6714"/>
            <a:ext cx="6550924" cy="686669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D25CF1-B3C0-DC3B-1BD8-CF0DB0F36878}"/>
              </a:ext>
            </a:extLst>
          </p:cNvPr>
          <p:cNvSpPr txBox="1"/>
          <p:nvPr/>
        </p:nvSpPr>
        <p:spPr>
          <a:xfrm rot="-10800000" flipV="1">
            <a:off x="363681" y="6063155"/>
            <a:ext cx="45366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Bookman Old Style"/>
              </a:rPr>
              <a:t>Author: Bassey Solomon Henry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5126"/>
            <a:ext cx="8953500" cy="728891"/>
          </a:xfrm>
          <a:noFill/>
        </p:spPr>
        <p:txBody>
          <a:bodyPr anchor="b"/>
          <a:lstStyle/>
          <a:p>
            <a:r>
              <a:rPr lang="en-US" i="0" u="sng" dirty="0">
                <a:ea typeface="+mj-lt"/>
                <a:cs typeface="+mj-lt"/>
              </a:rPr>
              <a:t>Executive summary</a:t>
            </a: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786070-7855-FFDC-0BD2-360ACF50BF70}"/>
              </a:ext>
            </a:extLst>
          </p:cNvPr>
          <p:cNvSpPr txBox="1"/>
          <p:nvPr/>
        </p:nvSpPr>
        <p:spPr>
          <a:xfrm>
            <a:off x="813954" y="1532658"/>
            <a:ext cx="1096933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Goal: Simulate adversary TTPs against a realistic corporate AD environment, validate detection, and harden defenses. </a:t>
            </a:r>
          </a:p>
          <a:p>
            <a:r>
              <a:rPr lang="en-US" dirty="0">
                <a:ea typeface="+mn-lt"/>
                <a:cs typeface="+mn-lt"/>
              </a:rPr>
              <a:t>Deliverables: attack runbooks, detection rules (Splunk/Sigma), remediation roadmap, SIEM dashboards, and an executive risk report mapping to NIST CSF &amp; MITRE ATT&amp;CK.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Success metrics (examples):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Detect ≥90% of simulated Kerberos/NTLM abuse in SIEM within 10 minutes.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Reduce modeled AD attack surface by ≥70 after remediation.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False-positive rate for rules &lt;10% when baseline tested against normal activity.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End-to-end exercise completed with full evidence chain (PCAPs, logs,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graphs, reports).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276" y="266832"/>
            <a:ext cx="4943727" cy="6361875"/>
          </a:xfrm>
          <a:noFill/>
        </p:spPr>
        <p:txBody>
          <a:bodyPr anchor="ctr">
            <a:normAutofit/>
          </a:bodyPr>
          <a:lstStyle/>
          <a:p>
            <a:r>
              <a:rPr lang="en-US" sz="2000" b="1" u="sng" dirty="0">
                <a:ea typeface="+mn-lt"/>
                <a:cs typeface="+mn-lt"/>
              </a:rPr>
              <a:t>A Corporate-Grade Enterprise Cybersecurity Lab</a:t>
            </a:r>
          </a:p>
          <a:p>
            <a:r>
              <a:rPr lang="en-US" sz="2000" b="1" dirty="0">
                <a:ea typeface="+mn-lt"/>
                <a:cs typeface="+mn-lt"/>
              </a:rPr>
              <a:t>Simulate real-world enterprise cyberattacks on the AD Lab built in Phase 1, aligned with NIST CSF, MITRE ATT&amp;CK, PCI DSS, CIS Controls, and business impact metrics.</a:t>
            </a:r>
          </a:p>
          <a:p>
            <a:r>
              <a:rPr lang="en-US" sz="2000" b="1" dirty="0">
                <a:ea typeface="+mn-lt"/>
                <a:cs typeface="+mn-lt"/>
              </a:rPr>
              <a:t>This Phase 2 builds on my working AD/DNS/DHCP/File Server lab. Here, I will simulate real-world attack/defense operations to mirror enterprise environments, aligning with global cybersecurity frameworks.</a:t>
            </a:r>
            <a:endParaRPr lang="en-US" sz="2000" b="1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390" y="528320"/>
            <a:ext cx="8916498" cy="930448"/>
          </a:xfrm>
          <a:noFill/>
        </p:spPr>
        <p:txBody>
          <a:bodyPr>
            <a:noAutofit/>
          </a:bodyPr>
          <a:lstStyle/>
          <a:p>
            <a:r>
              <a:rPr lang="en-US" i="0" u="sng" dirty="0">
                <a:ea typeface="+mj-lt"/>
                <a:cs typeface="+mj-lt"/>
              </a:rPr>
              <a:t>Lab Baseline (prechecks)</a:t>
            </a:r>
            <a:endParaRPr lang="en-US" u="s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572" y="1690038"/>
            <a:ext cx="7323224" cy="4440744"/>
          </a:xfrm>
          <a:noFill/>
        </p:spPr>
        <p:txBody>
          <a:bodyPr anchor="t"/>
          <a:lstStyle/>
          <a:p>
            <a:pPr marL="285750" indent="-285750">
              <a:buFont typeface="Arial"/>
              <a:buChar char="•"/>
            </a:pP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Confirm Domain Controller, DNS, DHCP, File Server, and Splunk forwarder are online and collectors working (Sysmon/</a:t>
            </a:r>
            <a:r>
              <a:rPr lang="en-US" sz="2400" b="0" err="1">
                <a:solidFill>
                  <a:schemeClr val="accent1"/>
                </a:solidFill>
                <a:ea typeface="+mn-lt"/>
                <a:cs typeface="+mn-lt"/>
              </a:rPr>
              <a:t>Winevt</a:t>
            </a: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 on Windows hosts).</a:t>
            </a:r>
            <a:endParaRPr lang="en-US" sz="2400">
              <a:solidFill>
                <a:schemeClr val="accent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Verify time sync (NTP/Windows Time) across domain.</a:t>
            </a:r>
            <a:endParaRPr lang="en-US" sz="2400">
              <a:solidFill>
                <a:schemeClr val="accent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Ensure snapshots/backups of DC + clients before each test phase.</a:t>
            </a:r>
            <a:endParaRPr lang="en-US" sz="2400">
              <a:solidFill>
                <a:schemeClr val="accent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Baseline monitoring: capture 48–72 hours of normal logs for thresholding.</a:t>
            </a:r>
            <a:endParaRPr lang="en-US" sz="2400">
              <a:solidFill>
                <a:schemeClr val="accent1"/>
              </a:solidFill>
            </a:endParaRPr>
          </a:p>
          <a:p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Keywords: AD DS, DC, DNS, DHCP, GPO, Sysmon, </a:t>
            </a:r>
            <a:r>
              <a:rPr lang="en-US" sz="2400" b="0" err="1">
                <a:solidFill>
                  <a:schemeClr val="accent1"/>
                </a:solidFill>
                <a:ea typeface="+mn-lt"/>
                <a:cs typeface="+mn-lt"/>
              </a:rPr>
              <a:t>Winlogbeat</a:t>
            </a: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, Splunk, </a:t>
            </a:r>
            <a:r>
              <a:rPr lang="en-US" sz="2400" b="0" err="1">
                <a:solidFill>
                  <a:schemeClr val="accent1"/>
                </a:solidFill>
                <a:ea typeface="+mn-lt"/>
                <a:cs typeface="+mn-lt"/>
              </a:rPr>
              <a:t>BloodHound</a:t>
            </a:r>
            <a:r>
              <a:rPr lang="en-US" sz="2400" b="0" dirty="0">
                <a:solidFill>
                  <a:schemeClr val="accent1"/>
                </a:solidFill>
                <a:ea typeface="+mn-lt"/>
                <a:cs typeface="+mn-lt"/>
              </a:rPr>
              <a:t>, MITRE ATT&amp;CK.</a:t>
            </a:r>
            <a:endParaRPr lang="en-US" sz="24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8348371" y="-2917"/>
            <a:ext cx="3846545" cy="6877743"/>
          </a:xfr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117" y="358376"/>
            <a:ext cx="6930838" cy="830085"/>
          </a:xfrm>
          <a:noFill/>
        </p:spPr>
        <p:txBody>
          <a:bodyPr/>
          <a:lstStyle/>
          <a:p>
            <a:r>
              <a:rPr lang="en-US" i="0" u="sng" dirty="0">
                <a:ea typeface="+mj-lt"/>
                <a:cs typeface="+mj-lt"/>
              </a:rPr>
              <a:t>Preparation &amp; Baseline</a:t>
            </a:r>
            <a:endParaRPr lang="en-US" u="sng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23753" y="1329668"/>
            <a:ext cx="7288066" cy="499040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Objectives: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Document topology, accounts, privileged groups, trust relationships.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Deploy and validate logging (Sysmon on domain controllers, file servers, endpoints). Forward events to Splunk.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Create test accounts (low-privilege user, service accounts) and record baseline behavior.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Deliverables: topology diagram, inventory file, baseline Splunk dashboards, account list.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Tools: Sysmon, </a:t>
            </a:r>
            <a:r>
              <a:rPr lang="en-US" sz="2000" err="1">
                <a:ea typeface="+mn-lt"/>
                <a:cs typeface="+mn-lt"/>
              </a:rPr>
              <a:t>Winlogbeat</a:t>
            </a:r>
            <a:r>
              <a:rPr lang="en-US" sz="2000" dirty="0">
                <a:ea typeface="+mn-lt"/>
                <a:cs typeface="+mn-lt"/>
              </a:rPr>
              <a:t>/Universal Forwarder, Splunk Enterprise, </a:t>
            </a:r>
            <a:r>
              <a:rPr lang="en-US" sz="2000" err="1">
                <a:ea typeface="+mn-lt"/>
                <a:cs typeface="+mn-lt"/>
              </a:rPr>
              <a:t>BloodHound</a:t>
            </a:r>
            <a:r>
              <a:rPr lang="en-US" sz="2000" dirty="0">
                <a:ea typeface="+mn-lt"/>
                <a:cs typeface="+mn-lt"/>
              </a:rPr>
              <a:t> (data collector).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5682" y="668482"/>
            <a:ext cx="9542318" cy="833420"/>
          </a:xfrm>
          <a:noFill/>
        </p:spPr>
        <p:txBody>
          <a:bodyPr/>
          <a:lstStyle/>
          <a:p>
            <a:r>
              <a:rPr lang="en-US" i="0" u="sng" dirty="0">
                <a:ea typeface="+mj-lt"/>
                <a:cs typeface="+mj-lt"/>
              </a:rPr>
              <a:t>Lab Foundation Recap (Phase 1)</a:t>
            </a:r>
            <a:endParaRPr lang="en-US" u="s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45" y="2039164"/>
            <a:ext cx="9386455" cy="3905596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0" dirty="0">
                <a:ea typeface="+mn-lt"/>
                <a:cs typeface="+mn-lt"/>
              </a:rPr>
              <a:t>✅ Central Authentication – Active Directory (</a:t>
            </a:r>
            <a:r>
              <a:rPr lang="en-US" sz="2000" b="0" err="1">
                <a:ea typeface="+mn-lt"/>
                <a:cs typeface="+mn-lt"/>
              </a:rPr>
              <a:t>lab.local</a:t>
            </a:r>
            <a:r>
              <a:rPr lang="en-US" sz="2000" b="0" dirty="0">
                <a:ea typeface="+mn-lt"/>
                <a:cs typeface="+mn-lt"/>
              </a:rPr>
              <a:t>) deployed.</a:t>
            </a:r>
            <a:br>
              <a:rPr lang="en-US" sz="2000" b="0" dirty="0">
                <a:ea typeface="+mn-lt"/>
                <a:cs typeface="+mn-lt"/>
              </a:rPr>
            </a:br>
            <a:r>
              <a:rPr lang="en-US" sz="2000" b="0" dirty="0">
                <a:ea typeface="+mn-lt"/>
                <a:cs typeface="+mn-lt"/>
              </a:rPr>
              <a:t> ✅ Security Enforcement – Group Policies for access control &amp; hardening.</a:t>
            </a:r>
            <a:br>
              <a:rPr lang="en-US" sz="2000" b="0" dirty="0">
                <a:ea typeface="+mn-lt"/>
                <a:cs typeface="+mn-lt"/>
              </a:rPr>
            </a:br>
            <a:r>
              <a:rPr lang="en-US" sz="2000" b="0" dirty="0">
                <a:ea typeface="+mn-lt"/>
                <a:cs typeface="+mn-lt"/>
              </a:rPr>
              <a:t> ✅ Resource Management – File Server roles, NTFS permissions, GPO drive mapping.</a:t>
            </a:r>
            <a:br>
              <a:rPr lang="en-US" sz="2000" b="0" dirty="0">
                <a:ea typeface="+mn-lt"/>
                <a:cs typeface="+mn-lt"/>
              </a:rPr>
            </a:br>
            <a:r>
              <a:rPr lang="en-US" sz="2000" b="0" dirty="0">
                <a:ea typeface="+mn-lt"/>
                <a:cs typeface="+mn-lt"/>
              </a:rPr>
              <a:t> ✅ Network Services – DNS &amp; DHCP working with static + dynamic IP management.</a:t>
            </a:r>
            <a:br>
              <a:rPr lang="en-US" sz="2000" b="0" dirty="0">
                <a:ea typeface="+mn-lt"/>
                <a:cs typeface="+mn-lt"/>
              </a:rPr>
            </a:br>
            <a:r>
              <a:rPr lang="en-US" sz="2000" b="0" dirty="0">
                <a:ea typeface="+mn-lt"/>
                <a:cs typeface="+mn-lt"/>
              </a:rPr>
              <a:t> ✅ Security Monitoring – Splunk SIEM integrated for baseline detection.</a:t>
            </a:r>
            <a:endParaRPr lang="en-US" sz="2000"/>
          </a:p>
          <a:p>
            <a:r>
              <a:rPr lang="en-US" sz="2000" u="sng" dirty="0">
                <a:ea typeface="+mn-lt"/>
                <a:cs typeface="+mn-lt"/>
              </a:rPr>
              <a:t>Speaker Notes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Phase 1 ensured the foundation was resilient — authentication, network services, and visibility. This enables us to stress-test the system in Phase 2 through ethical hacking simulations.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7" y="533401"/>
            <a:ext cx="10295659" cy="758702"/>
          </a:xfrm>
          <a:noFill/>
        </p:spPr>
        <p:txBody>
          <a:bodyPr/>
          <a:lstStyle/>
          <a:p>
            <a:pPr algn="ctr"/>
            <a:r>
              <a:rPr lang="en-US" i="0" u="sng" dirty="0">
                <a:ea typeface="+mj-lt"/>
                <a:cs typeface="+mj-lt"/>
              </a:rPr>
              <a:t>Attack Roadmap (Red team &amp; blue Team)</a:t>
            </a:r>
            <a:endParaRPr lang="en-US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6416" y="1530436"/>
            <a:ext cx="10922686" cy="4638992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🔴 </a:t>
            </a:r>
            <a:r>
              <a:rPr lang="en-US" b="1" dirty="0">
                <a:ea typeface="+mn-lt"/>
                <a:cs typeface="+mn-lt"/>
              </a:rPr>
              <a:t>Reconnaissance:</a:t>
            </a:r>
            <a:r>
              <a:rPr lang="en-US" dirty="0">
                <a:ea typeface="+mn-lt"/>
                <a:cs typeface="+mn-lt"/>
              </a:rPr>
              <a:t> Network scanning, DNS enumeration, LDAP queries.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🔴 </a:t>
            </a:r>
            <a:r>
              <a:rPr lang="en-US" b="1" dirty="0">
                <a:ea typeface="+mn-lt"/>
                <a:cs typeface="+mn-lt"/>
              </a:rPr>
              <a:t>Exploitation:</a:t>
            </a:r>
            <a:r>
              <a:rPr lang="en-US" dirty="0">
                <a:ea typeface="+mn-lt"/>
                <a:cs typeface="+mn-lt"/>
              </a:rPr>
              <a:t> Password spraying, </a:t>
            </a:r>
            <a:r>
              <a:rPr lang="en-US" err="1">
                <a:ea typeface="+mn-lt"/>
                <a:cs typeface="+mn-lt"/>
              </a:rPr>
              <a:t>Kerberoasting</a:t>
            </a:r>
            <a:r>
              <a:rPr lang="en-US" dirty="0">
                <a:ea typeface="+mn-lt"/>
                <a:cs typeface="+mn-lt"/>
              </a:rPr>
              <a:t>, misconfigured shares.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🔴 </a:t>
            </a:r>
            <a:r>
              <a:rPr lang="en-US" b="1" dirty="0">
                <a:ea typeface="+mn-lt"/>
                <a:cs typeface="+mn-lt"/>
              </a:rPr>
              <a:t>Privilege Escalation:</a:t>
            </a:r>
            <a:r>
              <a:rPr lang="en-US" dirty="0">
                <a:ea typeface="+mn-lt"/>
                <a:cs typeface="+mn-lt"/>
              </a:rPr>
              <a:t> Pass-the-Hash, Golden Ticket, Domain Admin takeover.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🔴 </a:t>
            </a:r>
            <a:r>
              <a:rPr lang="en-US" b="1" dirty="0">
                <a:ea typeface="+mn-lt"/>
                <a:cs typeface="+mn-lt"/>
              </a:rPr>
              <a:t>Persistence:</a:t>
            </a:r>
            <a:r>
              <a:rPr lang="en-US" dirty="0">
                <a:ea typeface="+mn-lt"/>
                <a:cs typeface="+mn-lt"/>
              </a:rPr>
              <a:t> Backdoor GPO, rogue admin accounts, scheduled tasks.</a:t>
            </a:r>
            <a:endParaRPr lang="en-US"/>
          </a:p>
          <a:p>
            <a:pPr algn="ctr"/>
            <a:r>
              <a:rPr lang="en-US" b="1" u="sng" dirty="0">
                <a:ea typeface="+mn-lt"/>
                <a:cs typeface="+mn-lt"/>
              </a:rPr>
              <a:t>Speaker Notes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We use real-world adversary tradecraft mapped to MITRE ATT&amp;CK Tactics &amp; Techniques</a:t>
            </a:r>
            <a:r>
              <a:rPr lang="en-US" dirty="0">
                <a:ea typeface="+mn-lt"/>
                <a:cs typeface="+mn-lt"/>
              </a:rPr>
              <a:t>. This is a safe but realistic mirror of APT operations in enterprise networks.</a:t>
            </a:r>
            <a:endParaRPr lang="en-US" dirty="0"/>
          </a:p>
          <a:p>
            <a:pPr algn="ctr"/>
            <a:r>
              <a:rPr lang="en-US" b="1" u="sng" dirty="0"/>
              <a:t>Defense Roadmap (Blue Team)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🔵 </a:t>
            </a:r>
            <a:r>
              <a:rPr lang="en-US" b="1" dirty="0">
                <a:ea typeface="+mn-lt"/>
                <a:cs typeface="+mn-lt"/>
              </a:rPr>
              <a:t>Detection:</a:t>
            </a:r>
            <a:r>
              <a:rPr lang="en-US" dirty="0">
                <a:ea typeface="+mn-lt"/>
                <a:cs typeface="+mn-lt"/>
              </a:rPr>
              <a:t> Splunk SIEM dashboards for logon failures, Kerberos anomalies.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🔵 </a:t>
            </a:r>
            <a:r>
              <a:rPr lang="en-US" b="1" dirty="0">
                <a:ea typeface="+mn-lt"/>
                <a:cs typeface="+mn-lt"/>
              </a:rPr>
              <a:t>Playbooks:</a:t>
            </a:r>
            <a:r>
              <a:rPr lang="en-US" dirty="0">
                <a:ea typeface="+mn-lt"/>
                <a:cs typeface="+mn-lt"/>
              </a:rPr>
              <a:t> Incident response runbooks aligned to </a:t>
            </a:r>
            <a:r>
              <a:rPr lang="en-US" b="1" dirty="0">
                <a:ea typeface="+mn-lt"/>
                <a:cs typeface="+mn-lt"/>
              </a:rPr>
              <a:t>NIST CSF Respond/Recover</a:t>
            </a:r>
            <a:r>
              <a:rPr lang="en-US" dirty="0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🔵 </a:t>
            </a:r>
            <a:r>
              <a:rPr lang="en-US" b="1" dirty="0">
                <a:ea typeface="+mn-lt"/>
                <a:cs typeface="+mn-lt"/>
              </a:rPr>
              <a:t>Containment:</a:t>
            </a:r>
            <a:r>
              <a:rPr lang="en-US" dirty="0">
                <a:ea typeface="+mn-lt"/>
                <a:cs typeface="+mn-lt"/>
              </a:rPr>
              <a:t> Account lockout, disable compromised objects, revoke tickets.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🔵 </a:t>
            </a:r>
            <a:r>
              <a:rPr lang="en-US" b="1" dirty="0">
                <a:ea typeface="+mn-lt"/>
                <a:cs typeface="+mn-lt"/>
              </a:rPr>
              <a:t>Recovery:</a:t>
            </a:r>
            <a:r>
              <a:rPr lang="en-US" dirty="0">
                <a:ea typeface="+mn-lt"/>
                <a:cs typeface="+mn-lt"/>
              </a:rPr>
              <a:t> Restore GPOs, reimage endpoints, rebuild trust relationships.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Speaker Notes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Blue Team simulates SOC/IR roles, detecting attacks in real time and executing response actions. This sharpens both technical and procedural resilience.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80AD-7ADA-86AC-B58F-C21ACC88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91792"/>
            <a:ext cx="9906000" cy="787425"/>
          </a:xfrm>
        </p:spPr>
        <p:txBody>
          <a:bodyPr>
            <a:normAutofit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Reconnaissance (Recon)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EEFD2-EB3B-642F-F4E7-C668D5A1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45" y="1266141"/>
            <a:ext cx="10928194" cy="48235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u="sng" dirty="0">
                <a:ea typeface="+mn-lt"/>
                <a:cs typeface="+mn-lt"/>
              </a:rPr>
              <a:t>Objective</a:t>
            </a:r>
          </a:p>
          <a:p>
            <a:pPr marL="0" indent="0" algn="ctr">
              <a:buNone/>
            </a:pPr>
            <a:r>
              <a:rPr lang="en-US" sz="2000" dirty="0">
                <a:ea typeface="+mn-lt"/>
                <a:cs typeface="+mn-lt"/>
              </a:rPr>
              <a:t>Enumerate AD structure, users, groups, trusts, GPOs, and services — purely discovery.</a:t>
            </a:r>
            <a:endParaRPr lang="en-US" sz="2000"/>
          </a:p>
          <a:p>
            <a:pPr marL="0" indent="0" algn="ctr">
              <a:buNone/>
            </a:pPr>
            <a:r>
              <a:rPr lang="en-US" sz="2000" u="sng" dirty="0">
                <a:ea typeface="+mn-lt"/>
                <a:cs typeface="+mn-lt"/>
              </a:rPr>
              <a:t>Actions (lab-safe commands/tools)</a:t>
            </a:r>
            <a:endParaRPr lang="en-US" sz="2000" u="sng"/>
          </a:p>
          <a:p>
            <a:pPr lvl="1" algn="ctr"/>
            <a:r>
              <a:rPr lang="en-US" dirty="0">
                <a:ea typeface="+mn-lt"/>
                <a:cs typeface="+mn-lt"/>
              </a:rPr>
              <a:t>LDAP/AD enumeration: </a:t>
            </a:r>
            <a:r>
              <a:rPr lang="en-US" err="1">
                <a:latin typeface="Consolas"/>
              </a:rPr>
              <a:t>ldapsearch</a:t>
            </a:r>
            <a:r>
              <a:rPr lang="en-US" dirty="0">
                <a:ea typeface="+mn-lt"/>
                <a:cs typeface="+mn-lt"/>
              </a:rPr>
              <a:t>/PowerView (Get-</a:t>
            </a:r>
            <a:r>
              <a:rPr lang="en-US" err="1">
                <a:ea typeface="+mn-lt"/>
                <a:cs typeface="+mn-lt"/>
              </a:rPr>
              <a:t>NetUser</a:t>
            </a:r>
            <a:r>
              <a:rPr lang="en-US" dirty="0">
                <a:ea typeface="+mn-lt"/>
                <a:cs typeface="+mn-lt"/>
              </a:rPr>
              <a:t>/Get-</a:t>
            </a:r>
            <a:r>
              <a:rPr lang="en-US" err="1">
                <a:ea typeface="+mn-lt"/>
                <a:cs typeface="+mn-lt"/>
              </a:rPr>
              <a:t>NetGroup</a:t>
            </a:r>
            <a:r>
              <a:rPr lang="en-US" dirty="0">
                <a:ea typeface="+mn-lt"/>
                <a:cs typeface="+mn-lt"/>
              </a:rPr>
              <a:t>/Get-</a:t>
            </a:r>
            <a:r>
              <a:rPr lang="en-US" err="1">
                <a:ea typeface="+mn-lt"/>
                <a:cs typeface="+mn-lt"/>
              </a:rPr>
              <a:t>NetComputer</a:t>
            </a:r>
            <a:r>
              <a:rPr lang="en-US" dirty="0">
                <a:ea typeface="+mn-lt"/>
                <a:cs typeface="+mn-lt"/>
              </a:rPr>
              <a:t>/Get-</a:t>
            </a:r>
            <a:r>
              <a:rPr lang="en-US" err="1">
                <a:ea typeface="+mn-lt"/>
                <a:cs typeface="+mn-lt"/>
              </a:rPr>
              <a:t>DomainPolicy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  <a:p>
            <a:pPr lvl="1" algn="ctr"/>
            <a:r>
              <a:rPr lang="en-US" dirty="0">
                <a:ea typeface="+mn-lt"/>
                <a:cs typeface="+mn-lt"/>
              </a:rPr>
              <a:t>DNS discovery: </a:t>
            </a:r>
            <a:r>
              <a:rPr lang="en-US" dirty="0">
                <a:latin typeface="Consolas"/>
              </a:rPr>
              <a:t>dig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nslookup</a:t>
            </a:r>
            <a:r>
              <a:rPr lang="en-US" dirty="0">
                <a:ea typeface="+mn-lt"/>
                <a:cs typeface="+mn-lt"/>
              </a:rPr>
              <a:t> and record zone transfers (intentional </a:t>
            </a:r>
            <a:r>
              <a:rPr lang="en-US" err="1">
                <a:ea typeface="+mn-lt"/>
                <a:cs typeface="+mn-lt"/>
              </a:rPr>
              <a:t>misconfig</a:t>
            </a:r>
            <a:r>
              <a:rPr lang="en-US" dirty="0">
                <a:ea typeface="+mn-lt"/>
                <a:cs typeface="+mn-lt"/>
              </a:rPr>
              <a:t> test).</a:t>
            </a:r>
            <a:endParaRPr lang="en-US"/>
          </a:p>
          <a:p>
            <a:pPr lvl="1" algn="ctr"/>
            <a:r>
              <a:rPr lang="en-US" dirty="0">
                <a:ea typeface="+mn-lt"/>
                <a:cs typeface="+mn-lt"/>
              </a:rPr>
              <a:t>Network discovery: Nmap for internal ports and services.</a:t>
            </a:r>
            <a:endParaRPr lang="en-US"/>
          </a:p>
          <a:p>
            <a:pPr lvl="1" algn="ctr"/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ingestions (</a:t>
            </a:r>
            <a:r>
              <a:rPr lang="en-US" dirty="0" err="1">
                <a:ea typeface="+mn-lt"/>
                <a:cs typeface="+mn-lt"/>
              </a:rPr>
              <a:t>Sharphound</a:t>
            </a:r>
            <a:r>
              <a:rPr lang="en-US" dirty="0">
                <a:ea typeface="+mn-lt"/>
                <a:cs typeface="+mn-lt"/>
              </a:rPr>
              <a:t>) to gather relationships for attack path modeling.</a:t>
            </a:r>
            <a:endParaRPr lang="en-US"/>
          </a:p>
          <a:p>
            <a:pPr marL="0" indent="0" algn="ctr">
              <a:buNone/>
            </a:pPr>
            <a:r>
              <a:rPr lang="en-US" sz="2000" u="sng" dirty="0">
                <a:ea typeface="+mn-lt"/>
                <a:cs typeface="+mn-lt"/>
              </a:rPr>
              <a:t>Output</a:t>
            </a:r>
          </a:p>
          <a:p>
            <a:pPr algn="ctr"/>
            <a:r>
              <a:rPr lang="en-US" sz="2000" err="1">
                <a:ea typeface="+mn-lt"/>
                <a:cs typeface="+mn-lt"/>
              </a:rPr>
              <a:t>BloodHound</a:t>
            </a:r>
            <a:r>
              <a:rPr lang="en-US" sz="2000" dirty="0">
                <a:ea typeface="+mn-lt"/>
                <a:cs typeface="+mn-lt"/>
              </a:rPr>
              <a:t> graphs, list of privileged accounts, GPOs with risky settings, weak SPN/service accounts.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MITRE mapping: Reconnaissance (T1087, T1592).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Success metric: Complete topology &amp; privilege graph with ≤2% blind spots vs. known lab inventory.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911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AF69-A5B2-86BC-C5DE-36D762B1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533401"/>
            <a:ext cx="10110439" cy="796717"/>
          </a:xfrm>
        </p:spPr>
        <p:txBody>
          <a:bodyPr/>
          <a:lstStyle/>
          <a:p>
            <a:r>
              <a:rPr lang="en-US" i="0" u="sng" dirty="0">
                <a:ea typeface="+mj-lt"/>
                <a:cs typeface="+mj-lt"/>
              </a:rPr>
              <a:t>Reconnaissance &amp; Initial Access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6EC93-9BFB-476E-6522-D4DF00419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122" y="1572798"/>
            <a:ext cx="10816682" cy="4461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🔹 </a:t>
            </a:r>
            <a:r>
              <a:rPr lang="en-US" b="1" dirty="0">
                <a:ea typeface="+mn-lt"/>
                <a:cs typeface="+mn-lt"/>
              </a:rPr>
              <a:t>Goal</a:t>
            </a:r>
            <a:r>
              <a:rPr lang="en-US" dirty="0">
                <a:ea typeface="+mn-lt"/>
                <a:cs typeface="+mn-lt"/>
              </a:rPr>
              <a:t>: Simulate external + insider reconnaissance.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 dirty="0">
                <a:ea typeface="+mn-lt"/>
                <a:cs typeface="+mn-lt"/>
              </a:rPr>
              <a:t>: OSINT, Enumeration, Attack Surface, MITRE T1595, Passive Recon, Active Recon.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Map network services (</a:t>
            </a:r>
            <a:r>
              <a:rPr lang="en-US" err="1">
                <a:latin typeface="Consolas"/>
              </a:rPr>
              <a:t>nmap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netdiscover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ingestors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Enumerate AD structure (LDAP queries, </a:t>
            </a:r>
            <a:r>
              <a:rPr lang="en-US" err="1">
                <a:ea typeface="+mn-lt"/>
                <a:cs typeface="+mn-lt"/>
              </a:rPr>
              <a:t>Kerbrute</a:t>
            </a:r>
            <a:r>
              <a:rPr lang="en-US" dirty="0">
                <a:ea typeface="+mn-lt"/>
                <a:cs typeface="+mn-lt"/>
              </a:rPr>
              <a:t> for user enumeration).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Capture misconfigurations (SMB shares, GPO exposure, DNS zone transfers).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Simulate phishing (payload delivery → user click).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✅ </a:t>
            </a:r>
            <a:r>
              <a:rPr lang="en-US" b="1" dirty="0">
                <a:ea typeface="+mn-lt"/>
                <a:cs typeface="+mn-lt"/>
              </a:rPr>
              <a:t>Blue Team Detection</a:t>
            </a:r>
            <a:r>
              <a:rPr lang="en-US" dirty="0">
                <a:ea typeface="+mn-lt"/>
                <a:cs typeface="+mn-lt"/>
              </a:rPr>
              <a:t>: Splunk alert on abnormal LDAP queries, unusual SMB enumeration.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99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7A76-5BA4-AA77-9CA9-81ADB752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37" y="325583"/>
            <a:ext cx="10252363" cy="1373496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Initial Exploitation &amp; Persistence (Exploitation → Persistence)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B7A5B-7E44-4C92-974B-2581F91BA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137" y="1689168"/>
            <a:ext cx="10997044" cy="432749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Objective: Validate entry vectors and establish persistence mechanisms that mirror real attackers.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Focus areas (select one at a time, snapshot before)</a:t>
            </a:r>
            <a:endParaRPr lang="en-US" u="sng" dirty="0"/>
          </a:p>
          <a:p>
            <a:pPr lvl="1" algn="ctr"/>
            <a:r>
              <a:rPr lang="en-US" b="1">
                <a:ea typeface="+mn-lt"/>
                <a:cs typeface="+mn-lt"/>
              </a:rPr>
              <a:t>Kerberos attacks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Kerberoasting</a:t>
            </a:r>
            <a:r>
              <a:rPr lang="en-US">
                <a:ea typeface="+mn-lt"/>
                <a:cs typeface="+mn-lt"/>
              </a:rPr>
              <a:t> / AS-REP roasting) — find service accounts with weak RC4 or service principal names (SPNs).</a:t>
            </a:r>
            <a:endParaRPr lang="en-US"/>
          </a:p>
          <a:p>
            <a:pPr lvl="1" algn="ctr"/>
            <a:r>
              <a:rPr lang="en-US" b="1" dirty="0">
                <a:ea typeface="+mn-lt"/>
                <a:cs typeface="+mn-lt"/>
              </a:rPr>
              <a:t>NTLM / Pass-the-Hash (</a:t>
            </a:r>
            <a:r>
              <a:rPr lang="en-US" b="1" dirty="0" err="1">
                <a:ea typeface="+mn-lt"/>
                <a:cs typeface="+mn-lt"/>
              </a:rPr>
              <a:t>PtH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— simulate credential replay on legacy services.</a:t>
            </a:r>
            <a:endParaRPr lang="en-US" dirty="0"/>
          </a:p>
          <a:p>
            <a:pPr lvl="1" algn="ctr"/>
            <a:r>
              <a:rPr lang="en-US" b="1" dirty="0">
                <a:ea typeface="+mn-lt"/>
                <a:cs typeface="+mn-lt"/>
              </a:rPr>
              <a:t>GPO </a:t>
            </a:r>
            <a:r>
              <a:rPr lang="en-US" b="1" dirty="0" err="1">
                <a:ea typeface="+mn-lt"/>
                <a:cs typeface="+mn-lt"/>
              </a:rPr>
              <a:t>Misconfig</a:t>
            </a:r>
            <a:r>
              <a:rPr lang="en-US" b="1" dirty="0">
                <a:ea typeface="+mn-lt"/>
                <a:cs typeface="+mn-lt"/>
              </a:rPr>
              <a:t> exploitation</a:t>
            </a:r>
            <a:r>
              <a:rPr lang="en-US" dirty="0">
                <a:ea typeface="+mn-lt"/>
                <a:cs typeface="+mn-lt"/>
              </a:rPr>
              <a:t> — use intentionally weak / writable GPO scripts or scheduled tasks.</a:t>
            </a:r>
            <a:endParaRPr lang="en-US" dirty="0"/>
          </a:p>
          <a:p>
            <a:pPr lvl="1" algn="ctr"/>
            <a:r>
              <a:rPr lang="en-US" b="1" dirty="0">
                <a:ea typeface="+mn-lt"/>
                <a:cs typeface="+mn-lt"/>
              </a:rPr>
              <a:t>SMB/Share abuse</a:t>
            </a:r>
            <a:r>
              <a:rPr lang="en-US" dirty="0">
                <a:ea typeface="+mn-lt"/>
                <a:cs typeface="+mn-lt"/>
              </a:rPr>
              <a:t> — exploit misconfigured file servers (service </a:t>
            </a:r>
            <a:r>
              <a:rPr lang="en-US" dirty="0" err="1">
                <a:ea typeface="+mn-lt"/>
                <a:cs typeface="+mn-lt"/>
              </a:rPr>
              <a:t>mispermissions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Tools (lab-only)</a:t>
            </a:r>
            <a:endParaRPr lang="en-US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Rubeus (Kerberos tooling), </a:t>
            </a:r>
            <a:r>
              <a:rPr lang="en-US" dirty="0" err="1">
                <a:ea typeface="+mn-lt"/>
                <a:cs typeface="+mn-lt"/>
              </a:rPr>
              <a:t>Impacket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wmiexec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smbrelay</a:t>
            </a:r>
            <a:r>
              <a:rPr lang="en-US" dirty="0">
                <a:ea typeface="+mn-lt"/>
                <a:cs typeface="+mn-lt"/>
              </a:rPr>
              <a:t>), </a:t>
            </a:r>
            <a:r>
              <a:rPr lang="en-US" dirty="0" err="1">
                <a:ea typeface="+mn-lt"/>
                <a:cs typeface="+mn-lt"/>
              </a:rPr>
              <a:t>Mimikatz</a:t>
            </a:r>
            <a:r>
              <a:rPr lang="en-US" dirty="0">
                <a:ea typeface="+mn-lt"/>
                <a:cs typeface="+mn-lt"/>
              </a:rPr>
              <a:t> (credential harvesting; in lab only), PowerView,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Persistence vectors to test (lab): scheduled tasks, service creation, GPO startup/script, registry run keys.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MITRE mapping: T1558 (Steal/Forge Kerberos Tickets), T1075 (Pass the Hash), T1053 (Scheduled Task).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Success metric: Achieve and document at least one stable domain foothold (persistence) from low-privilege user → service account compromise. Measure time-to-persist.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2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1733-C548-D4A6-4F9D-4927CB5E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89430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Exploitation of Weaknesses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CC10-FC73-7E3B-63DF-E19017B39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37" y="1386100"/>
            <a:ext cx="10875817" cy="4959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Goal</a:t>
            </a:r>
            <a:r>
              <a:rPr lang="en-US" dirty="0">
                <a:ea typeface="+mn-lt"/>
                <a:cs typeface="+mn-lt"/>
              </a:rPr>
              <a:t>: Gain foothold through </a:t>
            </a:r>
            <a:r>
              <a:rPr lang="en-US" b="1" dirty="0">
                <a:ea typeface="+mn-lt"/>
                <a:cs typeface="+mn-lt"/>
              </a:rPr>
              <a:t>intentional </a:t>
            </a:r>
            <a:r>
              <a:rPr lang="en-US" b="1" dirty="0" err="1">
                <a:ea typeface="+mn-lt"/>
                <a:cs typeface="+mn-lt"/>
              </a:rPr>
              <a:t>misconfigs</a:t>
            </a:r>
            <a:r>
              <a:rPr lang="en-US" dirty="0">
                <a:ea typeface="+mn-lt"/>
                <a:cs typeface="+mn-lt"/>
              </a:rPr>
              <a:t> left in Phase 1.</a:t>
            </a:r>
            <a:br>
              <a:rPr lang="en-US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 dirty="0">
                <a:ea typeface="+mn-lt"/>
                <a:cs typeface="+mn-lt"/>
              </a:rPr>
              <a:t>: Exploit Development, Credential Theft, MITRE T1078, SMB Relay, </a:t>
            </a:r>
            <a:r>
              <a:rPr lang="en-US" dirty="0" err="1">
                <a:ea typeface="+mn-lt"/>
                <a:cs typeface="+mn-lt"/>
              </a:rPr>
              <a:t>Kerberoasting</a:t>
            </a:r>
            <a:r>
              <a:rPr lang="en-US" dirty="0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Exploit </a:t>
            </a:r>
            <a:r>
              <a:rPr lang="en-US" b="1" dirty="0">
                <a:ea typeface="+mn-lt"/>
                <a:cs typeface="+mn-lt"/>
              </a:rPr>
              <a:t>Local Admin with blank password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Test </a:t>
            </a:r>
            <a:r>
              <a:rPr lang="en-US" b="1" dirty="0">
                <a:ea typeface="+mn-lt"/>
                <a:cs typeface="+mn-lt"/>
              </a:rPr>
              <a:t>SMB guest logon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RDP </a:t>
            </a:r>
            <a:r>
              <a:rPr lang="en-US" b="1" err="1">
                <a:ea typeface="+mn-lt"/>
                <a:cs typeface="+mn-lt"/>
              </a:rPr>
              <a:t>misconfig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Conduct </a:t>
            </a:r>
            <a:r>
              <a:rPr lang="en-US" b="1" err="1">
                <a:ea typeface="+mn-lt"/>
                <a:cs typeface="+mn-lt"/>
              </a:rPr>
              <a:t>Kerberoasting</a:t>
            </a:r>
            <a:r>
              <a:rPr lang="en-US" dirty="0">
                <a:ea typeface="+mn-lt"/>
                <a:cs typeface="+mn-lt"/>
              </a:rPr>
              <a:t> to crack weak service account passwords.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Capture cleartext creds via </a:t>
            </a:r>
            <a:r>
              <a:rPr lang="en-US" b="1" dirty="0">
                <a:ea typeface="+mn-lt"/>
                <a:cs typeface="+mn-lt"/>
              </a:rPr>
              <a:t>Responder/LLMNR/NBT-NS Poisoning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Blue Team Detection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Splunk correlation for failed logons + password spraying.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Detection of unusual Kerberos ticket requests.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76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FDBE-8096-33F3-F9E4-4938C701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59547"/>
          </a:xfrm>
        </p:spPr>
        <p:txBody>
          <a:bodyPr/>
          <a:lstStyle/>
          <a:p>
            <a:pPr algn="ctr"/>
            <a:r>
              <a:rPr lang="en-US" i="0" u="sng" dirty="0">
                <a:ea typeface="+mj-lt"/>
                <a:cs typeface="+mj-lt"/>
              </a:rPr>
              <a:t>Lateral Movement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547E-7E71-0F1D-0E61-521BC28D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122" y="1303311"/>
            <a:ext cx="10872438" cy="500015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Objective: Move from compromised account to domain admin-level access using realistic attack chains.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lvl="1" algn="ctr"/>
            <a:r>
              <a:rPr lang="en-US" dirty="0">
                <a:ea typeface="+mn-lt"/>
                <a:cs typeface="+mn-lt"/>
              </a:rPr>
              <a:t>Model and iterate on attack paths with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to find shortest privilege escalation chains.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Exploit misconfigurations identified earlier (unconstrained delegation, weak SPNs, NTLM relay opportunity).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Simulate lateral movement using remote execution (</a:t>
            </a:r>
            <a:r>
              <a:rPr lang="en-US" err="1">
                <a:ea typeface="+mn-lt"/>
                <a:cs typeface="+mn-lt"/>
              </a:rPr>
              <a:t>PSExec</a:t>
            </a:r>
            <a:r>
              <a:rPr lang="en-US" dirty="0">
                <a:ea typeface="+mn-lt"/>
                <a:cs typeface="+mn-lt"/>
              </a:rPr>
              <a:t>/WMI/</a:t>
            </a:r>
            <a:r>
              <a:rPr lang="en-US" err="1">
                <a:ea typeface="+mn-lt"/>
                <a:cs typeface="+mn-lt"/>
              </a:rPr>
              <a:t>WinRM</a:t>
            </a:r>
            <a:r>
              <a:rPr lang="en-US" dirty="0">
                <a:ea typeface="+mn-lt"/>
                <a:cs typeface="+mn-lt"/>
              </a:rPr>
              <a:t> in-your-lab).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Tools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, PowerShell Empire (lab-only), </a:t>
            </a:r>
            <a:r>
              <a:rPr lang="en-US" err="1">
                <a:ea typeface="+mn-lt"/>
                <a:cs typeface="+mn-lt"/>
              </a:rPr>
              <a:t>Impacket</a:t>
            </a:r>
            <a:r>
              <a:rPr lang="en-US" dirty="0">
                <a:ea typeface="+mn-lt"/>
                <a:cs typeface="+mn-lt"/>
              </a:rPr>
              <a:t>, Wireshark for traffic capture.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MITRE mapping: Lateral Movement (T1021), Privilege Escalation (T1068).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Measurement: Number of steps to Domain Admin; time to escalate; number of distinct detection alerts triggered.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Success metric: Demonstrate escalation path and show remediation steps that reduce paths by ≥65%.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2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3288-1419-534C-0CF5-B3574A65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12597"/>
            <a:ext cx="9906000" cy="880351"/>
          </a:xfrm>
        </p:spPr>
        <p:txBody>
          <a:bodyPr/>
          <a:lstStyle/>
          <a:p>
            <a:pPr algn="ctr"/>
            <a:r>
              <a:rPr lang="en-US" i="0" u="sng" dirty="0">
                <a:ea typeface="+mj-lt"/>
                <a:cs typeface="+mj-lt"/>
              </a:rPr>
              <a:t>Privilege Escalation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2272-22E6-F9FF-1294-678BCC9DB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44" y="1424115"/>
            <a:ext cx="10881731" cy="46656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Goal</a:t>
            </a:r>
            <a:r>
              <a:rPr lang="en-US" dirty="0">
                <a:ea typeface="+mn-lt"/>
                <a:cs typeface="+mn-lt"/>
              </a:rPr>
              <a:t>: Escalate to Domain Admin.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 dirty="0">
                <a:ea typeface="+mn-lt"/>
                <a:cs typeface="+mn-lt"/>
              </a:rPr>
              <a:t>: Lateral Movement, Pass-the-Hash, Token Impersonation, MITRE T1068, Credential Dumping.</a:t>
            </a:r>
            <a:br>
              <a:rPr lang="en-US" dirty="0">
                <a:ea typeface="+mn-lt"/>
                <a:cs typeface="+mn-lt"/>
              </a:rPr>
            </a:br>
            <a:r>
              <a:rPr lang="en-US" b="1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Dump creds using </a:t>
            </a:r>
            <a:r>
              <a:rPr lang="en-US" b="1" dirty="0" err="1">
                <a:ea typeface="+mn-lt"/>
                <a:cs typeface="+mn-lt"/>
              </a:rPr>
              <a:t>Mimikatz</a:t>
            </a:r>
            <a:r>
              <a:rPr lang="en-US" dirty="0">
                <a:ea typeface="+mn-lt"/>
                <a:cs typeface="+mn-lt"/>
              </a:rPr>
              <a:t> from Win10 client.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Pass-the-Hash</a:t>
            </a:r>
            <a:r>
              <a:rPr lang="en-US" dirty="0">
                <a:ea typeface="+mn-lt"/>
                <a:cs typeface="+mn-lt"/>
              </a:rPr>
              <a:t> attack against </a:t>
            </a:r>
            <a:r>
              <a:rPr lang="en-US" err="1">
                <a:ea typeface="+mn-lt"/>
                <a:cs typeface="+mn-lt"/>
              </a:rPr>
              <a:t>FileServer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Abuse </a:t>
            </a:r>
            <a:r>
              <a:rPr lang="en-US" b="1" dirty="0">
                <a:ea typeface="+mn-lt"/>
                <a:cs typeface="+mn-lt"/>
              </a:rPr>
              <a:t>GPO delegation </a:t>
            </a:r>
            <a:r>
              <a:rPr lang="en-US" b="1" dirty="0" err="1">
                <a:ea typeface="+mn-lt"/>
                <a:cs typeface="+mn-lt"/>
              </a:rPr>
              <a:t>misconfigs</a:t>
            </a:r>
            <a:r>
              <a:rPr lang="en-US" dirty="0">
                <a:ea typeface="+mn-lt"/>
                <a:cs typeface="+mn-lt"/>
              </a:rPr>
              <a:t> to push malicious startup scripts.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Escalate via </a:t>
            </a:r>
            <a:r>
              <a:rPr lang="en-US" b="1" dirty="0" err="1">
                <a:ea typeface="+mn-lt"/>
                <a:cs typeface="+mn-lt"/>
              </a:rPr>
              <a:t>DCShadow</a:t>
            </a:r>
            <a:r>
              <a:rPr lang="en-US" b="1" dirty="0">
                <a:ea typeface="+mn-lt"/>
                <a:cs typeface="+mn-lt"/>
              </a:rPr>
              <a:t>/</a:t>
            </a:r>
            <a:r>
              <a:rPr lang="en-US" b="1" dirty="0" err="1">
                <a:ea typeface="+mn-lt"/>
                <a:cs typeface="+mn-lt"/>
              </a:rPr>
              <a:t>DCsync</a:t>
            </a:r>
            <a:r>
              <a:rPr lang="en-US" dirty="0">
                <a:ea typeface="+mn-lt"/>
                <a:cs typeface="+mn-lt"/>
              </a:rPr>
              <a:t> attacks.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Blue Team Detection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Splunk monitoring for LSASS memory access.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Detect unauthorized GPO changes.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237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5F4F-CD7D-506B-EDB1-FA439E22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24066"/>
          </a:xfrm>
        </p:spPr>
        <p:txBody>
          <a:bodyPr/>
          <a:lstStyle/>
          <a:p>
            <a:pPr algn="ctr"/>
            <a:r>
              <a:rPr lang="en-US" i="0" u="sng" dirty="0"/>
              <a:t>persistence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63671-758D-C6F4-CAEB-61CBEAC61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91" y="1455373"/>
            <a:ext cx="11170227" cy="46478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Goal</a:t>
            </a:r>
            <a:r>
              <a:rPr lang="en-US" dirty="0">
                <a:ea typeface="+mn-lt"/>
                <a:cs typeface="+mn-lt"/>
              </a:rPr>
              <a:t>: Maintain stealthy access.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 dirty="0">
                <a:ea typeface="+mn-lt"/>
                <a:cs typeface="+mn-lt"/>
              </a:rPr>
              <a:t>: Golden Ticket, Silver Ticket, Scheduled Tasks, Backdoors.</a:t>
            </a:r>
            <a:br>
              <a:rPr lang="en-US" dirty="0">
                <a:ea typeface="+mn-lt"/>
                <a:cs typeface="+mn-lt"/>
              </a:rPr>
            </a:br>
            <a:r>
              <a:rPr lang="en-US" b="1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Create a </a:t>
            </a:r>
            <a:r>
              <a:rPr lang="en-US" b="1" dirty="0">
                <a:ea typeface="+mn-lt"/>
                <a:cs typeface="+mn-lt"/>
              </a:rPr>
              <a:t>Golden Ticket</a:t>
            </a:r>
            <a:r>
              <a:rPr lang="en-US" dirty="0">
                <a:ea typeface="+mn-lt"/>
                <a:cs typeface="+mn-lt"/>
              </a:rPr>
              <a:t> (KRBTGT hash abuse).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Establish persistence with </a:t>
            </a:r>
            <a:r>
              <a:rPr lang="en-US" b="1" dirty="0">
                <a:ea typeface="+mn-lt"/>
                <a:cs typeface="+mn-lt"/>
              </a:rPr>
              <a:t>WMI event subscriptions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Move laterally via </a:t>
            </a:r>
            <a:r>
              <a:rPr lang="en-US" b="1" dirty="0">
                <a:ea typeface="+mn-lt"/>
                <a:cs typeface="+mn-lt"/>
              </a:rPr>
              <a:t>SMB + Remote WMI/</a:t>
            </a:r>
            <a:r>
              <a:rPr lang="en-US" b="1" err="1">
                <a:ea typeface="+mn-lt"/>
                <a:cs typeface="+mn-lt"/>
              </a:rPr>
              <a:t>PSExec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Blue Team Detection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Alert on abnormal Kerberos TGT lifetime.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Detection of lateral movement attempts.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19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651A-BC05-DBEF-2E01-D797A105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19" y="412174"/>
            <a:ext cx="10269681" cy="1312882"/>
          </a:xfrm>
        </p:spPr>
        <p:txBody>
          <a:bodyPr/>
          <a:lstStyle/>
          <a:p>
            <a:pPr algn="ctr"/>
            <a:r>
              <a:rPr lang="en-US" i="0" u="sng" dirty="0">
                <a:ea typeface="+mj-lt"/>
                <a:cs typeface="+mj-lt"/>
              </a:rPr>
              <a:t>C2, Data Exfil, &amp; Cleanup (Advanced simulation)</a:t>
            </a:r>
            <a:endParaRPr lang="en-US" u="sng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D4FA2-F8DA-CBCC-0587-C0E891634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Objective: Simulate command-and-control and data exfiltration channels, then clear traces in a controlled way to observe detection gaps.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Use secure tunneling (e.g., </a:t>
            </a:r>
            <a:r>
              <a:rPr lang="en-US" dirty="0" err="1">
                <a:ea typeface="+mn-lt"/>
                <a:cs typeface="+mn-lt"/>
              </a:rPr>
              <a:t>cloudflared</a:t>
            </a:r>
            <a:r>
              <a:rPr lang="en-US" dirty="0">
                <a:ea typeface="+mn-lt"/>
                <a:cs typeface="+mn-lt"/>
              </a:rPr>
              <a:t> in controlled lab) to emulate C2 outbound traffic patterns.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Exfiltrate a non-sensitive artifact to measure detection latency and SIEM correlation effectiveness.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Capture PCAPs with Wireshark and correlate with Splunk logs.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Tools</a:t>
            </a:r>
          </a:p>
          <a:p>
            <a:pPr algn="ctr"/>
            <a:r>
              <a:rPr lang="en-US" err="1">
                <a:ea typeface="+mn-lt"/>
                <a:cs typeface="+mn-lt"/>
              </a:rPr>
              <a:t>cloudflared</a:t>
            </a:r>
            <a:r>
              <a:rPr lang="en-US" dirty="0">
                <a:ea typeface="+mn-lt"/>
                <a:cs typeface="+mn-lt"/>
              </a:rPr>
              <a:t> (for tunnel), Zeek (optional), Wireshark, Splunk raw logs.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MITRE mapping: Exfiltration (T1041), Command and Control (T1071).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Success metric: Detect C2-like behavior via egress monitoring or Splunk correlation within defined SLA (e.g., 15 min).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9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3A34-0A01-987F-B2E0-12E18AC8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57" y="533401"/>
            <a:ext cx="10556486" cy="815302"/>
          </a:xfrm>
        </p:spPr>
        <p:txBody>
          <a:bodyPr/>
          <a:lstStyle/>
          <a:p>
            <a:pPr algn="ctr"/>
            <a:r>
              <a:rPr lang="en-US" i="0" u="sng" dirty="0">
                <a:ea typeface="+mj-lt"/>
                <a:cs typeface="+mj-lt"/>
              </a:rPr>
              <a:t>Exfiltration &amp; Impact Simulation</a:t>
            </a:r>
            <a:endParaRPr lang="en-US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B16DB-AB97-8B3A-2897-4D5780336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220" y="1386944"/>
            <a:ext cx="10184780" cy="49258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Goal</a:t>
            </a:r>
            <a:r>
              <a:rPr lang="en-US" dirty="0">
                <a:ea typeface="+mn-lt"/>
                <a:cs typeface="+mn-lt"/>
              </a:rPr>
              <a:t>: Demonstrate business impact.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>
                <a:ea typeface="+mn-lt"/>
                <a:cs typeface="+mn-lt"/>
              </a:rPr>
              <a:t>: Data Exfiltration, Ransomware Simulation, MITRE T1486, Insider Threat.</a:t>
            </a:r>
            <a:br>
              <a:rPr lang="en-US" dirty="0">
                <a:ea typeface="+mn-lt"/>
                <a:cs typeface="+mn-lt"/>
              </a:rPr>
            </a:br>
            <a:r>
              <a:rPr lang="en-US" b="1" u="sng">
                <a:ea typeface="+mn-lt"/>
                <a:cs typeface="+mn-lt"/>
              </a:rPr>
              <a:t>Activities</a:t>
            </a:r>
            <a:endParaRPr lang="en-US" u="sng"/>
          </a:p>
          <a:p>
            <a:pPr algn="ctr"/>
            <a:r>
              <a:rPr lang="en-US" dirty="0">
                <a:ea typeface="+mn-lt"/>
                <a:cs typeface="+mn-lt"/>
              </a:rPr>
              <a:t>Exfil sensitive data from File Server (</a:t>
            </a:r>
            <a:r>
              <a:rPr lang="en-US" err="1">
                <a:latin typeface="Consolas"/>
              </a:rPr>
              <a:t>SharedData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Simulate ransomware encryption (safe controlled environment).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Trigger Splunk dashboards to show </a:t>
            </a:r>
            <a:r>
              <a:rPr lang="en-US" b="1" dirty="0">
                <a:ea typeface="+mn-lt"/>
                <a:cs typeface="+mn-lt"/>
              </a:rPr>
              <a:t>data theft + encryption patterns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Blue Team Response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Incident response playbook: isolate compromised host, reset KRBTGT.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Splunk dashboard reporting: attack timeline, impacted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96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EFA9-3544-0021-264F-5F84B103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6743"/>
            <a:ext cx="9906000" cy="1094083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The toughest AD/GPO/DNS Challenge (lab centerpiece)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064F-D33F-96BB-EB03-73242AD0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06" y="1489164"/>
            <a:ext cx="11169803" cy="498157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Enterprise-grade challenge</a:t>
            </a:r>
            <a:r>
              <a:rPr lang="en-US" dirty="0">
                <a:ea typeface="+mn-lt"/>
                <a:cs typeface="+mn-lt"/>
              </a:rPr>
              <a:t> (design as a CAPSTONE exercise)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Scenario:</a:t>
            </a:r>
            <a:r>
              <a:rPr lang="en-US" u="sng" dirty="0">
                <a:ea typeface="+mn-lt"/>
                <a:cs typeface="+mn-lt"/>
              </a:rPr>
              <a:t> A corporate environment with chained misconfigurations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A legacy service account (with SPN) uses weak encryption on a file server.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A writable GPO script exists on an OU with linked child OUs.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A DNS delegation exists between internal domains with incomplete ACLs.</a:t>
            </a:r>
            <a:endParaRPr lang="en-US" dirty="0"/>
          </a:p>
          <a:p>
            <a:pPr marL="0" indent="0" algn="ctr">
              <a:buNone/>
            </a:pPr>
            <a:r>
              <a:rPr lang="en-US" u="sng">
                <a:ea typeface="+mn-lt"/>
                <a:cs typeface="+mn-lt"/>
              </a:rPr>
              <a:t>Goal</a:t>
            </a:r>
            <a:endParaRPr lang="en-US" u="sng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From a standard domain user, escalate to Domain Admin via </a:t>
            </a:r>
            <a:r>
              <a:rPr lang="en-US" dirty="0" err="1">
                <a:ea typeface="+mn-lt"/>
                <a:cs typeface="+mn-lt"/>
              </a:rPr>
              <a:t>Kerberoast</a:t>
            </a:r>
            <a:r>
              <a:rPr lang="en-US" dirty="0">
                <a:ea typeface="+mn-lt"/>
                <a:cs typeface="+mn-lt"/>
              </a:rPr>
              <a:t> → GPO abuse → cross-domain trust exploitation while leaving minimal noisy artifacts.</a:t>
            </a:r>
            <a:endParaRPr lang="en-US"/>
          </a:p>
          <a:p>
            <a:pPr algn="ctr"/>
            <a:r>
              <a:rPr lang="en-US" b="1" dirty="0">
                <a:ea typeface="+mn-lt"/>
                <a:cs typeface="+mn-lt"/>
              </a:rPr>
              <a:t>Why it’s hard:</a:t>
            </a:r>
            <a:r>
              <a:rPr lang="en-US" dirty="0">
                <a:ea typeface="+mn-lt"/>
                <a:cs typeface="+mn-lt"/>
              </a:rPr>
              <a:t> Requires multi-stage chaining (Kerberos/AD + GPO + DNS trusts), forces Blue Team to correlate cross-domain traces and DNS anomalies. Mirrors real enterprise breaches.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Outcome to validate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Identify root cause chain with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Build detections for each stage (Kerberos anomalies, GPO modification audit, cross-domain DNS delegation changes).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Remediation plan: rotate service account creds, restrict GPO write permissions, tighten DNS delegation ACLs, enforce </a:t>
            </a:r>
            <a:r>
              <a:rPr lang="en-US" err="1">
                <a:ea typeface="+mn-lt"/>
                <a:cs typeface="+mn-lt"/>
              </a:rPr>
              <a:t>kerberos</a:t>
            </a:r>
            <a:r>
              <a:rPr lang="en-US" dirty="0">
                <a:ea typeface="+mn-lt"/>
                <a:cs typeface="+mn-lt"/>
              </a:rPr>
              <a:t> pre-auth and AES-only SPNs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68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9EB0-BC41-C95B-D802-A4DDCF45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341" y="221674"/>
            <a:ext cx="9906000" cy="1157020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Blue Team Detection, Playbooks &amp; Reporting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7658-7105-2018-B495-354DF9B25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046" y="1377441"/>
            <a:ext cx="11031681" cy="500290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Objective: Build repeatable detections, playbooks, and remediation guidance so SOC can respond consistently.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Deliverables</a:t>
            </a:r>
            <a:endParaRPr lang="en-US" u="sng" dirty="0"/>
          </a:p>
          <a:p>
            <a:pPr algn="ctr"/>
            <a:r>
              <a:rPr lang="en-US" b="1" dirty="0">
                <a:ea typeface="+mn-lt"/>
                <a:cs typeface="+mn-lt"/>
              </a:rPr>
              <a:t>Splunk detections &amp; dashboards</a:t>
            </a:r>
            <a:r>
              <a:rPr lang="en-US" dirty="0">
                <a:ea typeface="+mn-lt"/>
                <a:cs typeface="+mn-lt"/>
              </a:rPr>
              <a:t>: Kerberos anomalies (unusual AS-REP/Service Ticket requests), NTLM relay patterns, abnormal GPO changes, new scheduled tasks.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Sigma rules</a:t>
            </a:r>
            <a:r>
              <a:rPr lang="en-US" dirty="0">
                <a:ea typeface="+mn-lt"/>
                <a:cs typeface="+mn-lt"/>
              </a:rPr>
              <a:t> (or Splunk SPL saved searches) and example alerts (with thresholds and recommended responses).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Incident Response Playbooks</a:t>
            </a:r>
            <a:r>
              <a:rPr lang="en-US" dirty="0">
                <a:ea typeface="+mn-lt"/>
                <a:cs typeface="+mn-lt"/>
              </a:rPr>
              <a:t>: Step-by-step triage for Kerberos abuse, </a:t>
            </a:r>
            <a:r>
              <a:rPr lang="en-US" dirty="0" err="1">
                <a:ea typeface="+mn-lt"/>
                <a:cs typeface="+mn-lt"/>
              </a:rPr>
              <a:t>PtH</a:t>
            </a:r>
            <a:r>
              <a:rPr lang="en-US" dirty="0">
                <a:ea typeface="+mn-lt"/>
                <a:cs typeface="+mn-lt"/>
              </a:rPr>
              <a:t>, GPO tampering, lateral movement.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Forensic evidence package</a:t>
            </a:r>
            <a:r>
              <a:rPr lang="en-US" dirty="0">
                <a:ea typeface="+mn-lt"/>
                <a:cs typeface="+mn-lt"/>
              </a:rPr>
              <a:t>: PCAPs, Sysmon artifacts,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export, timeline.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Executive remediation report</a:t>
            </a:r>
            <a:r>
              <a:rPr lang="en-US" dirty="0">
                <a:ea typeface="+mn-lt"/>
                <a:cs typeface="+mn-lt"/>
              </a:rPr>
              <a:t> mapped to </a:t>
            </a:r>
            <a:r>
              <a:rPr lang="en-US" b="1" dirty="0">
                <a:ea typeface="+mn-lt"/>
                <a:cs typeface="+mn-lt"/>
              </a:rPr>
              <a:t>NIST CSF</a:t>
            </a:r>
            <a:r>
              <a:rPr lang="en-US" dirty="0">
                <a:ea typeface="+mn-lt"/>
                <a:cs typeface="+mn-lt"/>
              </a:rPr>
              <a:t> functions (Identify, Protect, Detect, Respond, Recover) and business impact.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Example Splunk searches (conceptual)</a:t>
            </a:r>
            <a:endParaRPr lang="en-US" u="sng" dirty="0"/>
          </a:p>
          <a:p>
            <a:pPr algn="ctr"/>
            <a:r>
              <a:rPr lang="en-US" dirty="0" err="1">
                <a:ea typeface="+mn-lt"/>
                <a:cs typeface="+mn-lt"/>
              </a:rPr>
              <a:t>Kerberoast</a:t>
            </a:r>
            <a:r>
              <a:rPr lang="en-US" dirty="0">
                <a:ea typeface="+mn-lt"/>
                <a:cs typeface="+mn-lt"/>
              </a:rPr>
              <a:t> indicator: unusual spike in </a:t>
            </a:r>
            <a:r>
              <a:rPr lang="en-US" dirty="0" err="1">
                <a:latin typeface="Consolas"/>
              </a:rPr>
              <a:t>EventID</a:t>
            </a:r>
            <a:r>
              <a:rPr lang="en-US" dirty="0">
                <a:latin typeface="Consolas"/>
              </a:rPr>
              <a:t> 4769</a:t>
            </a:r>
            <a:r>
              <a:rPr lang="en-US" dirty="0">
                <a:ea typeface="+mn-lt"/>
                <a:cs typeface="+mn-lt"/>
              </a:rPr>
              <a:t> service ticket requests + service account SPN activity.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GPO changes: </a:t>
            </a:r>
            <a:r>
              <a:rPr lang="en-US" dirty="0" err="1">
                <a:latin typeface="Consolas"/>
              </a:rPr>
              <a:t>EventID</a:t>
            </a:r>
            <a:r>
              <a:rPr lang="en-US" dirty="0">
                <a:latin typeface="Consolas"/>
              </a:rPr>
              <a:t> 5136</a:t>
            </a:r>
            <a:r>
              <a:rPr lang="en-US" dirty="0">
                <a:ea typeface="+mn-lt"/>
                <a:cs typeface="+mn-lt"/>
              </a:rPr>
              <a:t> applied to Group Policy objects + admin account not normally performing changes.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NTLM relay / Lateral movement: </a:t>
            </a:r>
            <a:r>
              <a:rPr lang="en-US" dirty="0" err="1">
                <a:latin typeface="Consolas"/>
              </a:rPr>
              <a:t>EventID</a:t>
            </a:r>
            <a:r>
              <a:rPr lang="en-US" dirty="0">
                <a:latin typeface="Consolas"/>
              </a:rPr>
              <a:t> 4624</a:t>
            </a:r>
            <a:r>
              <a:rPr lang="en-US" dirty="0">
                <a:ea typeface="+mn-lt"/>
                <a:cs typeface="+mn-lt"/>
              </a:rPr>
              <a:t> with logon type 3 followed by new scheduled task creation.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KPI: Time-to-detect, time-to-contain, number of detections tuned to &lt;10% false-positive rate.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29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58F0-976C-1C26-FC7C-35742EC0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08265"/>
            <a:ext cx="9906001" cy="810656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Blue Team Playbook Development</a:t>
            </a:r>
            <a:endParaRPr lang="en-US" u="sng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D66AE-F700-EBA9-5736-A81622368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10" y="1472691"/>
            <a:ext cx="10183090" cy="45612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Goal</a:t>
            </a:r>
            <a:r>
              <a:rPr lang="en-US" dirty="0">
                <a:ea typeface="+mn-lt"/>
                <a:cs typeface="+mn-lt"/>
              </a:rPr>
              <a:t>: Build resilience.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 dirty="0">
                <a:ea typeface="+mn-lt"/>
                <a:cs typeface="+mn-lt"/>
              </a:rPr>
              <a:t>: Incident Response, Detection Engineering, Threat Hunting, MITRE D3FEND.</a:t>
            </a:r>
            <a:br>
              <a:rPr lang="en-US" dirty="0">
                <a:ea typeface="+mn-lt"/>
                <a:cs typeface="+mn-lt"/>
              </a:rPr>
            </a:br>
            <a:r>
              <a:rPr lang="en-US" u="sng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Activities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Develop </a:t>
            </a:r>
            <a:r>
              <a:rPr lang="en-US" b="1" dirty="0">
                <a:ea typeface="+mn-lt"/>
                <a:cs typeface="+mn-lt"/>
              </a:rPr>
              <a:t>Splunk correlation rules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Kerberoasting</a:t>
            </a:r>
            <a:r>
              <a:rPr lang="en-US" dirty="0">
                <a:ea typeface="+mn-lt"/>
                <a:cs typeface="+mn-lt"/>
              </a:rPr>
              <a:t> → hash cracking alerts).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Create </a:t>
            </a:r>
            <a:r>
              <a:rPr lang="en-US" b="1" dirty="0">
                <a:ea typeface="+mn-lt"/>
                <a:cs typeface="+mn-lt"/>
              </a:rPr>
              <a:t>hunting queries</a:t>
            </a:r>
            <a:r>
              <a:rPr lang="en-US" dirty="0">
                <a:ea typeface="+mn-lt"/>
                <a:cs typeface="+mn-lt"/>
              </a:rPr>
              <a:t> for lateral movement.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Document </a:t>
            </a:r>
            <a:r>
              <a:rPr lang="en-US" b="1" dirty="0">
                <a:ea typeface="+mn-lt"/>
                <a:cs typeface="+mn-lt"/>
              </a:rPr>
              <a:t>incident playbooks</a:t>
            </a:r>
            <a:r>
              <a:rPr lang="en-US" dirty="0">
                <a:ea typeface="+mn-lt"/>
                <a:cs typeface="+mn-lt"/>
              </a:rPr>
              <a:t> (ransomware, privilege escalation, insider threat).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/>
              <a:t>Business Impact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Demonstrates </a:t>
            </a:r>
            <a:r>
              <a:rPr lang="en-US" b="1" dirty="0">
                <a:ea typeface="+mn-lt"/>
                <a:cs typeface="+mn-lt"/>
              </a:rPr>
              <a:t>real-world resilience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Shows how </a:t>
            </a:r>
            <a:r>
              <a:rPr lang="en-US" b="1" dirty="0">
                <a:ea typeface="+mn-lt"/>
                <a:cs typeface="+mn-lt"/>
              </a:rPr>
              <a:t>cybersecurity frameworks reduce risk exposure by 70%+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42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9368-C6D6-7447-B267-E053A36C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3207"/>
            <a:ext cx="9906000" cy="731669"/>
          </a:xfrm>
        </p:spPr>
        <p:txBody>
          <a:bodyPr>
            <a:normAutofit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Detection &amp; Playbook specifics</a:t>
            </a:r>
            <a:endParaRPr lang="en-US" u="sng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8546-EB21-DEBF-555A-BDC5166DC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62" y="1145336"/>
            <a:ext cx="11048999" cy="539974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Detection rules (conceptual)</a:t>
            </a:r>
            <a:endParaRPr lang="en-US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Kerberos Abuse</a:t>
            </a:r>
            <a:r>
              <a:rPr lang="en-US" u="sng" dirty="0">
                <a:ea typeface="+mn-lt"/>
                <a:cs typeface="+mn-lt"/>
              </a:rPr>
              <a:t> (Sigma-like)</a:t>
            </a:r>
            <a:endParaRPr lang="en-US" u="sng" dirty="0"/>
          </a:p>
          <a:p>
            <a:pPr lvl="1" algn="ctr"/>
            <a:r>
              <a:rPr lang="en-US" dirty="0">
                <a:ea typeface="+mn-lt"/>
                <a:cs typeface="+mn-lt"/>
              </a:rPr>
              <a:t>Condition: surge in </a:t>
            </a:r>
            <a:r>
              <a:rPr lang="en-US" dirty="0">
                <a:latin typeface="Consolas"/>
              </a:rPr>
              <a:t>TGS-REQ</a:t>
            </a:r>
            <a:r>
              <a:rPr lang="en-US" dirty="0">
                <a:ea typeface="+mn-lt"/>
                <a:cs typeface="+mn-lt"/>
              </a:rPr>
              <a:t> for SPNs + service accounts with long ticket lifetimes.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Response: Flag account, capture TGS request PCAP, force Kerberos ticket invalidation + reset SPN account creds.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GPO Tamper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Condition: </a:t>
            </a:r>
            <a:r>
              <a:rPr lang="en-US" dirty="0">
                <a:latin typeface="Consolas"/>
              </a:rPr>
              <a:t>Directory Service Change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5136) against </a:t>
            </a:r>
            <a:r>
              <a:rPr lang="en-US" dirty="0">
                <a:latin typeface="Consolas"/>
              </a:rPr>
              <a:t>CN=</a:t>
            </a:r>
            <a:r>
              <a:rPr lang="en-US" err="1">
                <a:latin typeface="Consolas"/>
              </a:rPr>
              <a:t>Policies,CN</a:t>
            </a:r>
            <a:r>
              <a:rPr lang="en-US" dirty="0">
                <a:latin typeface="Consolas"/>
              </a:rPr>
              <a:t>=System</a:t>
            </a:r>
            <a:r>
              <a:rPr lang="en-US" dirty="0">
                <a:ea typeface="+mn-lt"/>
                <a:cs typeface="+mn-lt"/>
              </a:rPr>
              <a:t> by non-admins.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Response: suspend account, restore GPO from backup, escalate to IR.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NTLM Relay / </a:t>
            </a:r>
            <a:r>
              <a:rPr lang="en-US" b="1" err="1">
                <a:ea typeface="+mn-lt"/>
                <a:cs typeface="+mn-lt"/>
              </a:rPr>
              <a:t>PtH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Condition: authentication reuse across multiple hosts + creation of remote scheduled tasks.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Response: block source host, isolate host, check logs for Pass-the-Hash indicators.</a:t>
            </a:r>
            <a:endParaRPr lang="en-US" dirty="0"/>
          </a:p>
          <a:p>
            <a:pPr marL="457200" lvl="1" indent="0" algn="ctr">
              <a:buNone/>
            </a:pPr>
            <a:r>
              <a:rPr lang="en-US" u="sng" dirty="0"/>
              <a:t>Playbook outline (Kerberos abuse)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Triage alert → capture relevant DC logs (</a:t>
            </a:r>
            <a:r>
              <a:rPr lang="en-US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4768/4769/4771).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Identify source host &amp; account.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Pull Kerberos TGS requests and correlate with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Reset service account password (if SPN used), force ticket purge.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Publish containment &amp; remediation steps, perform scope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576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CAAB-76C9-65FA-76C8-C8DE09CF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10" y="213016"/>
            <a:ext cx="10373590" cy="628814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Reporting &amp; Business Alignment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C70E-D3B9-8731-0883-143156F2D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14" y="892533"/>
            <a:ext cx="10936431" cy="57475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Goal</a:t>
            </a:r>
            <a:r>
              <a:rPr lang="en-US" u="sng" dirty="0">
                <a:ea typeface="+mn-lt"/>
                <a:cs typeface="+mn-lt"/>
              </a:rPr>
              <a:t>: Translate tech → business.</a:t>
            </a:r>
            <a:br>
              <a:rPr lang="en-US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Keywords</a:t>
            </a:r>
            <a:r>
              <a:rPr lang="en-US" dirty="0">
                <a:ea typeface="+mn-lt"/>
                <a:cs typeface="+mn-lt"/>
              </a:rPr>
              <a:t>: Risk Management, Compliance, PCI DSS, CIA Triad, ROI.</a:t>
            </a:r>
            <a:br>
              <a:rPr lang="en-US" dirty="0">
                <a:ea typeface="+mn-lt"/>
                <a:cs typeface="+mn-lt"/>
              </a:rPr>
            </a:br>
            <a:r>
              <a:rPr lang="en-US" b="1" u="sng" dirty="0">
                <a:ea typeface="+mn-lt"/>
                <a:cs typeface="+mn-lt"/>
              </a:rPr>
              <a:t>Deliverables</a:t>
            </a:r>
            <a:endParaRPr lang="en-US" u="sng" dirty="0"/>
          </a:p>
          <a:p>
            <a:pPr algn="ctr"/>
            <a:r>
              <a:rPr lang="en-US" b="1" dirty="0">
                <a:ea typeface="+mn-lt"/>
                <a:cs typeface="+mn-lt"/>
              </a:rPr>
              <a:t>Executive Report</a:t>
            </a:r>
            <a:r>
              <a:rPr lang="en-US" dirty="0">
                <a:ea typeface="+mn-lt"/>
                <a:cs typeface="+mn-lt"/>
              </a:rPr>
              <a:t>: How </a:t>
            </a:r>
            <a:r>
              <a:rPr lang="en-US" dirty="0" err="1">
                <a:ea typeface="+mn-lt"/>
                <a:cs typeface="+mn-lt"/>
              </a:rPr>
              <a:t>misconfigs</a:t>
            </a:r>
            <a:r>
              <a:rPr lang="en-US" dirty="0">
                <a:ea typeface="+mn-lt"/>
                <a:cs typeface="+mn-lt"/>
              </a:rPr>
              <a:t> led to domain compromise.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Metrics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Reduced attack detection time from 12 hours → &lt;10 minutes.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90% log coverage in Splunk.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Business continuity preserved with AD restore testing.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Framework Alignment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NIST CSF → Identify, Protect, Detect, Respond, Recover.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MITRE ATT&amp;CK → mapped to tactics/techniques.</a:t>
            </a:r>
            <a:endParaRPr lang="en-US" dirty="0"/>
          </a:p>
          <a:p>
            <a:pPr lvl="1" algn="ctr"/>
            <a:r>
              <a:rPr lang="en-US" dirty="0">
                <a:ea typeface="+mn-lt"/>
                <a:cs typeface="+mn-lt"/>
              </a:rPr>
              <a:t>PCI DSS → role-based access control, logging, auditing.</a:t>
            </a:r>
          </a:p>
          <a:p>
            <a:pPr marL="0" indent="0" algn="ctr">
              <a:buNone/>
            </a:pPr>
            <a:r>
              <a:rPr lang="en-US" u="sng">
                <a:ea typeface="+mn-lt"/>
                <a:cs typeface="+mn-lt"/>
              </a:rPr>
              <a:t>A </a:t>
            </a:r>
            <a:r>
              <a:rPr lang="en-US" b="1" u="sng">
                <a:ea typeface="+mn-lt"/>
                <a:cs typeface="+mn-lt"/>
              </a:rPr>
              <a:t>production-grade attack + defense simulation lab</a:t>
            </a:r>
            <a:r>
              <a:rPr lang="en-US" u="sng">
                <a:ea typeface="+mn-lt"/>
                <a:cs typeface="+mn-lt"/>
              </a:rPr>
              <a:t>, where:</a:t>
            </a:r>
            <a:endParaRPr lang="en-US" u="sng" dirty="0"/>
          </a:p>
          <a:p>
            <a:pPr algn="ctr"/>
            <a:r>
              <a:rPr lang="en-US">
                <a:ea typeface="+mn-lt"/>
                <a:cs typeface="+mn-lt"/>
              </a:rPr>
              <a:t>Red Team executes </a:t>
            </a:r>
            <a:r>
              <a:rPr lang="en-US" b="1">
                <a:ea typeface="+mn-lt"/>
                <a:cs typeface="+mn-lt"/>
              </a:rPr>
              <a:t>advanced adversary tactics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Blue Team applies </a:t>
            </a:r>
            <a:r>
              <a:rPr lang="en-US" b="1" dirty="0">
                <a:ea typeface="+mn-lt"/>
                <a:cs typeface="+mn-lt"/>
              </a:rPr>
              <a:t>enterprise defense playbooks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Business leaders see </a:t>
            </a:r>
            <a:r>
              <a:rPr lang="en-US" b="1" dirty="0">
                <a:ea typeface="+mn-lt"/>
                <a:cs typeface="+mn-lt"/>
              </a:rPr>
              <a:t>direct value in resilience, reduced downtime, and compliance alignment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1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45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E582-743C-5C36-12B0-0DE4E21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89572"/>
            <a:ext cx="9906001" cy="954693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Tools &amp; mappings / Timeline &amp; sprint plan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3B08D-CE44-25CB-C7B8-1026F6C8B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20" y="1275433"/>
            <a:ext cx="11225560" cy="536256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Recon: </a:t>
            </a:r>
            <a:r>
              <a:rPr lang="en-US" b="1" dirty="0" err="1">
                <a:ea typeface="+mn-lt"/>
                <a:cs typeface="+mn-lt"/>
              </a:rPr>
              <a:t>BloodHound</a:t>
            </a:r>
            <a:r>
              <a:rPr lang="en-US" b="1" dirty="0">
                <a:ea typeface="+mn-lt"/>
                <a:cs typeface="+mn-lt"/>
              </a:rPr>
              <a:t>/</a:t>
            </a:r>
            <a:r>
              <a:rPr lang="en-US" b="1" dirty="0" err="1">
                <a:ea typeface="+mn-lt"/>
                <a:cs typeface="+mn-lt"/>
              </a:rPr>
              <a:t>SharpHound</a:t>
            </a:r>
            <a:r>
              <a:rPr lang="en-US" dirty="0">
                <a:ea typeface="+mn-lt"/>
                <a:cs typeface="+mn-lt"/>
              </a:rPr>
              <a:t>, PowerView, </a:t>
            </a:r>
            <a:r>
              <a:rPr lang="en-US" dirty="0" err="1">
                <a:ea typeface="+mn-lt"/>
                <a:cs typeface="+mn-lt"/>
              </a:rPr>
              <a:t>nmap</a:t>
            </a:r>
            <a:r>
              <a:rPr lang="en-US" dirty="0">
                <a:ea typeface="+mn-lt"/>
                <a:cs typeface="+mn-lt"/>
              </a:rPr>
              <a:t>. (MITRE: T1087/T1592)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Kerberos: </a:t>
            </a:r>
            <a:r>
              <a:rPr lang="en-US" b="1" dirty="0">
                <a:ea typeface="+mn-lt"/>
                <a:cs typeface="+mn-lt"/>
              </a:rPr>
              <a:t>Rubeus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Kerberoast</a:t>
            </a:r>
            <a:r>
              <a:rPr lang="en-US" dirty="0">
                <a:ea typeface="+mn-lt"/>
                <a:cs typeface="+mn-lt"/>
              </a:rPr>
              <a:t> scripts. (MITRE: T1558)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Lateral movement: </a:t>
            </a:r>
            <a:r>
              <a:rPr lang="en-US" b="1" dirty="0" err="1">
                <a:ea typeface="+mn-lt"/>
                <a:cs typeface="+mn-lt"/>
              </a:rPr>
              <a:t>Impacket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PSExec</a:t>
            </a:r>
            <a:r>
              <a:rPr lang="en-US" dirty="0">
                <a:ea typeface="+mn-lt"/>
                <a:cs typeface="+mn-lt"/>
              </a:rPr>
              <a:t>, WMI. (MITRE: T1021)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Persistence: Scheduled Tasks, GPO scripts, services. (MITRE: T1053)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Detection: </a:t>
            </a:r>
            <a:r>
              <a:rPr lang="en-US" b="1" dirty="0">
                <a:ea typeface="+mn-lt"/>
                <a:cs typeface="+mn-lt"/>
              </a:rPr>
              <a:t>Sysmon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Winlogbeat</a:t>
            </a:r>
            <a:r>
              <a:rPr lang="en-US" dirty="0">
                <a:ea typeface="+mn-lt"/>
                <a:cs typeface="+mn-lt"/>
              </a:rPr>
              <a:t>, Splunk Enterprise, Sigma rules.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Forensics: </a:t>
            </a:r>
            <a:r>
              <a:rPr lang="en-US" b="1" dirty="0">
                <a:ea typeface="+mn-lt"/>
                <a:cs typeface="+mn-lt"/>
              </a:rPr>
              <a:t>Wireshark</a:t>
            </a:r>
            <a:r>
              <a:rPr lang="en-US" dirty="0">
                <a:ea typeface="+mn-lt"/>
                <a:cs typeface="+mn-lt"/>
              </a:rPr>
              <a:t>, Sysmon logs, event logs,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exports.</a:t>
            </a:r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SPRINT PLAN</a:t>
            </a:r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Sprint 1 (1 week):</a:t>
            </a:r>
            <a:r>
              <a:rPr lang="en-US" dirty="0">
                <a:ea typeface="+mn-lt"/>
                <a:cs typeface="+mn-lt"/>
              </a:rPr>
              <a:t> Preparation, logging baseline,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mapping.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Sprint 2 (1 week):</a:t>
            </a:r>
            <a:r>
              <a:rPr lang="en-US" dirty="0">
                <a:ea typeface="+mn-lt"/>
                <a:cs typeface="+mn-lt"/>
              </a:rPr>
              <a:t> Recon exercises and documentation.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Sprint 3 (1–2 weeks):</a:t>
            </a:r>
            <a:r>
              <a:rPr lang="en-US" dirty="0">
                <a:ea typeface="+mn-lt"/>
                <a:cs typeface="+mn-lt"/>
              </a:rPr>
              <a:t> Controlled exploitation (</a:t>
            </a:r>
            <a:r>
              <a:rPr lang="en-US" dirty="0" err="1">
                <a:ea typeface="+mn-lt"/>
                <a:cs typeface="+mn-lt"/>
              </a:rPr>
              <a:t>Kerberoast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PtH</a:t>
            </a:r>
            <a:r>
              <a:rPr lang="en-US" dirty="0">
                <a:ea typeface="+mn-lt"/>
                <a:cs typeface="+mn-lt"/>
              </a:rPr>
              <a:t>, GPO abuse) — one vector at a time, snapshot rollback after each.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Sprint 4 (1 week):</a:t>
            </a:r>
            <a:r>
              <a:rPr lang="en-US" dirty="0">
                <a:ea typeface="+mn-lt"/>
                <a:cs typeface="+mn-lt"/>
              </a:rPr>
              <a:t> Lateral movement &amp; persistence, C2 simulation.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Sprint 5 (1 week):</a:t>
            </a:r>
            <a:r>
              <a:rPr lang="en-US" dirty="0">
                <a:ea typeface="+mn-lt"/>
                <a:cs typeface="+mn-lt"/>
              </a:rPr>
              <a:t> Detection development (Splunk rules), playbooks, dashboards.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Sprint 6 (1 week):</a:t>
            </a:r>
            <a:r>
              <a:rPr lang="en-US" dirty="0">
                <a:ea typeface="+mn-lt"/>
                <a:cs typeface="+mn-lt"/>
              </a:rPr>
              <a:t> Final full-chain exercise + executive report &amp; remediation roadmap.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51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C46B-00CA-983B-6E9E-456A3A85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025" y="133817"/>
            <a:ext cx="10760926" cy="452889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Deliverables (what I WILL produce)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4F6E0-10EB-0E15-EE08-F10758652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84" y="634236"/>
            <a:ext cx="11866754" cy="60966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1800" u="sng" dirty="0">
                <a:ea typeface="+mn-lt"/>
                <a:cs typeface="+mn-lt"/>
              </a:rPr>
              <a:t>Attack playbooks &amp; step-by-step lab runbooks (with snapshot checkpoints).</a:t>
            </a:r>
            <a:endParaRPr lang="en-US" sz="1800" u="sng"/>
          </a:p>
          <a:p>
            <a:pPr algn="ctr">
              <a:buFont typeface="Arial"/>
              <a:buChar char="•"/>
            </a:pPr>
            <a:r>
              <a:rPr lang="en-US" sz="1800" dirty="0" err="1">
                <a:ea typeface="+mn-lt"/>
                <a:cs typeface="+mn-lt"/>
              </a:rPr>
              <a:t>BloodHound</a:t>
            </a:r>
            <a:r>
              <a:rPr lang="en-US" sz="1800" dirty="0">
                <a:ea typeface="+mn-lt"/>
                <a:cs typeface="+mn-lt"/>
              </a:rPr>
              <a:t> export + attack path analysis files.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Splunk dashboards, saved searches (SPL), and Sigma rules.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Incident Response Playbooks for each attack class (Kerberos, </a:t>
            </a:r>
            <a:r>
              <a:rPr lang="en-US" sz="1800" dirty="0" err="1">
                <a:ea typeface="+mn-lt"/>
                <a:cs typeface="+mn-lt"/>
              </a:rPr>
              <a:t>PtH</a:t>
            </a:r>
            <a:r>
              <a:rPr lang="en-US" sz="1800" dirty="0">
                <a:ea typeface="+mn-lt"/>
                <a:cs typeface="+mn-lt"/>
              </a:rPr>
              <a:t>, GPO tamper).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Executive one-page risk &amp; remediation summary mapped to NIST CSF.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Evidence pack: PCAPs, logs, timelines.</a:t>
            </a:r>
            <a:endParaRPr lang="en-US" sz="1800"/>
          </a:p>
          <a:p>
            <a:pPr algn="ctr">
              <a:buNone/>
            </a:pPr>
            <a:r>
              <a:rPr lang="en-US" sz="1800" b="1" u="sng" dirty="0"/>
              <a:t>Business value / executive talking points</a:t>
            </a:r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Demonstrates how identity compromise leads to enterprise compromise — directly ties to financial risk (lost availability, data breach costs).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Provides repeatable framework to test AD security across &gt;500 endpoints and demonstrate measurable reduction in attack surface.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Allows SOC teams to tune detections with ground-truth data, lowering mean-time-to-detect/contain and improving regulatory posture (GDPR, HIPAA, PCI-DSS).</a:t>
            </a:r>
          </a:p>
          <a:p>
            <a:pPr algn="ctr">
              <a:buNone/>
            </a:pPr>
            <a:r>
              <a:rPr lang="en-US" sz="1800" b="1" u="sng" dirty="0"/>
              <a:t>Final safety &amp; ethics reminder</a:t>
            </a:r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I will Run these tests </a:t>
            </a:r>
            <a:r>
              <a:rPr lang="en-US" sz="1800" b="1" dirty="0">
                <a:ea typeface="+mn-lt"/>
                <a:cs typeface="+mn-lt"/>
              </a:rPr>
              <a:t>only in my lab / on VMs systems that I control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Snapshot/backup before each major offensive test.</a:t>
            </a:r>
            <a:endParaRPr lang="en-US" sz="1800"/>
          </a:p>
          <a:p>
            <a:pPr algn="ctr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Ensure the “blue team” has a copy of playbooks and safety kill-switches (network isolation procedures) ready.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7363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431" y="498765"/>
            <a:ext cx="8451274" cy="689429"/>
          </a:xfrm>
          <a:noFill/>
        </p:spPr>
        <p:txBody>
          <a:bodyPr/>
          <a:lstStyle/>
          <a:p>
            <a:pPr algn="ctr"/>
            <a:r>
              <a:rPr lang="en-US" i="0" u="sng" dirty="0">
                <a:ea typeface="+mj-lt"/>
                <a:cs typeface="+mj-lt"/>
              </a:rPr>
              <a:t>Framework Alignment</a:t>
            </a:r>
            <a:endParaRPr lang="en-US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8199" y="1438191"/>
            <a:ext cx="10432173" cy="4708264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📌 </a:t>
            </a:r>
            <a:r>
              <a:rPr lang="en-US" b="1" dirty="0">
                <a:ea typeface="+mn-lt"/>
                <a:cs typeface="+mn-lt"/>
              </a:rPr>
              <a:t>NIST Cybersecurity Framework</a:t>
            </a:r>
            <a:r>
              <a:rPr lang="en-US" dirty="0">
                <a:ea typeface="+mn-lt"/>
                <a:cs typeface="+mn-lt"/>
              </a:rPr>
              <a:t> – Identify, Protect, Detect, Respond, Recover.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📌 </a:t>
            </a:r>
            <a:r>
              <a:rPr lang="en-US" b="1" dirty="0">
                <a:ea typeface="+mn-lt"/>
                <a:cs typeface="+mn-lt"/>
              </a:rPr>
              <a:t>MITRE ATT&amp;CK</a:t>
            </a:r>
            <a:r>
              <a:rPr lang="en-US" dirty="0">
                <a:ea typeface="+mn-lt"/>
                <a:cs typeface="+mn-lt"/>
              </a:rPr>
              <a:t> – Attack technique mapping (</a:t>
            </a:r>
            <a:r>
              <a:rPr lang="en-US" err="1">
                <a:ea typeface="+mn-lt"/>
                <a:cs typeface="+mn-lt"/>
              </a:rPr>
              <a:t>Kerberoasting</a:t>
            </a:r>
            <a:r>
              <a:rPr lang="en-US" dirty="0">
                <a:ea typeface="+mn-lt"/>
                <a:cs typeface="+mn-lt"/>
              </a:rPr>
              <a:t>, Pass-the-Hash).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📌 </a:t>
            </a:r>
            <a:r>
              <a:rPr lang="en-US" b="1" dirty="0">
                <a:ea typeface="+mn-lt"/>
                <a:cs typeface="+mn-lt"/>
              </a:rPr>
              <a:t>PCI DSS &amp; Compliance</a:t>
            </a:r>
            <a:r>
              <a:rPr lang="en-US" dirty="0">
                <a:ea typeface="+mn-lt"/>
                <a:cs typeface="+mn-lt"/>
              </a:rPr>
              <a:t> – Access control, logging, audit enforcement.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📌 </a:t>
            </a:r>
            <a:r>
              <a:rPr lang="en-US" b="1" dirty="0">
                <a:ea typeface="+mn-lt"/>
                <a:cs typeface="+mn-lt"/>
              </a:rPr>
              <a:t>CIA Triad</a:t>
            </a:r>
            <a:r>
              <a:rPr lang="en-US" dirty="0">
                <a:ea typeface="+mn-lt"/>
                <a:cs typeface="+mn-lt"/>
              </a:rPr>
              <a:t> – Confidentiality (NTFS), Integrity (GPO), Availability (DHCP/DNS).</a:t>
            </a: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ea typeface="+mn-lt"/>
                <a:cs typeface="+mn-lt"/>
              </a:rPr>
              <a:t>Speaker Notes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This lab maps directly to compliance and regulatory frameworks — not just technical training, but showing business value alignment.</a:t>
            </a:r>
            <a:endParaRPr lang="en-US" dirty="0"/>
          </a:p>
          <a:p>
            <a:pPr algn="ctr">
              <a:buNone/>
            </a:pPr>
            <a:r>
              <a:rPr lang="en-US" b="1" u="sng"/>
              <a:t>Business Impact &amp; Metrics</a:t>
            </a:r>
            <a:endParaRPr lang="en-US" u="sng"/>
          </a:p>
          <a:p>
            <a:pPr algn="ctr">
              <a:buNone/>
            </a:pPr>
            <a:r>
              <a:rPr lang="en-US" dirty="0">
                <a:ea typeface="+mn-lt"/>
                <a:cs typeface="+mn-lt"/>
              </a:rPr>
              <a:t>📊 Mean Time to Detect (MTTD) – reduced from hours to minutes.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📊 Mean Time to Respond (MTTR) – optimized with automated Splunk alerts.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📊 User Downtime – minimized via DHCP/DNS resilience.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📊 ROI – Lab cost &lt;$100, simulating enterprise defense worth millions.</a:t>
            </a:r>
            <a:endParaRPr lang="en-US" dirty="0"/>
          </a:p>
          <a:p>
            <a:pPr algn="ctr">
              <a:buNone/>
            </a:pPr>
            <a:r>
              <a:rPr lang="en-US" b="1" u="sng" dirty="0">
                <a:ea typeface="+mn-lt"/>
                <a:cs typeface="+mn-lt"/>
              </a:rPr>
              <a:t>Speaker Notes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Demonstrates measurable results in operational resilience, cost efficiency, and business continuity. Skills translate into protecting real-world organizations globally.</a:t>
            </a:r>
            <a:endParaRPr lang="en-US" dirty="0"/>
          </a:p>
          <a:p>
            <a:pPr>
              <a:buFont typeface="Walbaum Display Ligh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73" y="412174"/>
            <a:ext cx="10598727" cy="845292"/>
          </a:xfrm>
          <a:noFill/>
        </p:spPr>
        <p:txBody>
          <a:bodyPr/>
          <a:lstStyle/>
          <a:p>
            <a:r>
              <a:rPr lang="en-US" i="0" u="sng" dirty="0">
                <a:ea typeface="+mj-lt"/>
                <a:cs typeface="+mj-lt"/>
              </a:rPr>
              <a:t>Hands-On Skills &amp; Certifications Pathway</a:t>
            </a:r>
            <a:endParaRPr lang="en-US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2223" y="1520079"/>
            <a:ext cx="10360415" cy="426304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🔐 Ethical Hacking – AD exploitation, privilege escalation, persistence.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🛡️ Defensive Security – GPO hardening, Splunk SIEM monitoring.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📡 Network Engineering – DNS/DHCP resilience, reverse lookup validation.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🎓 Certifications Pathway – OSCP (offensive), Security+ (foundational), Splunk Core Certified.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Speaker Notes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Phase 2 solidifies hands-on experience for Red/Blue teaming and provides measurable achievements for certifications and career growth.</a:t>
            </a:r>
          </a:p>
          <a:p>
            <a:pPr algn="ctr"/>
            <a:r>
              <a:rPr lang="en-US" b="1" u="sng" dirty="0"/>
              <a:t>Conclusion / Preview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✅ </a:t>
            </a:r>
            <a:r>
              <a:rPr lang="en-US" b="1" dirty="0">
                <a:ea typeface="+mn-lt"/>
                <a:cs typeface="+mn-lt"/>
              </a:rPr>
              <a:t>Phase 2 Goal:</a:t>
            </a:r>
            <a:r>
              <a:rPr lang="en-US" dirty="0">
                <a:ea typeface="+mn-lt"/>
                <a:cs typeface="+mn-lt"/>
              </a:rPr>
              <a:t> Full attack/defense simulation in AD Lab.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➡️ </a:t>
            </a:r>
            <a:r>
              <a:rPr lang="en-US" b="1" dirty="0">
                <a:ea typeface="+mn-lt"/>
                <a:cs typeface="+mn-lt"/>
              </a:rPr>
              <a:t>Phase Preview:</a:t>
            </a:r>
            <a:r>
              <a:rPr lang="en-US" dirty="0">
                <a:ea typeface="+mn-lt"/>
                <a:cs typeface="+mn-lt"/>
              </a:rPr>
              <a:t> Threat hunting, Purple Team collaboration, and automation with SOAR.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Speaker Notes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Phase 2 is where offense meets defense in a controlled enterprise-grade environment. Phase preview will take this into proactive cyber defense and threat intelligence.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5" y="365125"/>
            <a:ext cx="5857988" cy="814677"/>
          </a:xfrm>
          <a:noFill/>
        </p:spPr>
        <p:txBody>
          <a:bodyPr/>
          <a:lstStyle/>
          <a:p>
            <a:r>
              <a:rPr lang="en-US" i="0" u="sng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565" y="1181247"/>
            <a:ext cx="6681805" cy="5184513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dirty="0">
                <a:ea typeface="+mn-lt"/>
                <a:cs typeface="+mn-lt"/>
              </a:rPr>
              <a:t>Built and executed a corporate-grade Active Directory cyber range simulating enterprise IT infrastructure, aligned with </a:t>
            </a:r>
            <a:r>
              <a:rPr lang="en-US" sz="3200" b="1" dirty="0">
                <a:ea typeface="+mn-lt"/>
                <a:cs typeface="+mn-lt"/>
              </a:rPr>
              <a:t>NIST CSF + MITRE ATT&amp;CK</a:t>
            </a:r>
            <a:r>
              <a:rPr lang="en-US" sz="3200" dirty="0">
                <a:ea typeface="+mn-lt"/>
                <a:cs typeface="+mn-lt"/>
              </a:rPr>
              <a:t>, conducting 20+ red team attack scenarios (</a:t>
            </a:r>
            <a:r>
              <a:rPr lang="en-US" sz="3200" dirty="0" err="1">
                <a:ea typeface="+mn-lt"/>
                <a:cs typeface="+mn-lt"/>
              </a:rPr>
              <a:t>Kerberoasting</a:t>
            </a:r>
            <a:r>
              <a:rPr lang="en-US" sz="3200" dirty="0">
                <a:ea typeface="+mn-lt"/>
                <a:cs typeface="+mn-lt"/>
              </a:rPr>
              <a:t>, Golden Ticket, Pass-the-Hash) and designing blue team detection playbooks in Splunk, reducing simulated detection time by </a:t>
            </a:r>
            <a:r>
              <a:rPr lang="en-US" sz="3200" b="1" dirty="0">
                <a:ea typeface="+mn-lt"/>
                <a:cs typeface="+mn-lt"/>
              </a:rPr>
              <a:t>&gt;80%</a:t>
            </a:r>
            <a:r>
              <a:rPr lang="en-US" sz="3200" dirty="0">
                <a:ea typeface="+mn-lt"/>
                <a:cs typeface="+mn-lt"/>
              </a:rPr>
              <a:t> and demonstrating measurable business resilience impact.</a:t>
            </a:r>
            <a:endParaRPr lang="en-US" dirty="0">
              <a:ea typeface="+mn-lt"/>
              <a:cs typeface="+mn-lt"/>
            </a:endParaRPr>
          </a:p>
          <a:p>
            <a:pPr algn="ctr"/>
            <a:endParaRPr lang="en-US" sz="3200" dirty="0"/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Bassey Solomon Henry</a:t>
            </a:r>
          </a:p>
          <a:p>
            <a:r>
              <a:rPr lang="en-US" dirty="0"/>
              <a:t>Cert: SOC LEVEL 1</a:t>
            </a:r>
          </a:p>
          <a:p>
            <a:r>
              <a:rPr lang="en-US" dirty="0"/>
              <a:t>RED  TEAM ENTHUSIAST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283731-47E9-4F14-86D1-57C1EA2672A1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1846AD4-435D-4592-8088-FE2831A30D1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Application>Microsoft Office PowerPoint</Application>
  <PresentationFormat>Widescreen</PresentationFormat>
  <Slides>27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AngleLinesVTI</vt:lpstr>
      <vt:lpstr>ENTERPRISE  ACTIVE DIRECTORY ATTACK AND DEFENSE SIMULATION</vt:lpstr>
      <vt:lpstr>Executive summary</vt:lpstr>
      <vt:lpstr>AGENDA</vt:lpstr>
      <vt:lpstr>Lab Baseline (prechecks)</vt:lpstr>
      <vt:lpstr>Preparation &amp; Baseline</vt:lpstr>
      <vt:lpstr>Lab Foundation Recap (Phase 1)</vt:lpstr>
      <vt:lpstr>Attack Roadmap (Red team &amp; blue Team)</vt:lpstr>
      <vt:lpstr>Reconnaissance (Recon)</vt:lpstr>
      <vt:lpstr>Reconnaissance &amp; Initial Access</vt:lpstr>
      <vt:lpstr>Initial Exploitation &amp; Persistence (Exploitation → Persistence)</vt:lpstr>
      <vt:lpstr>Exploitation of Weaknesses</vt:lpstr>
      <vt:lpstr>Lateral Movement</vt:lpstr>
      <vt:lpstr>Privilege Escalation</vt:lpstr>
      <vt:lpstr>persistence</vt:lpstr>
      <vt:lpstr>C2, Data Exfil, &amp; Cleanup (Advanced simulation)</vt:lpstr>
      <vt:lpstr>Exfiltration &amp; Impact Simulation</vt:lpstr>
      <vt:lpstr>The toughest AD/GPO/DNS Challenge (lab centerpiece)</vt:lpstr>
      <vt:lpstr>Blue Team Detection, Playbooks &amp; Reporting</vt:lpstr>
      <vt:lpstr>Blue Team Playbook Development</vt:lpstr>
      <vt:lpstr>Detection &amp; Playbook specifics</vt:lpstr>
      <vt:lpstr>Reporting &amp; Business Alignment</vt:lpstr>
      <vt:lpstr>Tools &amp; mappings / Timeline &amp; sprint plan</vt:lpstr>
      <vt:lpstr>Deliverables (what I WILL produce)</vt:lpstr>
      <vt:lpstr>Framework Alignment</vt:lpstr>
      <vt:lpstr>Hands-On Skills &amp; Certifications Pathway</vt:lpstr>
      <vt:lpstr>SPEAKING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575</cp:revision>
  <dcterms:created xsi:type="dcterms:W3CDTF">2023-12-10T21:10:30Z</dcterms:created>
  <dcterms:modified xsi:type="dcterms:W3CDTF">2025-09-17T03:23:10Z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