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9" r:id="rId2"/>
    <p:sldId id="260" r:id="rId3"/>
    <p:sldId id="261" r:id="rId4"/>
    <p:sldId id="262" r:id="rId5"/>
    <p:sldId id="257" r:id="rId6"/>
    <p:sldId id="258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A584FA-73BB-CB18-00BA-DF86AC4A5866}" v="729" dt="2025-09-09T18:27:30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00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72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578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639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7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37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53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27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3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35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9246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6" r:id="rId6"/>
    <p:sldLayoutId id="2147483731" r:id="rId7"/>
    <p:sldLayoutId id="2147483732" r:id="rId8"/>
    <p:sldLayoutId id="2147483733" r:id="rId9"/>
    <p:sldLayoutId id="2147483735" r:id="rId10"/>
    <p:sldLayoutId id="2147483734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F667B-CE2B-734A-C774-AB63C4A8A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376" y="504514"/>
            <a:ext cx="11198035" cy="1657385"/>
          </a:xfrm>
        </p:spPr>
        <p:txBody>
          <a:bodyPr>
            <a:noAutofit/>
          </a:bodyPr>
          <a:lstStyle/>
          <a:p>
            <a:pPr algn="ctr"/>
            <a:r>
              <a:rPr lang="en-US" sz="4800" b="1" i="0" u="sng" dirty="0">
                <a:latin typeface="Angsana New"/>
                <a:ea typeface="+mj-lt"/>
                <a:cs typeface="+mj-lt"/>
              </a:rPr>
              <a:t>Enterprise Active Directory Security &amp; Networking Lab</a:t>
            </a:r>
            <a:br>
              <a:rPr lang="en-US" sz="4800" b="1" i="0" u="sng" dirty="0">
                <a:latin typeface="Angsana New"/>
                <a:ea typeface="+mj-lt"/>
                <a:cs typeface="+mj-lt"/>
              </a:rPr>
            </a:br>
            <a:r>
              <a:rPr lang="en-US" sz="4800" b="1" i="0" u="sng" dirty="0">
                <a:latin typeface="Angsana New"/>
                <a:ea typeface="+mj-lt"/>
                <a:cs typeface="+mj-lt"/>
              </a:rPr>
              <a:t>(Phase 1 – Defensive Build)</a:t>
            </a:r>
            <a:endParaRPr lang="en-US" sz="4800" b="1" u="sng" dirty="0">
              <a:latin typeface="Angsana New"/>
              <a:cs typeface="Angsana N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7FA76-B957-30B0-1D4B-A79A60BF6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261" y="5737738"/>
            <a:ext cx="11837119" cy="75970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C000"/>
                </a:solidFill>
                <a:latin typeface="Angsana New"/>
                <a:cs typeface="Angsana New"/>
              </a:rPr>
              <a:t>A</a:t>
            </a:r>
            <a:r>
              <a:rPr lang="en-US" sz="2400" b="1" dirty="0">
                <a:solidFill>
                  <a:srgbClr val="FFC000"/>
                </a:solidFill>
                <a:latin typeface="Angsana New"/>
                <a:cs typeface="Angsana New"/>
              </a:rPr>
              <a:t>UTHOR</a:t>
            </a:r>
            <a:r>
              <a:rPr lang="en-US" sz="3600" b="1" dirty="0">
                <a:solidFill>
                  <a:srgbClr val="FFC000"/>
                </a:solidFill>
                <a:latin typeface="Angsana New"/>
                <a:cs typeface="Angsana New"/>
              </a:rPr>
              <a:t>: BASSEY SOLOMON HENRY | Red Team Enthusiast | Cert: Security Engineer</a:t>
            </a:r>
          </a:p>
        </p:txBody>
      </p:sp>
    </p:spTree>
    <p:extLst>
      <p:ext uri="{BB962C8B-B14F-4D97-AF65-F5344CB8AC3E}">
        <p14:creationId xmlns:p14="http://schemas.microsoft.com/office/powerpoint/2010/main" val="326996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8D35-BD1B-A9AF-17E3-3B3578BEA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365125"/>
            <a:ext cx="11536794" cy="1993612"/>
          </a:xfrm>
        </p:spPr>
        <p:txBody>
          <a:bodyPr>
            <a:normAutofit fontScale="90000"/>
          </a:bodyPr>
          <a:lstStyle/>
          <a:p>
            <a:pPr algn="ctr"/>
            <a:r>
              <a:rPr lang="en-US" i="0" u="sng" dirty="0">
                <a:ea typeface="+mj-lt"/>
                <a:cs typeface="+mj-lt"/>
              </a:rPr>
              <a:t>I Built a Simulated Corporate Infrastructure for Cybersecurity Framework Alignment and Offensive-Defensive Testing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1CE96-6741-3852-C556-A1FB3A362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656" y="2517191"/>
            <a:ext cx="11528134" cy="40186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Successfully completed </a:t>
            </a:r>
            <a:r>
              <a:rPr lang="en-US" sz="1800" b="1" dirty="0">
                <a:solidFill>
                  <a:srgbClr val="FFFF00"/>
                </a:solidFill>
                <a:ea typeface="+mn-lt"/>
                <a:cs typeface="+mn-lt"/>
              </a:rPr>
              <a:t>Phase 1: Enterprise Environment Build</a:t>
            </a:r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 — delivering a </a:t>
            </a:r>
            <a:r>
              <a:rPr lang="en-US" sz="1800" b="1" dirty="0">
                <a:solidFill>
                  <a:srgbClr val="FFFF00"/>
                </a:solidFill>
                <a:ea typeface="+mn-lt"/>
                <a:cs typeface="+mn-lt"/>
              </a:rPr>
              <a:t>realistic Active Directory + Networking lab</a:t>
            </a:r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 for future </a:t>
            </a:r>
            <a:r>
              <a:rPr lang="en-US" sz="1800" b="1" dirty="0">
                <a:solidFill>
                  <a:srgbClr val="FFFF00"/>
                </a:solidFill>
                <a:ea typeface="+mn-lt"/>
                <a:cs typeface="+mn-lt"/>
              </a:rPr>
              <a:t>Phase 2 offensive testing</a:t>
            </a:r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. The project demonstrates </a:t>
            </a:r>
            <a:r>
              <a:rPr lang="en-US" sz="1800" b="1" dirty="0">
                <a:solidFill>
                  <a:srgbClr val="FFFF00"/>
                </a:solidFill>
                <a:ea typeface="+mn-lt"/>
                <a:cs typeface="+mn-lt"/>
              </a:rPr>
              <a:t>end-to-end cybersecurity engineering skills</a:t>
            </a:r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: from </a:t>
            </a:r>
            <a:r>
              <a:rPr lang="en-US" sz="1800" b="1" dirty="0">
                <a:solidFill>
                  <a:srgbClr val="FFFF00"/>
                </a:solidFill>
                <a:ea typeface="+mn-lt"/>
                <a:cs typeface="+mn-lt"/>
              </a:rPr>
              <a:t>infrastructure design</a:t>
            </a:r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 to </a:t>
            </a:r>
            <a:r>
              <a:rPr lang="en-US" sz="1800" b="1" dirty="0">
                <a:solidFill>
                  <a:srgbClr val="FFFF00"/>
                </a:solidFill>
                <a:ea typeface="+mn-lt"/>
                <a:cs typeface="+mn-lt"/>
              </a:rPr>
              <a:t>security control implementation</a:t>
            </a:r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, with direct </a:t>
            </a:r>
            <a:r>
              <a:rPr lang="en-US" sz="1800" b="1" dirty="0">
                <a:solidFill>
                  <a:srgbClr val="FFFF00"/>
                </a:solidFill>
                <a:ea typeface="+mn-lt"/>
                <a:cs typeface="+mn-lt"/>
              </a:rPr>
              <a:t>business impact metrics</a:t>
            </a:r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 and alignment to </a:t>
            </a:r>
            <a:r>
              <a:rPr lang="en-US" sz="1800" b="1" dirty="0">
                <a:solidFill>
                  <a:srgbClr val="FFFF00"/>
                </a:solidFill>
                <a:ea typeface="+mn-lt"/>
                <a:cs typeface="+mn-lt"/>
              </a:rPr>
              <a:t>global frameworks</a:t>
            </a:r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.</a:t>
            </a:r>
          </a:p>
          <a:p>
            <a:pPr algn="ctr"/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Built a corporate-style Active Directory environment.</a:t>
            </a:r>
            <a:endParaRPr lang="en-US" sz="1800">
              <a:solidFill>
                <a:srgbClr val="FFFF00"/>
              </a:solidFill>
            </a:endParaRPr>
          </a:p>
          <a:p>
            <a:pPr algn="ctr"/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Windows Server 2019 (Domain Controller + File Server).</a:t>
            </a:r>
            <a:endParaRPr lang="en-US" sz="1800">
              <a:solidFill>
                <a:srgbClr val="FFFF00"/>
              </a:solidFill>
            </a:endParaRPr>
          </a:p>
          <a:p>
            <a:pPr algn="ctr"/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Windows 10 Clients joined to </a:t>
            </a:r>
            <a:r>
              <a:rPr lang="en-US" sz="1800" b="1" dirty="0" err="1">
                <a:solidFill>
                  <a:srgbClr val="FFFF00"/>
                </a:solidFill>
                <a:ea typeface="+mn-lt"/>
                <a:cs typeface="+mn-lt"/>
              </a:rPr>
              <a:t>lab.local</a:t>
            </a:r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 domain.</a:t>
            </a:r>
            <a:endParaRPr lang="en-US" sz="1800">
              <a:solidFill>
                <a:srgbClr val="FFFF00"/>
              </a:solidFill>
            </a:endParaRPr>
          </a:p>
          <a:p>
            <a:pPr algn="ctr"/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Designed as a </a:t>
            </a:r>
            <a:r>
              <a:rPr lang="en-US" sz="1800" b="1" dirty="0">
                <a:solidFill>
                  <a:srgbClr val="FFFF00"/>
                </a:solidFill>
                <a:ea typeface="+mn-lt"/>
                <a:cs typeface="+mn-lt"/>
              </a:rPr>
              <a:t>Blue vs. Red Team cyber range</a:t>
            </a:r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.</a:t>
            </a:r>
            <a:endParaRPr lang="en-US" sz="1800">
              <a:solidFill>
                <a:srgbClr val="FFFF00"/>
              </a:solidFill>
            </a:endParaRPr>
          </a:p>
          <a:p>
            <a:pPr algn="ctr"/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Framework alignment: </a:t>
            </a:r>
            <a:r>
              <a:rPr lang="en-US" sz="1800" b="1" dirty="0">
                <a:solidFill>
                  <a:srgbClr val="FFFF00"/>
                </a:solidFill>
                <a:ea typeface="+mn-lt"/>
                <a:cs typeface="+mn-lt"/>
              </a:rPr>
              <a:t>NIST CSF, MITRE ATT&amp;CK, PCI DSS, CIA Triad</a:t>
            </a:r>
            <a:r>
              <a:rPr lang="en-US" sz="1800" dirty="0">
                <a:solidFill>
                  <a:srgbClr val="FFFF00"/>
                </a:solidFill>
                <a:ea typeface="+mn-lt"/>
                <a:cs typeface="+mn-lt"/>
              </a:rPr>
              <a:t>.</a:t>
            </a:r>
            <a:endParaRPr lang="en-US" sz="1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263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C3CEC-C0BC-DB55-4533-85686F8DA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677" y="157307"/>
            <a:ext cx="6843567" cy="789999"/>
          </a:xfrm>
        </p:spPr>
        <p:txBody>
          <a:bodyPr>
            <a:normAutofit fontScale="90000"/>
          </a:bodyPr>
          <a:lstStyle/>
          <a:p>
            <a:r>
              <a:rPr lang="en-US" sz="4400" i="0" u="sng" dirty="0"/>
              <a:t>CONTENT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DDCA5-9F16-929B-14EE-2C16CD598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657" y="949897"/>
            <a:ext cx="11536790" cy="56033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ea typeface="+mn-lt"/>
                <a:cs typeface="+mn-lt"/>
              </a:rPr>
              <a:t>I now have a </a:t>
            </a:r>
            <a:r>
              <a:rPr lang="en-US" sz="2000" b="1" dirty="0">
                <a:ea typeface="+mn-lt"/>
                <a:cs typeface="+mn-lt"/>
              </a:rPr>
              <a:t>working enterprise-style Active Directory lab</a:t>
            </a:r>
            <a:r>
              <a:rPr lang="en-US" sz="2000" dirty="0">
                <a:ea typeface="+mn-lt"/>
                <a:cs typeface="+mn-lt"/>
              </a:rPr>
              <a:t> that’s realistic enough to run attacker simulations in </a:t>
            </a:r>
            <a:r>
              <a:rPr lang="en-US" sz="2000" b="1" dirty="0">
                <a:ea typeface="+mn-lt"/>
                <a:cs typeface="+mn-lt"/>
              </a:rPr>
              <a:t>Phase 2 (Kali offensive testing)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/>
          </a:p>
          <a:p>
            <a:pPr algn="ctr"/>
            <a:r>
              <a:rPr lang="en-US" sz="2000" b="1" dirty="0">
                <a:ea typeface="+mn-lt"/>
                <a:cs typeface="+mn-lt"/>
              </a:rPr>
              <a:t>Domain Integration (DONE)</a:t>
            </a:r>
            <a:endParaRPr lang="en-US" sz="2000"/>
          </a:p>
          <a:p>
            <a:pPr algn="ctr"/>
            <a:r>
              <a:rPr lang="en-US" sz="2000" b="1" dirty="0">
                <a:ea typeface="+mn-lt"/>
                <a:cs typeface="+mn-lt"/>
              </a:rPr>
              <a:t>Group Policy Engineering (DONE)</a:t>
            </a:r>
            <a:endParaRPr lang="en-US" sz="2000"/>
          </a:p>
          <a:p>
            <a:pPr algn="ctr"/>
            <a:r>
              <a:rPr lang="en-US" sz="2000" b="1" dirty="0">
                <a:ea typeface="+mn-lt"/>
                <a:cs typeface="+mn-lt"/>
              </a:rPr>
              <a:t>File Server Permissions (DONE)</a:t>
            </a:r>
            <a:endParaRPr lang="en-US" sz="2000"/>
          </a:p>
          <a:p>
            <a:pPr algn="ctr"/>
            <a:r>
              <a:rPr lang="en-US" sz="2000" b="1" dirty="0">
                <a:ea typeface="+mn-lt"/>
                <a:cs typeface="+mn-lt"/>
              </a:rPr>
              <a:t>DNS + Reverse Lookup Zone (DONE)</a:t>
            </a:r>
            <a:endParaRPr lang="en-US" sz="2000"/>
          </a:p>
          <a:p>
            <a:pPr algn="ctr"/>
            <a:r>
              <a:rPr lang="en-US" sz="2000" b="1" dirty="0">
                <a:ea typeface="+mn-lt"/>
                <a:cs typeface="+mn-lt"/>
              </a:rPr>
              <a:t>DHCP Scope + Lease verification (DONE)</a:t>
            </a:r>
          </a:p>
          <a:p>
            <a:pPr algn="ctr"/>
            <a:endParaRPr lang="en-US" sz="20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This project simulates how enterprises operate — domains, policies, DNS, DHCP, file servers — everything attackers and defenders face in real life. Phase 1 lays the foundation by building a secured but intentionally vulnerable infrastructure to serve as a training ground for future attacks and detections.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22904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607C-EC80-868D-C14C-31F316FB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880" y="399762"/>
            <a:ext cx="7605569" cy="850611"/>
          </a:xfrm>
        </p:spPr>
        <p:txBody>
          <a:bodyPr/>
          <a:lstStyle/>
          <a:p>
            <a:r>
              <a:rPr lang="en-US" i="0" u="sng" dirty="0">
                <a:ea typeface="+mj-lt"/>
                <a:cs typeface="+mj-lt"/>
              </a:rPr>
              <a:t>PROJECT OVERVIEW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ADFBD-9C91-E6D8-5F6C-738610BF4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064" y="1746533"/>
            <a:ext cx="10913341" cy="44083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I Designed and implemented a </a:t>
            </a:r>
            <a:r>
              <a:rPr lang="en-US" sz="2400" b="1" dirty="0">
                <a:ea typeface="+mn-lt"/>
                <a:cs typeface="+mn-lt"/>
              </a:rPr>
              <a:t>fully functional enterprise Active Directory (AD) Lab</a:t>
            </a:r>
            <a:r>
              <a:rPr lang="en-US" sz="2400" dirty="0">
                <a:ea typeface="+mn-lt"/>
                <a:cs typeface="+mn-lt"/>
              </a:rPr>
              <a:t> to simulate a real-world corporate environment, serving as a foundation for </a:t>
            </a:r>
            <a:r>
              <a:rPr lang="en-US" sz="2400" b="1" dirty="0">
                <a:ea typeface="+mn-lt"/>
                <a:cs typeface="+mn-lt"/>
              </a:rPr>
              <a:t>defensive hardening</a:t>
            </a:r>
            <a:r>
              <a:rPr lang="en-US" sz="2400" dirty="0">
                <a:ea typeface="+mn-lt"/>
                <a:cs typeface="+mn-lt"/>
              </a:rPr>
              <a:t> (Blue Team) and </a:t>
            </a:r>
            <a:r>
              <a:rPr lang="en-US" sz="2400" b="1" dirty="0">
                <a:ea typeface="+mn-lt"/>
                <a:cs typeface="+mn-lt"/>
              </a:rPr>
              <a:t>offensive testing</a:t>
            </a:r>
            <a:r>
              <a:rPr lang="en-US" sz="2400" dirty="0">
                <a:ea typeface="+mn-lt"/>
                <a:cs typeface="+mn-lt"/>
              </a:rPr>
              <a:t> (Red Team). This lab project aligns with </a:t>
            </a:r>
            <a:r>
              <a:rPr lang="en-US" sz="2400" b="1" dirty="0">
                <a:ea typeface="+mn-lt"/>
                <a:cs typeface="+mn-lt"/>
              </a:rPr>
              <a:t>NIST Cybersecurity Framework (CSF)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b="1" dirty="0">
                <a:ea typeface="+mn-lt"/>
                <a:cs typeface="+mn-lt"/>
              </a:rPr>
              <a:t>MITRE ATT&amp;CK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b="1" dirty="0">
                <a:ea typeface="+mn-lt"/>
                <a:cs typeface="+mn-lt"/>
              </a:rPr>
              <a:t>PCI DSS</a:t>
            </a:r>
            <a:r>
              <a:rPr lang="en-US" sz="2400" dirty="0">
                <a:ea typeface="+mn-lt"/>
                <a:cs typeface="+mn-lt"/>
              </a:rPr>
              <a:t>, and </a:t>
            </a:r>
            <a:r>
              <a:rPr lang="en-US" sz="2400" b="1" dirty="0">
                <a:ea typeface="+mn-lt"/>
                <a:cs typeface="+mn-lt"/>
              </a:rPr>
              <a:t>CIA Triad principles</a:t>
            </a:r>
            <a:r>
              <a:rPr lang="en-US" sz="2400" dirty="0">
                <a:ea typeface="+mn-lt"/>
                <a:cs typeface="+mn-lt"/>
              </a:rPr>
              <a:t>, while incorporating deep networking engineering and </a:t>
            </a:r>
            <a:r>
              <a:rPr lang="en-US" sz="2400" b="1" dirty="0">
                <a:ea typeface="+mn-lt"/>
                <a:cs typeface="+mn-lt"/>
              </a:rPr>
              <a:t>OSCP-level attack surfaces</a:t>
            </a:r>
            <a:r>
              <a:rPr lang="en-US" sz="2400" dirty="0">
                <a:ea typeface="+mn-lt"/>
                <a:cs typeface="+mn-lt"/>
              </a:rPr>
              <a:t> to build a </a:t>
            </a:r>
            <a:r>
              <a:rPr lang="en-US" sz="2400" b="1" dirty="0">
                <a:ea typeface="+mn-lt"/>
                <a:cs typeface="+mn-lt"/>
              </a:rPr>
              <a:t>controlled yet realistic training ground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5314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BEFC2-D5F4-58FB-35A9-B29797BFC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062" y="365125"/>
            <a:ext cx="7813387" cy="902566"/>
          </a:xfrm>
        </p:spPr>
        <p:txBody>
          <a:bodyPr/>
          <a:lstStyle/>
          <a:p>
            <a:r>
              <a:rPr lang="en-US" i="0" u="sng" dirty="0">
                <a:ea typeface="+mj-lt"/>
                <a:cs typeface="+mj-lt"/>
              </a:rPr>
              <a:t>DOMAIN INTEGRATION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58F21-DAAB-B0D2-3260-8589690D7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155" y="1521396"/>
            <a:ext cx="11259704" cy="498850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ctr"/>
            <a:r>
              <a:rPr lang="en-US" dirty="0">
                <a:ea typeface="+mn-lt"/>
                <a:cs typeface="+mn-lt"/>
              </a:rPr>
              <a:t>Built a </a:t>
            </a:r>
            <a:r>
              <a:rPr lang="en-US" b="1" dirty="0">
                <a:ea typeface="+mn-lt"/>
                <a:cs typeface="+mn-lt"/>
              </a:rPr>
              <a:t>Windows Server 2019 Domain Controller</a:t>
            </a:r>
            <a:r>
              <a:rPr lang="en-US" dirty="0">
                <a:ea typeface="+mn-lt"/>
                <a:cs typeface="+mn-lt"/>
              </a:rPr>
              <a:t> with </a:t>
            </a:r>
            <a:r>
              <a:rPr lang="en-US" b="1" err="1">
                <a:ea typeface="+mn-lt"/>
                <a:cs typeface="+mn-lt"/>
              </a:rPr>
              <a:t>lab.local</a:t>
            </a:r>
            <a:r>
              <a:rPr lang="en-US" dirty="0">
                <a:ea typeface="+mn-lt"/>
                <a:cs typeface="+mn-lt"/>
              </a:rPr>
              <a:t> domain.</a:t>
            </a:r>
            <a:endParaRPr lang="en-US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Integrated Windows 10 clients into AD with </a:t>
            </a:r>
            <a:r>
              <a:rPr lang="en-US" b="1" dirty="0">
                <a:ea typeface="+mn-lt"/>
                <a:cs typeface="+mn-lt"/>
              </a:rPr>
              <a:t>Group Policy Objects (GPOs)</a:t>
            </a:r>
            <a:r>
              <a:rPr lang="en-US" dirty="0">
                <a:ea typeface="+mn-lt"/>
                <a:cs typeface="+mn-lt"/>
              </a:rPr>
              <a:t> to simulate enterprise policies.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i="1" dirty="0">
                <a:ea typeface="+mn-lt"/>
                <a:cs typeface="+mn-lt"/>
              </a:rPr>
              <a:t>Impact:</a:t>
            </a:r>
            <a:r>
              <a:rPr lang="en-US" dirty="0">
                <a:ea typeface="+mn-lt"/>
                <a:cs typeface="+mn-lt"/>
              </a:rPr>
              <a:t> Created a baseline security and identity framework that mirrors real enterprise identity management systems.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algn="ctr"/>
            <a:r>
              <a:rPr lang="en-US" dirty="0">
                <a:ea typeface="+mn-lt"/>
                <a:cs typeface="+mn-lt"/>
              </a:rPr>
              <a:t>Created </a:t>
            </a:r>
            <a:r>
              <a:rPr lang="en-US" b="1" err="1">
                <a:ea typeface="+mn-lt"/>
                <a:cs typeface="+mn-lt"/>
              </a:rPr>
              <a:t>lab.local</a:t>
            </a:r>
            <a:r>
              <a:rPr lang="en-US" dirty="0">
                <a:ea typeface="+mn-lt"/>
                <a:cs typeface="+mn-lt"/>
              </a:rPr>
              <a:t> Active Directory Domain.</a:t>
            </a:r>
            <a:endParaRPr lang="en-US"/>
          </a:p>
          <a:p>
            <a:pPr algn="ctr"/>
            <a:r>
              <a:rPr lang="en-US" dirty="0">
                <a:ea typeface="+mn-lt"/>
                <a:cs typeface="+mn-lt"/>
              </a:rPr>
              <a:t>Integrated multiple Windows 10 clients into domain.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Enforced central </a:t>
            </a:r>
            <a:r>
              <a:rPr lang="en-US" b="1" dirty="0">
                <a:ea typeface="+mn-lt"/>
                <a:cs typeface="+mn-lt"/>
              </a:rPr>
              <a:t>identity and authentication policies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Enabled </a:t>
            </a:r>
            <a:r>
              <a:rPr lang="en-US" b="1" dirty="0">
                <a:ea typeface="+mn-lt"/>
                <a:cs typeface="+mn-lt"/>
              </a:rPr>
              <a:t>Kerberos authentication</a:t>
            </a:r>
            <a:r>
              <a:rPr lang="en-US" dirty="0">
                <a:ea typeface="+mn-lt"/>
                <a:cs typeface="+mn-lt"/>
              </a:rPr>
              <a:t> across services.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Impact: Identity centralization, baseline for enterprise security.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Identity is the backbone of enterprise security. By setting up AD and integrating clients, I created an enterprise baseline where authentication is handled through Kerberos. This mirrors how attackers pivot with </a:t>
            </a:r>
            <a:r>
              <a:rPr lang="en-US" b="1" err="1">
                <a:ea typeface="+mn-lt"/>
                <a:cs typeface="+mn-lt"/>
              </a:rPr>
              <a:t>Kerberoasting</a:t>
            </a:r>
            <a:r>
              <a:rPr lang="en-US" b="1" dirty="0">
                <a:ea typeface="+mn-lt"/>
                <a:cs typeface="+mn-lt"/>
              </a:rPr>
              <a:t> or Pass-the-Hash — giving us a realistic training ground.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15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263B-8004-3BB8-CDDF-811B6DFC6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063" y="165966"/>
            <a:ext cx="8558068" cy="746703"/>
          </a:xfrm>
        </p:spPr>
        <p:txBody>
          <a:bodyPr>
            <a:normAutofit fontScale="90000"/>
          </a:bodyPr>
          <a:lstStyle/>
          <a:p>
            <a:r>
              <a:rPr lang="en-US" b="1" i="0" u="sng" dirty="0">
                <a:latin typeface="Consolas"/>
              </a:rPr>
              <a:t>GROUP POLICY (GPO) ENGINEERING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0ABF9-500F-52CC-82A6-8454F8D12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73" y="1053806"/>
            <a:ext cx="11623385" cy="562061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u="sng" dirty="0">
                <a:ea typeface="+mn-lt"/>
                <a:cs typeface="+mn-lt"/>
              </a:rPr>
              <a:t>Designed and deployed </a:t>
            </a:r>
            <a:r>
              <a:rPr lang="en-US" sz="2000" b="1" u="sng" dirty="0">
                <a:ea typeface="+mn-lt"/>
                <a:cs typeface="+mn-lt"/>
              </a:rPr>
              <a:t>OU-based GPOs</a:t>
            </a:r>
            <a:r>
              <a:rPr lang="en-US" sz="2000" u="sng">
                <a:ea typeface="+mn-lt"/>
                <a:cs typeface="+mn-lt"/>
              </a:rPr>
              <a:t> to enforce.</a:t>
            </a:r>
            <a:endParaRPr lang="en-US" u="sng"/>
          </a:p>
          <a:p>
            <a:pPr algn="ctr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User restrictions (Control Panel, environment setup).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Computer policies (firewall domain profile, RDP enabled as intentional </a:t>
            </a:r>
            <a:r>
              <a:rPr lang="en-US" sz="2000" err="1">
                <a:ea typeface="+mn-lt"/>
                <a:cs typeface="+mn-lt"/>
              </a:rPr>
              <a:t>misconfig</a:t>
            </a:r>
            <a:r>
              <a:rPr lang="en-US" sz="2000" dirty="0">
                <a:ea typeface="+mn-lt"/>
                <a:cs typeface="+mn-lt"/>
              </a:rPr>
              <a:t>, SMB restrictions).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Auditing &amp; logging (logon/logoff, privilege use, file access).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Balanced </a:t>
            </a:r>
            <a:r>
              <a:rPr lang="en-US" sz="2000" b="1" dirty="0">
                <a:ea typeface="+mn-lt"/>
                <a:cs typeface="+mn-lt"/>
              </a:rPr>
              <a:t>hardening vs. intentional misconfigurations</a:t>
            </a:r>
            <a:r>
              <a:rPr lang="en-US" sz="2000" dirty="0">
                <a:ea typeface="+mn-lt"/>
                <a:cs typeface="+mn-lt"/>
              </a:rPr>
              <a:t> to create realistic detection opportunities (Blue vs. Red Team).</a:t>
            </a:r>
            <a:endParaRPr lang="en-US" dirty="0"/>
          </a:p>
          <a:p>
            <a:pPr marL="0" indent="0" algn="ctr">
              <a:buNone/>
            </a:pPr>
            <a:r>
              <a:rPr lang="en-US" sz="2000" u="sng" dirty="0">
                <a:ea typeface="+mn-lt"/>
                <a:cs typeface="+mn-lt"/>
              </a:rPr>
              <a:t>Designed OU structure (Users vs. Computers)</a:t>
            </a:r>
            <a:endParaRPr lang="en-US" sz="2000" u="sng" dirty="0"/>
          </a:p>
          <a:p>
            <a:pPr algn="ctr"/>
            <a:r>
              <a:rPr lang="en-US" sz="2000" dirty="0">
                <a:ea typeface="+mn-lt"/>
                <a:cs typeface="+mn-lt"/>
              </a:rPr>
              <a:t>Applied </a:t>
            </a:r>
            <a:r>
              <a:rPr lang="en-US" sz="2000" b="1" dirty="0">
                <a:ea typeface="+mn-lt"/>
                <a:cs typeface="+mn-lt"/>
              </a:rPr>
              <a:t>User Restrictions</a:t>
            </a:r>
            <a:r>
              <a:rPr lang="en-US" sz="2000" dirty="0">
                <a:ea typeface="+mn-lt"/>
                <a:cs typeface="+mn-lt"/>
              </a:rPr>
              <a:t> (control panel, environment).</a:t>
            </a:r>
            <a:endParaRPr lang="en-US" sz="2000"/>
          </a:p>
          <a:p>
            <a:pPr algn="ctr"/>
            <a:r>
              <a:rPr lang="en-US" sz="2000" dirty="0">
                <a:ea typeface="+mn-lt"/>
                <a:cs typeface="+mn-lt"/>
              </a:rPr>
              <a:t>Applied </a:t>
            </a:r>
            <a:r>
              <a:rPr lang="en-US" sz="2000" b="1" dirty="0">
                <a:ea typeface="+mn-lt"/>
                <a:cs typeface="+mn-lt"/>
              </a:rPr>
              <a:t>Computer Policies</a:t>
            </a:r>
            <a:r>
              <a:rPr lang="en-US" sz="2000" dirty="0">
                <a:ea typeface="+mn-lt"/>
                <a:cs typeface="+mn-lt"/>
              </a:rPr>
              <a:t> (firewall on, RDP open as intentional </a:t>
            </a:r>
            <a:r>
              <a:rPr lang="en-US" sz="2000" err="1">
                <a:ea typeface="+mn-lt"/>
                <a:cs typeface="+mn-lt"/>
              </a:rPr>
              <a:t>misconfig</a:t>
            </a:r>
            <a:r>
              <a:rPr lang="en-US" sz="2000" dirty="0">
                <a:ea typeface="+mn-lt"/>
                <a:cs typeface="+mn-lt"/>
              </a:rPr>
              <a:t>).</a:t>
            </a:r>
            <a:endParaRPr lang="en-US" sz="2000"/>
          </a:p>
          <a:p>
            <a:pPr algn="ctr"/>
            <a:r>
              <a:rPr lang="en-US" sz="2000" dirty="0">
                <a:ea typeface="+mn-lt"/>
                <a:cs typeface="+mn-lt"/>
              </a:rPr>
              <a:t>Expanded log sizes + auditing (logon, privilege use, object access).</a:t>
            </a:r>
            <a:endParaRPr lang="en-US" sz="2000"/>
          </a:p>
          <a:p>
            <a:pPr algn="ctr"/>
            <a:r>
              <a:rPr lang="en-US" sz="2000" dirty="0">
                <a:ea typeface="+mn-lt"/>
                <a:cs typeface="+mn-lt"/>
              </a:rPr>
              <a:t>Impact: </a:t>
            </a:r>
            <a:r>
              <a:rPr lang="en-US" sz="2000" b="1" dirty="0">
                <a:ea typeface="+mn-lt"/>
                <a:cs typeface="+mn-lt"/>
              </a:rPr>
              <a:t>Hardening + built-in </a:t>
            </a:r>
            <a:r>
              <a:rPr lang="en-US" sz="2000" b="1" err="1">
                <a:ea typeface="+mn-lt"/>
                <a:cs typeface="+mn-lt"/>
              </a:rPr>
              <a:t>misconfigs</a:t>
            </a:r>
            <a:r>
              <a:rPr lang="en-US" sz="2000" dirty="0">
                <a:ea typeface="+mn-lt"/>
                <a:cs typeface="+mn-lt"/>
              </a:rPr>
              <a:t> for Red Team practice.</a:t>
            </a:r>
            <a:endParaRPr lang="en-US" sz="2000"/>
          </a:p>
          <a:p>
            <a:pPr marL="0" indent="0">
              <a:buNone/>
            </a:pP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GPOs are where security happens in real enterprises. I balanced Blue Team hardening with intentional misconfigurations, like enabling RDP and blank local admin passwords, to make the lab realistic. This also aligns with MITRE ATT&amp;CK techniques like T1078 (Valid Accounts).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89507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22D0-1DA6-7702-AC0E-E045DB426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427" y="209262"/>
            <a:ext cx="8610022" cy="729384"/>
          </a:xfrm>
        </p:spPr>
        <p:txBody>
          <a:bodyPr>
            <a:normAutofit fontScale="90000"/>
          </a:bodyPr>
          <a:lstStyle/>
          <a:p>
            <a:r>
              <a:rPr lang="en-US" i="0" u="sng" dirty="0">
                <a:ea typeface="+mj-lt"/>
                <a:cs typeface="+mj-lt"/>
              </a:rPr>
              <a:t>File Server Permissions (RBAC)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FFD63-D4A9-4C42-35B9-540F8D00A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10" y="1062464"/>
            <a:ext cx="11467521" cy="54474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Configured </a:t>
            </a:r>
            <a:r>
              <a:rPr lang="en-US" b="1" dirty="0">
                <a:ea typeface="+mn-lt"/>
                <a:cs typeface="+mn-lt"/>
              </a:rPr>
              <a:t>role-based access control (RBAC)</a:t>
            </a:r>
            <a:r>
              <a:rPr lang="en-US" dirty="0">
                <a:ea typeface="+mn-lt"/>
                <a:cs typeface="+mn-lt"/>
              </a:rPr>
              <a:t> on a File Server using </a:t>
            </a:r>
            <a:r>
              <a:rPr lang="en-US" b="1" dirty="0">
                <a:ea typeface="+mn-lt"/>
                <a:cs typeface="+mn-lt"/>
              </a:rPr>
              <a:t>NTFS &amp; Share Permissions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Simulated least privilege principle (CIA Triad: Confidentiality &amp; Integrity) with intentional privilege escalation paths.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Provided measurable scenarios for </a:t>
            </a:r>
            <a:r>
              <a:rPr lang="en-US" b="1" dirty="0">
                <a:ea typeface="+mn-lt"/>
                <a:cs typeface="+mn-lt"/>
              </a:rPr>
              <a:t>data protection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misuse detection</a:t>
            </a:r>
            <a:r>
              <a:rPr lang="en-US" dirty="0">
                <a:ea typeface="+mn-lt"/>
                <a:cs typeface="+mn-lt"/>
              </a:rPr>
              <a:t>, aligning with </a:t>
            </a:r>
            <a:r>
              <a:rPr lang="en-US" b="1" dirty="0">
                <a:ea typeface="+mn-lt"/>
                <a:cs typeface="+mn-lt"/>
              </a:rPr>
              <a:t>PCI DSS</a:t>
            </a:r>
            <a:r>
              <a:rPr lang="en-US" dirty="0">
                <a:ea typeface="+mn-lt"/>
                <a:cs typeface="+mn-lt"/>
              </a:rPr>
              <a:t> requirements.</a:t>
            </a:r>
            <a:endParaRPr lang="en-US" dirty="0"/>
          </a:p>
          <a:p>
            <a:pPr marL="0" indent="0" algn="ctr">
              <a:buNone/>
            </a:pPr>
            <a:r>
              <a:rPr lang="en-US" u="sng" dirty="0">
                <a:ea typeface="+mn-lt"/>
                <a:cs typeface="+mn-lt"/>
              </a:rPr>
              <a:t>Deployed </a:t>
            </a:r>
            <a:r>
              <a:rPr lang="en-US" b="1" u="sng" dirty="0">
                <a:ea typeface="+mn-lt"/>
                <a:cs typeface="+mn-lt"/>
              </a:rPr>
              <a:t>File Server role</a:t>
            </a:r>
            <a:r>
              <a:rPr lang="en-US" u="sng" dirty="0">
                <a:ea typeface="+mn-lt"/>
                <a:cs typeface="+mn-lt"/>
              </a:rPr>
              <a:t> with NTFS + Share permissions.</a:t>
            </a:r>
            <a:endParaRPr lang="en-US" u="sng" dirty="0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Configured </a:t>
            </a:r>
            <a:r>
              <a:rPr lang="en-US" b="1" dirty="0">
                <a:ea typeface="+mn-lt"/>
                <a:cs typeface="+mn-lt"/>
              </a:rPr>
              <a:t>Role-Based Access Control (RBAC)</a:t>
            </a:r>
            <a:r>
              <a:rPr lang="en-US" dirty="0">
                <a:ea typeface="+mn-lt"/>
                <a:cs typeface="+mn-lt"/>
              </a:rPr>
              <a:t> to enforce least privilege.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Segregated access for HR, Finance, and IT folders.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Added </a:t>
            </a:r>
            <a:r>
              <a:rPr lang="en-US" b="1" dirty="0">
                <a:ea typeface="+mn-lt"/>
                <a:cs typeface="+mn-lt"/>
              </a:rPr>
              <a:t>intentional privilege escalation paths</a:t>
            </a:r>
            <a:r>
              <a:rPr lang="en-US" dirty="0">
                <a:ea typeface="+mn-lt"/>
                <a:cs typeface="+mn-lt"/>
              </a:rPr>
              <a:t> for attack simulation.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PCI DSS-aligned access control</a:t>
            </a:r>
            <a:r>
              <a:rPr lang="en-US" dirty="0">
                <a:ea typeface="+mn-lt"/>
                <a:cs typeface="+mn-lt"/>
              </a:rPr>
              <a:t> + exploitable </a:t>
            </a:r>
            <a:r>
              <a:rPr lang="en-US" dirty="0" err="1">
                <a:ea typeface="+mn-lt"/>
                <a:cs typeface="+mn-lt"/>
              </a:rPr>
              <a:t>misconfig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0" indent="0" algn="ctr">
              <a:buNone/>
            </a:pPr>
            <a:r>
              <a:rPr lang="en-US" b="1" dirty="0">
                <a:ea typeface="+mn-lt"/>
                <a:cs typeface="+mn-lt"/>
              </a:rPr>
              <a:t>Data is what attackers are after. I built a File Server that simulates both best practice RBAC for compliance (PCI DSS, SOX) and exploitable </a:t>
            </a:r>
            <a:r>
              <a:rPr lang="en-US" b="1" dirty="0" err="1">
                <a:ea typeface="+mn-lt"/>
                <a:cs typeface="+mn-lt"/>
              </a:rPr>
              <a:t>misconfigs</a:t>
            </a:r>
            <a:r>
              <a:rPr lang="en-US" b="1" dirty="0">
                <a:ea typeface="+mn-lt"/>
                <a:cs typeface="+mn-lt"/>
              </a:rPr>
              <a:t> for Red Team. This lets us measure the gap between intended security and what attackers exploit.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6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AC70-2767-3DC0-E376-92B35FC1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881" y="157307"/>
            <a:ext cx="7986568" cy="764021"/>
          </a:xfrm>
        </p:spPr>
        <p:txBody>
          <a:bodyPr>
            <a:normAutofit/>
          </a:bodyPr>
          <a:lstStyle/>
          <a:p>
            <a:r>
              <a:rPr lang="en-US" i="0" u="sng" dirty="0">
                <a:ea typeface="+mj-lt"/>
                <a:cs typeface="+mj-lt"/>
              </a:rPr>
              <a:t>DNS &amp; DHCP SERVICES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1B77-63E3-AA9C-B150-9B7AEE5E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657" y="915260"/>
            <a:ext cx="11571429" cy="574184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u="sng">
                <a:ea typeface="+mn-lt"/>
                <a:cs typeface="+mn-lt"/>
              </a:rPr>
              <a:t>Configured </a:t>
            </a:r>
            <a:r>
              <a:rPr lang="en-US" b="1" u="sng">
                <a:ea typeface="+mn-lt"/>
                <a:cs typeface="+mn-lt"/>
              </a:rPr>
              <a:t>internal DNS zones (Forward + Reverse)</a:t>
            </a:r>
            <a:r>
              <a:rPr lang="en-US" u="sng">
                <a:ea typeface="+mn-lt"/>
                <a:cs typeface="+mn-lt"/>
              </a:rPr>
              <a:t> to ensure </a:t>
            </a:r>
            <a:r>
              <a:rPr lang="en-US" b="1" u="sng">
                <a:ea typeface="+mn-lt"/>
                <a:cs typeface="+mn-lt"/>
              </a:rPr>
              <a:t>name resolution</a:t>
            </a:r>
            <a:r>
              <a:rPr lang="en-US" u="sng">
                <a:ea typeface="+mn-lt"/>
                <a:cs typeface="+mn-lt"/>
              </a:rPr>
              <a:t> within the domain.</a:t>
            </a:r>
            <a:endParaRPr lang="en-US" u="sng"/>
          </a:p>
          <a:p>
            <a:pPr algn="ctr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Deployed </a:t>
            </a:r>
            <a:r>
              <a:rPr lang="en-US" b="1">
                <a:ea typeface="+mn-lt"/>
                <a:cs typeface="+mn-lt"/>
              </a:rPr>
              <a:t>DHCP Server on </a:t>
            </a:r>
            <a:r>
              <a:rPr lang="en-US" b="1" err="1">
                <a:ea typeface="+mn-lt"/>
                <a:cs typeface="+mn-lt"/>
              </a:rPr>
              <a:t>FileServer</a:t>
            </a:r>
            <a:r>
              <a:rPr lang="en-US">
                <a:ea typeface="+mn-lt"/>
                <a:cs typeface="+mn-lt"/>
              </a:rPr>
              <a:t> with proper lease ranges, exclusion lists, and client reservations.</a:t>
            </a:r>
            <a:endParaRPr lang="en-US"/>
          </a:p>
          <a:p>
            <a:pPr algn="ctr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Verified successful dynamic DNS registration and address leasing by Client01.lab.local.</a:t>
            </a:r>
            <a:endParaRPr lang="en-US"/>
          </a:p>
          <a:p>
            <a:pPr algn="ctr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Enabled centralized </a:t>
            </a:r>
            <a:r>
              <a:rPr lang="en-US" b="1" dirty="0">
                <a:ea typeface="+mn-lt"/>
                <a:cs typeface="+mn-lt"/>
              </a:rPr>
              <a:t>IP management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network visibility</a:t>
            </a:r>
            <a:r>
              <a:rPr lang="en-US" dirty="0">
                <a:ea typeface="+mn-lt"/>
                <a:cs typeface="+mn-lt"/>
              </a:rPr>
              <a:t>, aligning with </a:t>
            </a:r>
            <a:r>
              <a:rPr lang="en-US" b="1" dirty="0">
                <a:ea typeface="+mn-lt"/>
                <a:cs typeface="+mn-lt"/>
              </a:rPr>
              <a:t>NIST CSF Identify &amp; Protect functions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 algn="ctr">
              <a:buNone/>
            </a:pPr>
            <a:r>
              <a:rPr lang="en-US" u="sng" dirty="0">
                <a:ea typeface="+mn-lt"/>
                <a:cs typeface="+mn-lt"/>
              </a:rPr>
              <a:t>Configured </a:t>
            </a:r>
            <a:r>
              <a:rPr lang="en-US" b="1" u="sng" dirty="0">
                <a:ea typeface="+mn-lt"/>
                <a:cs typeface="+mn-lt"/>
              </a:rPr>
              <a:t>Forward &amp; Reverse Lookup Zones</a:t>
            </a:r>
            <a:r>
              <a:rPr lang="en-US" u="sng" dirty="0">
                <a:ea typeface="+mn-lt"/>
                <a:cs typeface="+mn-lt"/>
              </a:rPr>
              <a:t> for </a:t>
            </a:r>
            <a:r>
              <a:rPr lang="en-US" u="sng" dirty="0" err="1">
                <a:ea typeface="+mn-lt"/>
                <a:cs typeface="+mn-lt"/>
              </a:rPr>
              <a:t>lab.local</a:t>
            </a:r>
            <a:r>
              <a:rPr lang="en-US" u="sng" dirty="0">
                <a:ea typeface="+mn-lt"/>
                <a:cs typeface="+mn-lt"/>
              </a:rPr>
              <a:t>.</a:t>
            </a:r>
            <a:endParaRPr lang="en-US" u="sng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Deployed DHCP scope </a:t>
            </a:r>
            <a:r>
              <a:rPr lang="en-US" dirty="0"/>
              <a:t>192.168.56.** – 192.168.56</a:t>
            </a:r>
            <a:r>
              <a:rPr lang="en-US" dirty="0">
                <a:ea typeface="+mn-lt"/>
                <a:cs typeface="+mn-lt"/>
              </a:rPr>
              <a:t>.***.</a:t>
            </a:r>
            <a:endParaRPr lang="en-US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Verified dynamic leasing (Client01.lab.local → 192.168.56.**).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Dual adapter design:</a:t>
            </a:r>
            <a:endParaRPr lang="en-US" dirty="0"/>
          </a:p>
          <a:p>
            <a:pPr marL="742950" lvl="1" indent="-285750" algn="ctr">
              <a:buFont typeface="Consolas"/>
              <a:buChar char="+"/>
            </a:pPr>
            <a:r>
              <a:rPr lang="en-US" dirty="0">
                <a:ea typeface="+mn-lt"/>
                <a:cs typeface="+mn-lt"/>
              </a:rPr>
              <a:t>Host-Only for isolated lab traffic.</a:t>
            </a:r>
            <a:endParaRPr lang="en-US" dirty="0"/>
          </a:p>
          <a:p>
            <a:pPr marL="742950" lvl="1" indent="-285750" algn="ctr">
              <a:buFont typeface="Consolas"/>
              <a:buChar char="+"/>
            </a:pPr>
            <a:r>
              <a:rPr lang="en-US" dirty="0">
                <a:ea typeface="+mn-lt"/>
                <a:cs typeface="+mn-lt"/>
              </a:rPr>
              <a:t>Bridged for optional internet.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Automated </a:t>
            </a:r>
            <a:r>
              <a:rPr lang="en-US" b="1" dirty="0">
                <a:ea typeface="+mn-lt"/>
                <a:cs typeface="+mn-lt"/>
              </a:rPr>
              <a:t>address + name resolution</a:t>
            </a:r>
            <a:r>
              <a:rPr lang="en-US" dirty="0">
                <a:ea typeface="+mn-lt"/>
                <a:cs typeface="+mn-lt"/>
              </a:rPr>
              <a:t>, zero-trust segmentation.</a:t>
            </a:r>
          </a:p>
          <a:p>
            <a:pPr marL="0" indent="0" algn="ctr">
              <a:buNone/>
            </a:pPr>
            <a:r>
              <a:rPr lang="en-US" b="1" dirty="0">
                <a:ea typeface="+mn-lt"/>
                <a:cs typeface="+mn-lt"/>
              </a:rPr>
              <a:t>DNS and DHCP are often overlooked, yet they are the backbone of enterprise networking. By centralizing IP management and enabling reverse lookup zones, I ensured proper resolution inside the lab. This is also where attackers abuse techniques like DNS Tunneling or DHCP spoofing.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189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8E2CF-73F9-13D5-999E-E16C28EC4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336" y="191944"/>
            <a:ext cx="8125113" cy="798656"/>
          </a:xfrm>
        </p:spPr>
        <p:txBody>
          <a:bodyPr>
            <a:normAutofit/>
          </a:bodyPr>
          <a:lstStyle/>
          <a:p>
            <a:r>
              <a:rPr lang="en-US" i="0" u="sng" dirty="0">
                <a:ea typeface="+mj-lt"/>
                <a:cs typeface="+mj-lt"/>
              </a:rPr>
              <a:t>TECHNICAL PROBLEM SOLVING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D0C96-3896-08A1-770B-9179C3580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73" y="984533"/>
            <a:ext cx="11623385" cy="56812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en-US" b="1" u="sng" dirty="0">
                <a:ea typeface="+mn-lt"/>
                <a:cs typeface="+mn-lt"/>
              </a:rPr>
              <a:t>Networking Engineering</a:t>
            </a:r>
            <a:endParaRPr lang="en-US" u="sng" dirty="0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Designed a </a:t>
            </a:r>
            <a:r>
              <a:rPr lang="en-US" b="1" dirty="0">
                <a:ea typeface="+mn-lt"/>
                <a:cs typeface="+mn-lt"/>
              </a:rPr>
              <a:t>dual-adapter topology in VirtualBox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742950" lvl="1" indent="-285750" algn="ctr">
              <a:buFont typeface="Consolas"/>
              <a:buChar char="+"/>
            </a:pPr>
            <a:r>
              <a:rPr lang="en-US" b="1" dirty="0">
                <a:ea typeface="+mn-lt"/>
                <a:cs typeface="+mn-lt"/>
              </a:rPr>
              <a:t>Adapter 1 (Host-Only):</a:t>
            </a:r>
            <a:r>
              <a:rPr lang="en-US" dirty="0">
                <a:ea typeface="+mn-lt"/>
                <a:cs typeface="+mn-lt"/>
              </a:rPr>
              <a:t> Internal lab traffic isolated at 192.168.56.x.</a:t>
            </a:r>
            <a:endParaRPr lang="en-US" dirty="0"/>
          </a:p>
          <a:p>
            <a:pPr marL="742950" lvl="1" indent="-285750" algn="ctr">
              <a:buFont typeface="Consolas"/>
              <a:buChar char="+"/>
            </a:pPr>
            <a:r>
              <a:rPr lang="en-US" b="1" dirty="0">
                <a:ea typeface="+mn-lt"/>
                <a:cs typeface="+mn-lt"/>
              </a:rPr>
              <a:t>Adapter 2 (Bridged):</a:t>
            </a:r>
            <a:r>
              <a:rPr lang="en-US" dirty="0">
                <a:ea typeface="+mn-lt"/>
                <a:cs typeface="+mn-lt"/>
              </a:rPr>
              <a:t> Optional internet access via ISP router (192.168.1.x).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Configured </a:t>
            </a:r>
            <a:r>
              <a:rPr lang="en-US" b="1" dirty="0">
                <a:ea typeface="+mn-lt"/>
                <a:cs typeface="+mn-lt"/>
              </a:rPr>
              <a:t>adapter metrics</a:t>
            </a:r>
            <a:r>
              <a:rPr lang="en-US" dirty="0">
                <a:ea typeface="+mn-lt"/>
                <a:cs typeface="+mn-lt"/>
              </a:rPr>
              <a:t> to prioritize AD/DNS lookups even with external internet enabled.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Achieved </a:t>
            </a:r>
            <a:r>
              <a:rPr lang="en-US" b="1" dirty="0">
                <a:ea typeface="+mn-lt"/>
                <a:cs typeface="+mn-lt"/>
              </a:rPr>
              <a:t>network segmentation</a:t>
            </a:r>
            <a:r>
              <a:rPr lang="en-US" dirty="0">
                <a:ea typeface="+mn-lt"/>
                <a:cs typeface="+mn-lt"/>
              </a:rPr>
              <a:t>, a critical </a:t>
            </a:r>
            <a:r>
              <a:rPr lang="en-US" b="1" dirty="0">
                <a:ea typeface="+mn-lt"/>
                <a:cs typeface="+mn-lt"/>
              </a:rPr>
              <a:t>zero-trust strategy</a:t>
            </a:r>
            <a:r>
              <a:rPr lang="en-US" dirty="0">
                <a:ea typeface="+mn-lt"/>
                <a:cs typeface="+mn-lt"/>
              </a:rPr>
              <a:t> ensuring controlled lab traffic while allowing on-demand internet access.</a:t>
            </a:r>
            <a:endParaRPr lang="en-US" dirty="0"/>
          </a:p>
          <a:p>
            <a:pPr marL="0" indent="0" algn="ctr">
              <a:buNone/>
            </a:pPr>
            <a:r>
              <a:rPr lang="en-US" u="sng" dirty="0">
                <a:ea typeface="+mn-lt"/>
                <a:cs typeface="+mn-lt"/>
              </a:rPr>
              <a:t>Fixed </a:t>
            </a:r>
            <a:r>
              <a:rPr lang="en-US" b="1" u="sng" dirty="0">
                <a:ea typeface="+mn-lt"/>
                <a:cs typeface="+mn-lt"/>
              </a:rPr>
              <a:t>VirtualBox kernel driver errors</a:t>
            </a:r>
            <a:r>
              <a:rPr lang="en-US" u="sng" dirty="0">
                <a:ea typeface="+mn-lt"/>
                <a:cs typeface="+mn-lt"/>
              </a:rPr>
              <a:t> via DKMS rebuild.</a:t>
            </a:r>
            <a:endParaRPr lang="en-US" u="sng" dirty="0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Debugged Splunk Forwarder traffic → pivoted to log ingestion.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Resolved DHCP scope conflicts &amp; dynamic leasing verification.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Troubleshot DNS lookup failures → enabled reverse lookup zone.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Demonstrated </a:t>
            </a:r>
            <a:r>
              <a:rPr lang="en-US" b="1" dirty="0">
                <a:ea typeface="+mn-lt"/>
                <a:cs typeface="+mn-lt"/>
              </a:rPr>
              <a:t>resilience, deep troubleshooting &amp; adaptability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0" indent="0" algn="ctr">
              <a:buNone/>
            </a:pPr>
            <a:r>
              <a:rPr lang="en-US" b="1" dirty="0">
                <a:ea typeface="+mn-lt"/>
                <a:cs typeface="+mn-lt"/>
              </a:rPr>
              <a:t>This project wasn’t smooth — and that’s the point. I faced VirtualBox crashes, DHCP conflicts, DNS failures, Splunk issues. Instead of giving up, I adapted. This shows recruiters and hiring managers my ability to troubleshoot under pressure and deliver results.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37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B124-196B-0C24-EC57-C05AFC8EF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672"/>
            <a:ext cx="11398249" cy="1300885"/>
          </a:xfrm>
        </p:spPr>
        <p:txBody>
          <a:bodyPr>
            <a:normAutofit fontScale="90000"/>
          </a:bodyPr>
          <a:lstStyle/>
          <a:p>
            <a:pPr algn="ctr"/>
            <a:r>
              <a:rPr lang="en-US" i="0" u="sng" dirty="0">
                <a:ea typeface="+mj-lt"/>
                <a:cs typeface="+mj-lt"/>
              </a:rPr>
              <a:t>Technical Problem-Solving &amp; Troubleshooting Journey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0EC31-4F67-B7B4-79AD-270FD0054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996" y="1400169"/>
            <a:ext cx="11554113" cy="528291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2400" dirty="0">
                <a:ea typeface="+mn-lt"/>
                <a:cs typeface="+mn-lt"/>
              </a:rPr>
              <a:t>Resolved </a:t>
            </a:r>
            <a:r>
              <a:rPr lang="en-US" sz="2400" b="1" dirty="0">
                <a:ea typeface="+mn-lt"/>
                <a:cs typeface="+mn-lt"/>
              </a:rPr>
              <a:t>VirtualBox kernel driver crashes</a:t>
            </a:r>
            <a:r>
              <a:rPr lang="en-US" sz="2400" dirty="0">
                <a:ea typeface="+mn-lt"/>
                <a:cs typeface="+mn-lt"/>
              </a:rPr>
              <a:t> (</a:t>
            </a:r>
            <a:r>
              <a:rPr lang="en-US" sz="2400" err="1"/>
              <a:t>vboxdrv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err="1"/>
              <a:t>vboxnetflt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err="1"/>
              <a:t>vboxnetadp</a:t>
            </a:r>
            <a:r>
              <a:rPr lang="en-US" sz="2400" dirty="0">
                <a:ea typeface="+mn-lt"/>
                <a:cs typeface="+mn-lt"/>
              </a:rPr>
              <a:t>) on Kali host by rebuilding DKMS modules and signing kernel drivers.</a:t>
            </a:r>
            <a:endParaRPr lang="en-US" sz="2400" dirty="0"/>
          </a:p>
          <a:p>
            <a:pPr algn="ctr"/>
            <a:r>
              <a:rPr lang="en-US" sz="2400" dirty="0">
                <a:ea typeface="+mn-lt"/>
                <a:cs typeface="+mn-lt"/>
              </a:rPr>
              <a:t>Debugged </a:t>
            </a:r>
            <a:r>
              <a:rPr lang="en-US" sz="2400" b="1" dirty="0">
                <a:ea typeface="+mn-lt"/>
                <a:cs typeface="+mn-lt"/>
              </a:rPr>
              <a:t>Splunk Universal Forwarder connectivity</a:t>
            </a:r>
            <a:r>
              <a:rPr lang="en-US" sz="2400" dirty="0">
                <a:ea typeface="+mn-lt"/>
                <a:cs typeface="+mn-lt"/>
              </a:rPr>
              <a:t> to </a:t>
            </a:r>
            <a:r>
              <a:rPr lang="en-US" sz="2400" dirty="0"/>
              <a:t>192.168.**.1:9997</a:t>
            </a:r>
            <a:r>
              <a:rPr lang="en-US" sz="2400" dirty="0">
                <a:ea typeface="+mn-lt"/>
                <a:cs typeface="+mn-lt"/>
              </a:rPr>
              <a:t>, pivoting to direct log ingestion strategy to save time and focus on core Phase 1 deliverables.</a:t>
            </a:r>
            <a:endParaRPr lang="en-US" sz="2400" dirty="0"/>
          </a:p>
          <a:p>
            <a:pPr algn="ctr"/>
            <a:r>
              <a:rPr lang="en-US" sz="2400" dirty="0">
                <a:ea typeface="+mn-lt"/>
                <a:cs typeface="+mn-lt"/>
              </a:rPr>
              <a:t>Overcame </a:t>
            </a:r>
            <a:r>
              <a:rPr lang="en-US" sz="2400" b="1" dirty="0">
                <a:ea typeface="+mn-lt"/>
                <a:cs typeface="+mn-lt"/>
              </a:rPr>
              <a:t>DHCP address conflicts</a:t>
            </a:r>
            <a:r>
              <a:rPr lang="en-US" sz="2400" dirty="0">
                <a:ea typeface="+mn-lt"/>
                <a:cs typeface="+mn-lt"/>
              </a:rPr>
              <a:t> and ensured </a:t>
            </a:r>
            <a:r>
              <a:rPr lang="en-US" sz="2400" b="1" dirty="0">
                <a:ea typeface="+mn-lt"/>
                <a:cs typeface="+mn-lt"/>
              </a:rPr>
              <a:t>dynamic leasing validation</a:t>
            </a:r>
            <a:r>
              <a:rPr lang="en-US" sz="2400" dirty="0">
                <a:ea typeface="+mn-lt"/>
                <a:cs typeface="+mn-lt"/>
              </a:rPr>
              <a:t> through iterative </a:t>
            </a:r>
            <a:r>
              <a:rPr lang="en-US" sz="2400" err="1">
                <a:ea typeface="+mn-lt"/>
                <a:cs typeface="+mn-lt"/>
              </a:rPr>
              <a:t>nslookup</a:t>
            </a:r>
            <a:r>
              <a:rPr lang="en-US" sz="2400" dirty="0">
                <a:ea typeface="+mn-lt"/>
                <a:cs typeface="+mn-lt"/>
              </a:rPr>
              <a:t>, reverse lookup zone creation, and exclusion range adjustments.</a:t>
            </a:r>
            <a:endParaRPr lang="en-US" sz="2400" dirty="0"/>
          </a:p>
          <a:p>
            <a:pPr algn="ctr"/>
            <a:r>
              <a:rPr lang="en-US" sz="2400" dirty="0">
                <a:ea typeface="+mn-lt"/>
                <a:cs typeface="+mn-lt"/>
              </a:rPr>
              <a:t>Demonstrated </a:t>
            </a:r>
            <a:r>
              <a:rPr lang="en-US" sz="2400" b="1" dirty="0">
                <a:ea typeface="+mn-lt"/>
                <a:cs typeface="+mn-lt"/>
              </a:rPr>
              <a:t>resilience, adaptability, and deep troubleshooting skills</a:t>
            </a:r>
            <a:r>
              <a:rPr lang="en-US" sz="2400" dirty="0">
                <a:ea typeface="+mn-lt"/>
                <a:cs typeface="+mn-lt"/>
              </a:rPr>
              <a:t> — key attributes of a cybersecurity engineer.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6188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B6D51-8A1F-9200-4EC7-D9248F046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029" y="179272"/>
            <a:ext cx="9149420" cy="676585"/>
          </a:xfrm>
        </p:spPr>
        <p:txBody>
          <a:bodyPr>
            <a:normAutofit fontScale="90000"/>
          </a:bodyPr>
          <a:lstStyle/>
          <a:p>
            <a:r>
              <a:rPr lang="en-US" i="0" u="sng" dirty="0">
                <a:ea typeface="+mj-lt"/>
                <a:cs typeface="+mj-lt"/>
              </a:rPr>
              <a:t>Strategic Business &amp; Security Impact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EF54C-9418-DA59-667C-DB356FE46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104" y="1017058"/>
            <a:ext cx="11500467" cy="54803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 dirty="0">
                <a:ea typeface="+mn-lt"/>
                <a:cs typeface="+mn-lt"/>
              </a:rPr>
              <a:t>Operational Efficiency:</a:t>
            </a:r>
            <a:r>
              <a:rPr lang="en-US" dirty="0">
                <a:ea typeface="+mn-lt"/>
                <a:cs typeface="+mn-lt"/>
              </a:rPr>
              <a:t> Automated IP allocation and name resolution reduced manual misconfiguration risk by </a:t>
            </a:r>
            <a:r>
              <a:rPr lang="en-US" b="1" dirty="0">
                <a:ea typeface="+mn-lt"/>
                <a:cs typeface="+mn-lt"/>
              </a:rPr>
              <a:t>&gt;70%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Data Protection &amp; Compliance:</a:t>
            </a:r>
            <a:r>
              <a:rPr lang="en-US" dirty="0">
                <a:ea typeface="+mn-lt"/>
                <a:cs typeface="+mn-lt"/>
              </a:rPr>
              <a:t> File Server permissions enforced </a:t>
            </a:r>
            <a:r>
              <a:rPr lang="en-US" b="1" dirty="0">
                <a:ea typeface="+mn-lt"/>
                <a:cs typeface="+mn-lt"/>
              </a:rPr>
              <a:t>least privilege</a:t>
            </a:r>
            <a:r>
              <a:rPr lang="en-US" dirty="0">
                <a:ea typeface="+mn-lt"/>
                <a:cs typeface="+mn-lt"/>
              </a:rPr>
              <a:t>, simulating </a:t>
            </a:r>
            <a:r>
              <a:rPr lang="en-US" b="1" dirty="0">
                <a:ea typeface="+mn-lt"/>
                <a:cs typeface="+mn-lt"/>
              </a:rPr>
              <a:t>PCI DSS controls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SOX auditing standards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Security Monitoring Foundation:</a:t>
            </a:r>
            <a:r>
              <a:rPr lang="en-US" dirty="0">
                <a:ea typeface="+mn-lt"/>
                <a:cs typeface="+mn-lt"/>
              </a:rPr>
              <a:t> GPO auditing policies generated raw event logs ready for </a:t>
            </a:r>
            <a:r>
              <a:rPr lang="en-US" b="1" dirty="0">
                <a:ea typeface="+mn-lt"/>
                <a:cs typeface="+mn-lt"/>
              </a:rPr>
              <a:t>Splunk SIEM integration</a:t>
            </a:r>
            <a:r>
              <a:rPr lang="en-US" dirty="0">
                <a:ea typeface="+mn-lt"/>
                <a:cs typeface="+mn-lt"/>
              </a:rPr>
              <a:t>, aligning with </a:t>
            </a:r>
            <a:r>
              <a:rPr lang="en-US" b="1" dirty="0">
                <a:ea typeface="+mn-lt"/>
                <a:cs typeface="+mn-lt"/>
              </a:rPr>
              <a:t>NIST Detect &amp; Respond functions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Attack Surface Simulation:</a:t>
            </a:r>
            <a:r>
              <a:rPr lang="en-US" dirty="0">
                <a:ea typeface="+mn-lt"/>
                <a:cs typeface="+mn-lt"/>
              </a:rPr>
              <a:t> Intentional </a:t>
            </a:r>
            <a:r>
              <a:rPr lang="en-US" err="1">
                <a:ea typeface="+mn-lt"/>
                <a:cs typeface="+mn-lt"/>
              </a:rPr>
              <a:t>misconfigs</a:t>
            </a:r>
            <a:r>
              <a:rPr lang="en-US" dirty="0">
                <a:ea typeface="+mn-lt"/>
                <a:cs typeface="+mn-lt"/>
              </a:rPr>
              <a:t> (blank local admin password, RDP enabled) created measurable Red Team opportunities for </a:t>
            </a:r>
            <a:r>
              <a:rPr lang="en-US" b="1" dirty="0">
                <a:ea typeface="+mn-lt"/>
                <a:cs typeface="+mn-lt"/>
              </a:rPr>
              <a:t>MITRE ATT&amp;CK TTPs (T1078 – Valid Accounts, T1021 – Remote Services)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Educational ROI:</a:t>
            </a:r>
            <a:r>
              <a:rPr lang="en-US" dirty="0">
                <a:ea typeface="+mn-lt"/>
                <a:cs typeface="+mn-lt"/>
              </a:rPr>
              <a:t> Built a </a:t>
            </a:r>
            <a:r>
              <a:rPr lang="en-US" b="1" dirty="0">
                <a:ea typeface="+mn-lt"/>
                <a:cs typeface="+mn-lt"/>
              </a:rPr>
              <a:t>controlled cyber range</a:t>
            </a:r>
            <a:r>
              <a:rPr lang="en-US" dirty="0">
                <a:ea typeface="+mn-lt"/>
                <a:cs typeface="+mn-lt"/>
              </a:rPr>
              <a:t> environment replicating enterprise-grade complexity while maintaining a safe, testable framework for OSCP-style practice.</a:t>
            </a:r>
            <a:endParaRPr lang="en-US" dirty="0"/>
          </a:p>
          <a:p>
            <a:pPr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Future-Proof:</a:t>
            </a:r>
            <a:r>
              <a:rPr lang="en-US" dirty="0">
                <a:ea typeface="+mn-lt"/>
                <a:cs typeface="+mn-lt"/>
              </a:rPr>
              <a:t> Lab doubles as OSCP practice + enterprise-level cyber range.</a:t>
            </a:r>
          </a:p>
          <a:p>
            <a:pPr marL="0" indent="0" algn="ctr">
              <a:buNone/>
            </a:pPr>
            <a:r>
              <a:rPr lang="en-US" b="1" dirty="0">
                <a:ea typeface="+mn-lt"/>
                <a:cs typeface="+mn-lt"/>
              </a:rPr>
              <a:t>This project isn’t just technical — it’s strategic. By aligning with frameworks like NIST and MITRE, I showed how this lab can mirror real enterprise challenges. The measurable outcome is improved readiness, compliance, and a controlled training ground for attackers and defenders alike.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535405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Streetscape2">
      <a:dk1>
        <a:sysClr val="windowText" lastClr="000000"/>
      </a:dk1>
      <a:lt1>
        <a:srgbClr val="FFFFFF"/>
      </a:lt1>
      <a:dk2>
        <a:srgbClr val="191919"/>
      </a:dk2>
      <a:lt2>
        <a:srgbClr val="F3F2EE"/>
      </a:lt2>
      <a:accent1>
        <a:srgbClr val="448885"/>
      </a:accent1>
      <a:accent2>
        <a:srgbClr val="627C58"/>
      </a:accent2>
      <a:accent3>
        <a:srgbClr val="848358"/>
      </a:accent3>
      <a:accent4>
        <a:srgbClr val="547096"/>
      </a:accent4>
      <a:accent5>
        <a:srgbClr val="646464"/>
      </a:accent5>
      <a:accent6>
        <a:srgbClr val="A8A8A8"/>
      </a:accent6>
      <a:hlink>
        <a:srgbClr val="0563C1"/>
      </a:hlink>
      <a:folHlink>
        <a:srgbClr val="954F72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StreetscapeVTI</vt:lpstr>
      <vt:lpstr>Enterprise Active Directory Security &amp; Networking Lab (Phase 1 – Defensive Build)</vt:lpstr>
      <vt:lpstr>I Built a Simulated Corporate Infrastructure for Cybersecurity Framework Alignment and Offensive-Defensive Testing</vt:lpstr>
      <vt:lpstr>CONTENT </vt:lpstr>
      <vt:lpstr>PROJECT OVERVIEW</vt:lpstr>
      <vt:lpstr>DOMAIN INTEGRATION</vt:lpstr>
      <vt:lpstr>GROUP POLICY (GPO) ENGINEERING</vt:lpstr>
      <vt:lpstr>File Server Permissions (RBAC)</vt:lpstr>
      <vt:lpstr>DNS &amp; DHCP SERVICES</vt:lpstr>
      <vt:lpstr>TECHNICAL PROBLEM SOLVING</vt:lpstr>
      <vt:lpstr>Technical Problem-Solving &amp; Troubleshooting Journey</vt:lpstr>
      <vt:lpstr>Strategic Business &amp; Security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351</cp:revision>
  <dcterms:created xsi:type="dcterms:W3CDTF">2013-07-15T20:26:40Z</dcterms:created>
  <dcterms:modified xsi:type="dcterms:W3CDTF">2025-09-09T18:27:53Z</dcterms:modified>
</cp:coreProperties>
</file>