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33"/>
  </p:notesMasterIdLst>
  <p:handoutMasterIdLst>
    <p:handoutMasterId r:id="rId34"/>
  </p:handoutMasterIdLst>
  <p:sldIdLst>
    <p:sldId id="376" r:id="rId5"/>
    <p:sldId id="388" r:id="rId6"/>
    <p:sldId id="391" r:id="rId7"/>
    <p:sldId id="378" r:id="rId8"/>
    <p:sldId id="390" r:id="rId9"/>
    <p:sldId id="379" r:id="rId10"/>
    <p:sldId id="380" r:id="rId11"/>
    <p:sldId id="381" r:id="rId12"/>
    <p:sldId id="382" r:id="rId13"/>
    <p:sldId id="383" r:id="rId14"/>
    <p:sldId id="384" r:id="rId15"/>
    <p:sldId id="389" r:id="rId16"/>
    <p:sldId id="386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4" r:id="rId29"/>
    <p:sldId id="403" r:id="rId30"/>
    <p:sldId id="405" r:id="rId31"/>
    <p:sldId id="3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187FDA-6C36-79CB-17E5-15F4D4E5551C}" v="1484" dt="2025-09-17T09:24:47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388" autoAdjust="0"/>
  </p:normalViewPr>
  <p:slideViewPr>
    <p:cSldViewPr snapToGrid="0" showGuides="1">
      <p:cViewPr>
        <p:scale>
          <a:sx n="100" d="100"/>
          <a:sy n="100" d="100"/>
        </p:scale>
        <p:origin x="5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9/17/2025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7EC4C7D-9F32-3DD5-0898-0A64AB3E48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CD56122-AE93-63D3-9B51-14AA353EC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0B457C0-C5F0-38B3-A5A4-4CF83DA5DC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608DDE2-7690-8BBF-1E41-BF40F26AF1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4A70176D-1CA9-F362-DA0D-140ADC80AB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B557568-DAFA-B892-D220-F9088C690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5920ECF3-A4B7-A9A1-C23F-56EDD775AC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A92B7FF-F522-FFD6-3A37-5C7F5CB3A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718010FC-71DC-C4A0-BBE6-35E03F05FE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512EE29-359B-8558-2A40-DB8D4D2566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70CCBBEB-A224-6D89-748B-8053ED48B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305" y="779198"/>
            <a:ext cx="6070452" cy="3861436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Bookman Old Style"/>
                <a:ea typeface="+mj-lt"/>
                <a:cs typeface="+mj-lt"/>
              </a:rPr>
              <a:t>BLUE TEAM SOC PLAYBOOK Phase 2</a:t>
            </a:r>
            <a:br>
              <a:rPr lang="en-US" sz="4400" dirty="0">
                <a:latin typeface="Bookman Old Style"/>
                <a:ea typeface="+mj-lt"/>
                <a:cs typeface="+mj-lt"/>
              </a:rPr>
            </a:br>
            <a:r>
              <a:rPr lang="en-US" sz="4400" dirty="0">
                <a:latin typeface="Bookman Old Style"/>
                <a:ea typeface="+mj-lt"/>
                <a:cs typeface="+mj-lt"/>
              </a:rPr>
              <a:t> (Active Directory) </a:t>
            </a:r>
            <a:r>
              <a:rPr lang="en-US" sz="4400" u="sng" dirty="0">
                <a:latin typeface="Bookman Old Style"/>
                <a:ea typeface="+mj-lt"/>
                <a:cs typeface="+mj-lt"/>
              </a:rPr>
              <a:t>Focused Adversary</a:t>
            </a:r>
            <a:br>
              <a:rPr lang="en-US" sz="4400" u="sng" dirty="0">
                <a:latin typeface="Bookman Old Style"/>
                <a:ea typeface="+mj-lt"/>
                <a:cs typeface="+mj-lt"/>
              </a:rPr>
            </a:br>
            <a:r>
              <a:rPr lang="en-US" sz="4400" u="sng" dirty="0">
                <a:latin typeface="Bookman Old Style"/>
                <a:ea typeface="+mj-lt"/>
                <a:cs typeface="+mj-lt"/>
              </a:rPr>
              <a:t> Emulation)</a:t>
            </a:r>
            <a:endParaRPr lang="en-US" sz="4400" u="sng" dirty="0">
              <a:latin typeface="Bookman Old Style"/>
            </a:endParaRP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8956" y="6048004"/>
            <a:ext cx="4602207" cy="5907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 AUTHOR: Bassey </a:t>
            </a:r>
            <a:r>
              <a:rPr lang="en-US" b="1" dirty="0" err="1"/>
              <a:t>solomon</a:t>
            </a:r>
            <a:r>
              <a:rPr lang="en-US" b="1" dirty="0"/>
              <a:t> henry</a:t>
            </a:r>
          </a:p>
        </p:txBody>
      </p:sp>
      <p:pic>
        <p:nvPicPr>
          <p:cNvPr id="82" name="Picture Placeholder 81" descr="A person standing in a hallway with a computer">
            <a:extLst>
              <a:ext uri="{FF2B5EF4-FFF2-40B4-BE49-F238E27FC236}">
                <a16:creationId xmlns:a16="http://schemas.microsoft.com/office/drawing/2014/main" id="{146F06CC-0FBA-25FB-03E4-AEA27BB636B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742" r="1742"/>
          <a:stretch/>
        </p:blipFill>
        <p:spPr>
          <a:xfrm>
            <a:off x="0" y="-2236"/>
            <a:ext cx="6574852" cy="6862275"/>
          </a:xfrm>
        </p:spPr>
      </p:pic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368367" y="-1866"/>
            <a:ext cx="2813277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Placeholder 82" descr="A person writing at a desk&#10;">
            <a:extLst>
              <a:ext uri="{FF2B5EF4-FFF2-40B4-BE49-F238E27FC236}">
                <a16:creationId xmlns:a16="http://schemas.microsoft.com/office/drawing/2014/main" id="{9F2CBF26-9F88-C836-7BBE-2C8D15399C2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594" r="7594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110" name="Footer Placeholder 109">
            <a:extLst>
              <a:ext uri="{FF2B5EF4-FFF2-40B4-BE49-F238E27FC236}">
                <a16:creationId xmlns:a16="http://schemas.microsoft.com/office/drawing/2014/main" id="{B9CD0557-65B9-FA25-2CD6-66A28B347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9332" y="6481274"/>
            <a:ext cx="1484912" cy="217920"/>
          </a:xfrm>
        </p:spPr>
        <p:txBody>
          <a:bodyPr/>
          <a:lstStyle/>
          <a:p>
            <a:r>
              <a:rPr lang="en-US"/>
              <a:t>TEACH A COURSE</a:t>
            </a:r>
            <a:endParaRPr lang="en-US" dirty="0"/>
          </a:p>
        </p:txBody>
      </p:sp>
      <p:sp>
        <p:nvSpPr>
          <p:cNvPr id="96" name="Slide Number Placeholder 95">
            <a:extLst>
              <a:ext uri="{FF2B5EF4-FFF2-40B4-BE49-F238E27FC236}">
                <a16:creationId xmlns:a16="http://schemas.microsoft.com/office/drawing/2014/main" id="{3BD80834-FB15-847A-2C6B-65FA4C1A9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9" name="Title 118">
            <a:extLst>
              <a:ext uri="{FF2B5EF4-FFF2-40B4-BE49-F238E27FC236}">
                <a16:creationId xmlns:a16="http://schemas.microsoft.com/office/drawing/2014/main" id="{34974D2A-D531-9065-F011-B2A52FD62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416" y="152772"/>
            <a:ext cx="7522325" cy="1280299"/>
          </a:xfrm>
        </p:spPr>
        <p:txBody>
          <a:bodyPr>
            <a:noAutofit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Enterprise-grade SOC Playbook &amp; Executive Reporting</a:t>
            </a:r>
            <a:endParaRPr lang="en-US" u="sng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3A78732-6A77-06C0-D931-D7D867386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7B7D90C8-A3E9-289E-DC74-AFF053EFB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1FD179C-A16F-09BD-7E4A-07EC6BFBC4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1721" y="1706869"/>
            <a:ext cx="6439360" cy="4336007"/>
          </a:xfrm>
        </p:spPr>
        <p:txBody>
          <a:bodyPr vert="horz" lIns="0" tIns="45720" rIns="0" bIns="0" rtlCol="0" anchor="b">
            <a:noAutofit/>
          </a:bodyPr>
          <a:lstStyle/>
          <a:p>
            <a:pPr algn="ctr"/>
            <a:r>
              <a:rPr lang="en-US" sz="2400" dirty="0">
                <a:ea typeface="+mn-lt"/>
                <a:cs typeface="+mn-lt"/>
              </a:rPr>
              <a:t>This is a complete SOC playbook for Active Directory-centric adversary emulation and enterprise attacks (Recon → Exploit → Privilege Escalation → Persistence → Lateral Movement → Exfil/C2 → Reporting). </a:t>
            </a:r>
            <a:endParaRPr lang="en-US"/>
          </a:p>
          <a:p>
            <a:pPr algn="ctr"/>
            <a:r>
              <a:rPr lang="en-US" sz="2400" dirty="0">
                <a:ea typeface="+mn-lt"/>
                <a:cs typeface="+mn-lt"/>
              </a:rPr>
              <a:t>It defines roles, responsibilities, detection, triage, containment, eradication, recovery, lessons learned, and training. 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2400" dirty="0">
                <a:ea typeface="+mn-lt"/>
                <a:cs typeface="+mn-lt"/>
              </a:rPr>
              <a:t>It’s designed to </a:t>
            </a:r>
            <a:r>
              <a:rPr lang="en-US" sz="2400" b="1" dirty="0">
                <a:ea typeface="+mn-lt"/>
                <a:cs typeface="+mn-lt"/>
              </a:rPr>
              <a:t>reduce response time, limit damage, eliminate false positives, and improve defenses continuously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01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E486-494D-2F30-C14B-F4E783D0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Placeholder 82" descr="A person writing at a desk&#10;">
            <a:extLst>
              <a:ext uri="{FF2B5EF4-FFF2-40B4-BE49-F238E27FC236}">
                <a16:creationId xmlns:a16="http://schemas.microsoft.com/office/drawing/2014/main" id="{8800CE8B-0295-3B45-8FC2-9811010F63B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594" r="7594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110" name="Footer Placeholder 109">
            <a:extLst>
              <a:ext uri="{FF2B5EF4-FFF2-40B4-BE49-F238E27FC236}">
                <a16:creationId xmlns:a16="http://schemas.microsoft.com/office/drawing/2014/main" id="{1685DB2C-16C0-69C4-35F3-44168637C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9332" y="6481274"/>
            <a:ext cx="1484912" cy="217920"/>
          </a:xfrm>
        </p:spPr>
        <p:txBody>
          <a:bodyPr/>
          <a:lstStyle/>
          <a:p>
            <a:r>
              <a:rPr lang="en-US"/>
              <a:t>TEACH A COURSE</a:t>
            </a:r>
            <a:endParaRPr lang="en-US" dirty="0"/>
          </a:p>
        </p:txBody>
      </p:sp>
      <p:sp>
        <p:nvSpPr>
          <p:cNvPr id="96" name="Slide Number Placeholder 95">
            <a:extLst>
              <a:ext uri="{FF2B5EF4-FFF2-40B4-BE49-F238E27FC236}">
                <a16:creationId xmlns:a16="http://schemas.microsoft.com/office/drawing/2014/main" id="{B4A16B16-1288-7AA6-7F48-362A0B721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9" name="Title 118">
            <a:extLst>
              <a:ext uri="{FF2B5EF4-FFF2-40B4-BE49-F238E27FC236}">
                <a16:creationId xmlns:a16="http://schemas.microsoft.com/office/drawing/2014/main" id="{3B678189-3789-711F-F717-DA59B0AE8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91" y="320040"/>
            <a:ext cx="7364350" cy="722739"/>
          </a:xfrm>
        </p:spPr>
        <p:txBody>
          <a:bodyPr>
            <a:noAutofit/>
          </a:bodyPr>
          <a:lstStyle/>
          <a:p>
            <a:r>
              <a:rPr lang="en-US" u="sng" dirty="0">
                <a:ea typeface="+mj-lt"/>
                <a:cs typeface="+mj-lt"/>
              </a:rPr>
              <a:t>Core Principles &amp; Preconditions</a:t>
            </a:r>
            <a:endParaRPr lang="en-US" u="sng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A4C7C052-442F-A04D-0F2B-D85AC6EDF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7A74B627-D676-9216-9226-B0350CB0B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01D9F6D-BA3E-35FB-06CD-FD74833604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1721" y="1195771"/>
            <a:ext cx="6439360" cy="5079421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b="1" u="sng" dirty="0">
                <a:ea typeface="+mn-lt"/>
                <a:cs typeface="+mn-lt"/>
              </a:rPr>
              <a:t>Scope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Full defensive playbook for Active Directory-focused adversary simulations in my lab (and directly transferrable to production).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Audience</a:t>
            </a:r>
            <a:endParaRPr lang="en-US" u="sng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 SOC Tier1/2 analysts, IR Lead, AD Admin, Forensics, Network team, CISO.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Mapping</a:t>
            </a:r>
            <a:endParaRPr lang="en-US" u="sng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MITRE ATT&amp;CK (Kerberos T1558, Lateral Movement T1021, Persistence T1053, Exfil T1041, etc.) and NIST CSF (Identify, Protect, Detect, Respond, Recover).</a:t>
            </a:r>
            <a:endParaRPr lang="en-US"/>
          </a:p>
          <a:p>
            <a:pPr algn="ctr"/>
            <a:r>
              <a:rPr lang="en-US" b="1" u="sng" dirty="0">
                <a:ea typeface="+mn-lt"/>
                <a:cs typeface="+mn-lt"/>
              </a:rPr>
              <a:t>Preconditions</a:t>
            </a:r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Snapshot DCs</a:t>
            </a:r>
            <a:r>
              <a:rPr lang="en-US" dirty="0">
                <a:ea typeface="+mn-lt"/>
                <a:cs typeface="+mn-lt"/>
              </a:rPr>
              <a:t> and critical hosts before offensive tests.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Centralized logging:</a:t>
            </a:r>
            <a:r>
              <a:rPr lang="en-US" dirty="0">
                <a:ea typeface="+mn-lt"/>
                <a:cs typeface="+mn-lt"/>
              </a:rPr>
              <a:t> DCs, domain-joined endpoints, file servers forwarded to Splunk/ELK.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Sysmon</a:t>
            </a:r>
            <a:r>
              <a:rPr lang="en-US" dirty="0">
                <a:ea typeface="+mn-lt"/>
                <a:cs typeface="+mn-lt"/>
              </a:rPr>
              <a:t> installed on endpoints/DCs with enhanced config.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Time sync</a:t>
            </a:r>
            <a:r>
              <a:rPr lang="en-US" dirty="0">
                <a:ea typeface="+mn-lt"/>
                <a:cs typeface="+mn-lt"/>
              </a:rPr>
              <a:t> across domain (Windows Time/NTP).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import available for rapid attack-path context.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Documented whitelist &amp; automation window</a:t>
            </a:r>
            <a:r>
              <a:rPr lang="en-US" dirty="0">
                <a:ea typeface="+mn-lt"/>
                <a:cs typeface="+mn-lt"/>
              </a:rPr>
              <a:t> to reduce false positives during tests.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36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EA33AE-2E4E-2AD0-7AAD-FF06CBAC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6459" y="213427"/>
            <a:ext cx="5427440" cy="687043"/>
          </a:xfrm>
        </p:spPr>
        <p:txBody>
          <a:bodyPr/>
          <a:lstStyle/>
          <a:p>
            <a:r>
              <a:rPr lang="en-US" u="sng" dirty="0">
                <a:ea typeface="+mj-lt"/>
                <a:cs typeface="+mj-lt"/>
              </a:rPr>
              <a:t>Overview / Purpose</a:t>
            </a:r>
            <a:endParaRPr lang="en-US" u="sng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A498B66-C42E-029B-6F9F-FF45F4C1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2368" y="1046024"/>
            <a:ext cx="6180988" cy="5561033"/>
          </a:xfrm>
        </p:spPr>
        <p:txBody>
          <a:bodyPr vert="horz" lIns="91440" tIns="91440" rIns="91440" bIns="0" rtlCol="0" anchor="t">
            <a:norm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 Provide a repeatable, auditable, and measurable process for detecting, investigating, containing, eradicating and recovering from Phase-2 attacks in the AD lab (and production analogs).</a:t>
            </a:r>
            <a:endParaRPr lang="en-US"/>
          </a:p>
          <a:p>
            <a:pPr marL="285750" indent="-285750" algn="ctr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Scope:</a:t>
            </a:r>
            <a:r>
              <a:rPr lang="en-US">
                <a:ea typeface="+mn-lt"/>
                <a:cs typeface="+mn-lt"/>
              </a:rPr>
              <a:t> AD domain controllers, domain-joined endpoints, file servers, DNS/DHCP, GPOs, SIEM (Splunk), EDR, network perimeter (firewall/proxy).</a:t>
            </a:r>
            <a:endParaRPr lang="en-US"/>
          </a:p>
          <a:p>
            <a:pPr marL="285750" indent="-285750" algn="ctr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Frameworks mapped:</a:t>
            </a:r>
            <a:r>
              <a:rPr lang="en-US">
                <a:ea typeface="+mn-lt"/>
                <a:cs typeface="+mn-lt"/>
              </a:rPr>
              <a:t> MITRE ATT&amp;CK (TTP mapping) and NIST CSF (Identify, Protect, Detect, Respond, Recover).</a:t>
            </a:r>
            <a:endParaRPr lang="en-US"/>
          </a:p>
          <a:p>
            <a:pPr algn="ctr"/>
            <a:endParaRPr lang="en-US" dirty="0"/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8FB04EF3-CC57-2C94-49E0-6F49EAA5217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E677C-B30B-9361-1557-EE90A744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511001-6F2E-D16C-C5A6-4486407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7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BE26-74E5-B4B8-DCD8-4C2F1C82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7B98BA4-2E64-D143-A3AD-2F3DF40B3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4655" y="213427"/>
            <a:ext cx="5938536" cy="687043"/>
          </a:xfrm>
        </p:spPr>
        <p:txBody>
          <a:bodyPr/>
          <a:lstStyle/>
          <a:p>
            <a:r>
              <a:rPr lang="en-US" u="sng" dirty="0">
                <a:ea typeface="+mj-lt"/>
                <a:cs typeface="+mj-lt"/>
              </a:rPr>
              <a:t>Roles &amp; Escalation Matrix</a:t>
            </a:r>
            <a:endParaRPr lang="en-US" u="sng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772EF31E-3DC0-9C22-F986-A3AA58A1A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2368" y="1046024"/>
            <a:ext cx="6180988" cy="5561033"/>
          </a:xfrm>
        </p:spPr>
        <p:txBody>
          <a:bodyPr vert="horz" lIns="91440" tIns="91440" rIns="91440" bIns="0" rtlCol="0" anchor="t">
            <a:normAutofit fontScale="85000" lnSpcReduction="20000"/>
          </a:bodyPr>
          <a:lstStyle/>
          <a:p>
            <a:pPr algn="ctr"/>
            <a:r>
              <a:rPr lang="en-US" b="1" u="sng" dirty="0">
                <a:ea typeface="+mn-lt"/>
                <a:cs typeface="+mn-lt"/>
              </a:rPr>
              <a:t>Tier 1 SOC Analyst:</a:t>
            </a:r>
            <a:r>
              <a:rPr lang="en-US" dirty="0">
                <a:ea typeface="+mn-lt"/>
                <a:cs typeface="+mn-lt"/>
              </a:rPr>
              <a:t> Monitor alerts, open incidents, initial triage, enrich with contextual logs.</a:t>
            </a:r>
            <a:endParaRPr lang="en-US" dirty="0"/>
          </a:p>
          <a:p>
            <a:pPr algn="ctr"/>
            <a:r>
              <a:rPr lang="en-US" b="1" u="sng">
                <a:ea typeface="+mn-lt"/>
                <a:cs typeface="+mn-lt"/>
              </a:rPr>
              <a:t>Tier 2 SOC/IR Analyst:</a:t>
            </a:r>
            <a:r>
              <a:rPr lang="en-US">
                <a:ea typeface="+mn-lt"/>
                <a:cs typeface="+mn-lt"/>
              </a:rPr>
              <a:t> Deep triage, hunting, host/AD correlation, evidence collection.</a:t>
            </a:r>
            <a:endParaRPr lang="en-US"/>
          </a:p>
          <a:p>
            <a:pPr algn="ctr"/>
            <a:r>
              <a:rPr lang="en-US" b="1" u="sng" dirty="0">
                <a:ea typeface="+mn-lt"/>
                <a:cs typeface="+mn-lt"/>
              </a:rPr>
              <a:t>IR Lead:</a:t>
            </a:r>
            <a:r>
              <a:rPr lang="en-US" dirty="0">
                <a:ea typeface="+mn-lt"/>
                <a:cs typeface="+mn-lt"/>
              </a:rPr>
              <a:t> Coordinate containment/remediation, communicate with stakeholders, manage timeline.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AD Administrator:</a:t>
            </a:r>
            <a:r>
              <a:rPr lang="en-US" dirty="0">
                <a:ea typeface="+mn-lt"/>
                <a:cs typeface="+mn-lt"/>
              </a:rPr>
              <a:t> Execute credential resets, GPO changes, domain-level remediations.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Network Team:</a:t>
            </a:r>
            <a:r>
              <a:rPr lang="en-US" dirty="0">
                <a:ea typeface="+mn-lt"/>
                <a:cs typeface="+mn-lt"/>
              </a:rPr>
              <a:t> Isolate hosts, update firewall rules, block egress.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Forensics:</a:t>
            </a:r>
            <a:r>
              <a:rPr lang="en-US" dirty="0">
                <a:ea typeface="+mn-lt"/>
                <a:cs typeface="+mn-lt"/>
              </a:rPr>
              <a:t> Acquire memory, disk, and PCAP evidence; preserve chain-of-custody.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CISO / Exec:</a:t>
            </a:r>
            <a:r>
              <a:rPr lang="en-US" dirty="0">
                <a:ea typeface="+mn-lt"/>
                <a:cs typeface="+mn-lt"/>
              </a:rPr>
              <a:t> Business impact updates; regulatory notifications if required.</a:t>
            </a:r>
            <a:endParaRPr lang="en-US" dirty="0"/>
          </a:p>
          <a:p>
            <a:pPr algn="ctr"/>
            <a:endParaRPr lang="en-US" b="1" u="sng" dirty="0">
              <a:ea typeface="+mn-lt"/>
              <a:cs typeface="+mn-lt"/>
            </a:endParaRPr>
          </a:p>
          <a:p>
            <a:pPr algn="ctr"/>
            <a:r>
              <a:rPr lang="en-US" b="1" u="sng" dirty="0">
                <a:ea typeface="+mn-lt"/>
                <a:cs typeface="+mn-lt"/>
              </a:rPr>
              <a:t>Escalation:</a:t>
            </a:r>
            <a:r>
              <a:rPr lang="en-US" dirty="0">
                <a:ea typeface="+mn-lt"/>
                <a:cs typeface="+mn-lt"/>
              </a:rPr>
              <a:t> Tier1 → Tier2 within 15 minutes for high-confidence identity anomalies; Tier2 → IR Lead if evidence of lateral movement or domain compromise.</a:t>
            </a:r>
            <a:endParaRPr lang="en-US" dirty="0"/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7C153A27-73A9-F77E-EB6D-2FAFBA68610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D4F3F4-DE29-8B77-80DE-21F73D6A8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47FC99-CE2B-4BB9-1C90-03868AC81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0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159" y="31968"/>
            <a:ext cx="7179765" cy="1185662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Roles &amp; Responsibilities </a:t>
            </a:r>
            <a:br>
              <a:rPr lang="en-US" u="sng" dirty="0">
                <a:ea typeface="+mj-lt"/>
                <a:cs typeface="+mj-lt"/>
              </a:rPr>
            </a:br>
            <a:r>
              <a:rPr lang="en-US" u="sng" dirty="0">
                <a:ea typeface="+mj-lt"/>
                <a:cs typeface="+mj-lt"/>
              </a:rPr>
              <a:t>(Who Does What)</a:t>
            </a:r>
            <a:endParaRPr lang="en-US" u="sng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31791" y="1225448"/>
            <a:ext cx="3453473" cy="5063412"/>
          </a:xfrm>
        </p:spPr>
        <p:txBody>
          <a:bodyPr vert="horz" lIns="0" tIns="45720" rIns="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>
                <a:ea typeface="+mn-lt"/>
                <a:cs typeface="+mn-lt"/>
              </a:rPr>
              <a:t>SOC Tier 1 Analyst (Triage):</a:t>
            </a:r>
            <a:endParaRPr lang="en-US" u="sng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Monitor SIEM dashboards/alerts.</a:t>
            </a:r>
          </a:p>
          <a:p>
            <a:r>
              <a:rPr lang="en-US" dirty="0">
                <a:ea typeface="+mn-lt"/>
                <a:cs typeface="+mn-lt"/>
              </a:rPr>
              <a:t>Open tickets, gather basic telemetry (</a:t>
            </a:r>
            <a:r>
              <a:rPr lang="en-US" err="1">
                <a:ea typeface="+mn-lt"/>
                <a:cs typeface="+mn-lt"/>
              </a:rPr>
              <a:t>EventIDs</a:t>
            </a:r>
            <a:r>
              <a:rPr lang="en-US" dirty="0">
                <a:ea typeface="+mn-lt"/>
                <a:cs typeface="+mn-lt"/>
              </a:rPr>
              <a:t>, host, account), escalate per severity.</a:t>
            </a:r>
          </a:p>
          <a:p>
            <a:r>
              <a:rPr lang="en-US" dirty="0">
                <a:ea typeface="+mn-lt"/>
                <a:cs typeface="+mn-lt"/>
              </a:rPr>
              <a:t>Initial containment actions (isolate host in EDR) per SOP.</a:t>
            </a:r>
          </a:p>
          <a:p>
            <a:pPr marL="0" indent="0">
              <a:buNone/>
            </a:pPr>
            <a:r>
              <a:rPr lang="en-US" b="1" u="sng" dirty="0">
                <a:ea typeface="+mn-lt"/>
                <a:cs typeface="+mn-lt"/>
              </a:rPr>
              <a:t>SOC Tier 2 / Threat Hunter:</a:t>
            </a:r>
            <a:endParaRPr lang="en-US" u="sng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Deep log correlation, </a:t>
            </a:r>
            <a:r>
              <a:rPr lang="en-US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mapping, IOC enrichment.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Run advanced searches, capture PCAPs, request memory dumps.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Recommend containment scope and next steps.</a:t>
            </a:r>
          </a:p>
          <a:p>
            <a:pPr marL="0" indent="0">
              <a:buNone/>
            </a:pPr>
            <a:r>
              <a:rPr lang="en-US" b="1" u="sng" dirty="0">
                <a:ea typeface="+mn-lt"/>
                <a:cs typeface="+mn-lt"/>
              </a:rPr>
              <a:t>IR Lead / Incident Manager: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Coordinate cross-team actions; declare incident severity &amp; communication cadence.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Manage stakeholder updates (CISO, Legal, HR, Ops).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C984-616F-EC16-3E37-A54495E7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05241" y="6476627"/>
            <a:ext cx="1851340" cy="207150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565" r="3565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75AB62-8E07-F1A2-8F2D-8DD22E18464F}"/>
              </a:ext>
            </a:extLst>
          </p:cNvPr>
          <p:cNvSpPr txBox="1"/>
          <p:nvPr/>
        </p:nvSpPr>
        <p:spPr>
          <a:xfrm>
            <a:off x="3693843" y="1232970"/>
            <a:ext cx="3663172" cy="5047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u="sng" dirty="0">
                <a:ea typeface="+mn-lt"/>
                <a:cs typeface="+mn-lt"/>
              </a:rPr>
              <a:t>AD Administrator:</a:t>
            </a:r>
            <a:endParaRPr lang="en-US" sz="1400" u="sng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Rotate/disable service accounts, apply emergency GPOs, restore from backups.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Implement Kerberos/NTLM mitigations and patch DCs.</a:t>
            </a:r>
            <a:endParaRPr lang="en-US" sz="1400"/>
          </a:p>
          <a:p>
            <a:r>
              <a:rPr lang="en-US" sz="1400" b="1" u="sng" dirty="0">
                <a:ea typeface="+mn-lt"/>
                <a:cs typeface="+mn-lt"/>
              </a:rPr>
              <a:t>Network/Firewall Engineer:</a:t>
            </a:r>
            <a:endParaRPr lang="en-US" sz="1400" u="sng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Block egress, isolate subnets, apply firewall rules for containment.</a:t>
            </a:r>
            <a:endParaRPr lang="en-US" sz="1400"/>
          </a:p>
          <a:p>
            <a:r>
              <a:rPr lang="en-US" sz="1400" b="1" u="sng" dirty="0">
                <a:ea typeface="+mn-lt"/>
                <a:cs typeface="+mn-lt"/>
              </a:rPr>
              <a:t>Forensics Specialist:</a:t>
            </a:r>
            <a:endParaRPr lang="en-US" sz="1400" u="sng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Acquire forensic images, memory dumps, preserve chain-of-custody.</a:t>
            </a:r>
            <a:endParaRPr lang="en-US" sz="1400"/>
          </a:p>
          <a:p>
            <a:r>
              <a:rPr lang="en-US" sz="1400" b="1" u="sng" dirty="0">
                <a:ea typeface="+mn-lt"/>
                <a:cs typeface="+mn-lt"/>
              </a:rPr>
              <a:t>Business Owner / Application Owner:</a:t>
            </a:r>
            <a:endParaRPr lang="en-US" sz="1400" u="sng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Provide impact assessment, approve service account changes, coordinate planned downtime.</a:t>
            </a:r>
            <a:endParaRPr lang="en-US" sz="1400"/>
          </a:p>
          <a:p>
            <a:r>
              <a:rPr lang="en-US" sz="1400" b="1" u="sng" dirty="0">
                <a:ea typeface="+mn-lt"/>
                <a:cs typeface="+mn-lt"/>
              </a:rPr>
              <a:t>Legal &amp; Communications:</a:t>
            </a:r>
            <a:endParaRPr lang="en-US" sz="1400" u="sng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Approve external notifications, regulatory reporting, and public messaging.</a:t>
            </a:r>
            <a:endParaRPr lang="en-US" sz="1400"/>
          </a:p>
          <a:p>
            <a:r>
              <a:rPr lang="en-US" sz="1400" b="1" u="sng" dirty="0">
                <a:ea typeface="+mn-lt"/>
                <a:cs typeface="+mn-lt"/>
              </a:rPr>
              <a:t>Training Lead / Ops:</a:t>
            </a:r>
            <a:endParaRPr lang="en-US" sz="1400" u="sng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Run tabletop exercises, training and post-incident drills.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1328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E0F2054-FE7E-B49A-E17F-5DE1864D8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413" y="216131"/>
            <a:ext cx="7165192" cy="1229591"/>
          </a:xfrm>
        </p:spPr>
        <p:txBody>
          <a:bodyPr/>
          <a:lstStyle/>
          <a:p>
            <a:r>
              <a:rPr lang="en-US" u="sng" dirty="0">
                <a:ea typeface="+mj-lt"/>
                <a:cs typeface="+mj-lt"/>
              </a:rPr>
              <a:t>What This </a:t>
            </a:r>
            <a:r>
              <a:rPr lang="en-US" u="sng" dirty="0" err="1">
                <a:ea typeface="+mj-lt"/>
                <a:cs typeface="+mj-lt"/>
              </a:rPr>
              <a:t>PlayBook</a:t>
            </a:r>
            <a:r>
              <a:rPr lang="en-US" u="sng" dirty="0">
                <a:ea typeface="+mj-lt"/>
                <a:cs typeface="+mj-lt"/>
              </a:rPr>
              <a:t> Does When a Phase 2 Attack Occurs.</a:t>
            </a:r>
            <a:endParaRPr lang="en-US" u="sn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BC01B8-FB52-27EE-1CD6-0180333CE5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1414" y="1490395"/>
            <a:ext cx="6715380" cy="4948849"/>
          </a:xfrm>
        </p:spPr>
        <p:txBody>
          <a:bodyPr vert="horz" lIns="91440" tIns="4572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Detects</a:t>
            </a:r>
            <a:r>
              <a:rPr lang="en-US" sz="1600" dirty="0">
                <a:ea typeface="+mn-lt"/>
                <a:cs typeface="+mn-lt"/>
              </a:rPr>
              <a:t> anomalous AD activity with pre-tuned SIEM detections (Kerberos TGS spike, GPO changes, NTLM anomalies).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Triages</a:t>
            </a:r>
            <a:r>
              <a:rPr lang="en-US" sz="1600" dirty="0">
                <a:ea typeface="+mn-lt"/>
                <a:cs typeface="+mn-lt"/>
              </a:rPr>
              <a:t> quickly using automated enrichment (host isolation triggers, </a:t>
            </a:r>
            <a:r>
              <a:rPr lang="en-US" sz="1600" err="1">
                <a:ea typeface="+mn-lt"/>
                <a:cs typeface="+mn-lt"/>
              </a:rPr>
              <a:t>BloodHound</a:t>
            </a:r>
            <a:r>
              <a:rPr lang="en-US" sz="1600" dirty="0">
                <a:ea typeface="+mn-lt"/>
                <a:cs typeface="+mn-lt"/>
              </a:rPr>
              <a:t> snapshot).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Contains</a:t>
            </a:r>
            <a:r>
              <a:rPr lang="en-US" sz="1600" dirty="0">
                <a:ea typeface="+mn-lt"/>
                <a:cs typeface="+mn-lt"/>
              </a:rPr>
              <a:t> limited blast radius using EDR isolation + firewall blocks.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Eradicates</a:t>
            </a:r>
            <a:r>
              <a:rPr lang="en-US" sz="1600" dirty="0">
                <a:ea typeface="+mn-lt"/>
                <a:cs typeface="+mn-lt"/>
              </a:rPr>
              <a:t> root cause by resetting creds, removing persistence (GPOs, scheduled tasks), patching and configuration changes.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Recovers</a:t>
            </a:r>
            <a:r>
              <a:rPr lang="en-US" sz="1600" dirty="0">
                <a:ea typeface="+mn-lt"/>
                <a:cs typeface="+mn-lt"/>
              </a:rPr>
              <a:t> systems via validated backups and close monitoring.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ea typeface="+mn-lt"/>
                <a:cs typeface="+mn-lt"/>
              </a:rPr>
              <a:t>Learns</a:t>
            </a:r>
            <a:r>
              <a:rPr lang="en-US" sz="1600" dirty="0">
                <a:ea typeface="+mn-lt"/>
                <a:cs typeface="+mn-lt"/>
              </a:rPr>
              <a:t> through after-action reviews, tuning detections to reduce false positives and updating playbooks.</a:t>
            </a:r>
          </a:p>
          <a:p>
            <a:r>
              <a:rPr lang="en-US" sz="1600" dirty="0">
                <a:ea typeface="+mn-lt"/>
                <a:cs typeface="+mn-lt"/>
              </a:rPr>
              <a:t>Yes — it ensures rapid, coordinated response and continuous improvement.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A6017-3B10-07E9-8C72-59CD4B49C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8264" y="6437978"/>
            <a:ext cx="2645230" cy="226580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pic>
        <p:nvPicPr>
          <p:cNvPr id="7" name="Picture Placeholder 18" descr="A person working at a desk&#10;">
            <a:extLst>
              <a:ext uri="{FF2B5EF4-FFF2-40B4-BE49-F238E27FC236}">
                <a16:creationId xmlns:a16="http://schemas.microsoft.com/office/drawing/2014/main" id="{137F878B-E773-04A9-23BB-A6DF6A69B98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565" r="3565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8C54-1820-3B00-1C96-88D7349FD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1EF105-497F-4EFD-8E5D-D4573ED81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F08D551-B30D-FCB1-C8B2-0160EC530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5AA2D64-53A7-BC77-FBA2-EC723D31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8121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0119628" cy="1091046"/>
          </a:xfrm>
        </p:spPr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Skill One: </a:t>
            </a:r>
            <a:r>
              <a:rPr lang="en-US" u="sng" dirty="0">
                <a:ea typeface="+mj-lt"/>
                <a:cs typeface="+mj-lt"/>
              </a:rPr>
              <a:t>Key Components (What I Must Implement)</a:t>
            </a:r>
            <a:endParaRPr lang="en-US" u="s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4513" y="1357513"/>
            <a:ext cx="3514724" cy="498417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Preparation Artifacts</a:t>
            </a:r>
            <a:endParaRPr lang="en-US" dirty="0"/>
          </a:p>
        </p:txBody>
      </p:sp>
      <p:pic>
        <p:nvPicPr>
          <p:cNvPr id="51" name="Picture Placeholder 50" descr="Abacus">
            <a:extLst>
              <a:ext uri="{FF2B5EF4-FFF2-40B4-BE49-F238E27FC236}">
                <a16:creationId xmlns:a16="http://schemas.microsoft.com/office/drawing/2014/main" id="{F1A5F630-1971-68D5-BEDA-6FC11471C8E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02" b="4502"/>
          <a:stretch/>
        </p:blipFill>
        <p:spPr>
          <a:xfrm>
            <a:off x="1771828" y="2374755"/>
            <a:ext cx="1005840" cy="914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2063B1-AD32-CF53-B792-70C1B67D52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8682" y="3617063"/>
            <a:ext cx="2864697" cy="2227264"/>
          </a:xfrm>
        </p:spPr>
        <p:txBody>
          <a:bodyPr vert="horz" lIns="0" tIns="45720" rIns="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Network &amp; asset inventory, privileged account list, GPO inventory, SPN inventory, trust list.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Baseline logs (48–72h) and normal behavioral profiles.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Snapshots/Backups for all critical systems.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48866" y="1357513"/>
            <a:ext cx="3713883" cy="502746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Detection</a:t>
            </a:r>
            <a:endParaRPr lang="en-US" dirty="0"/>
          </a:p>
        </p:txBody>
      </p:sp>
      <p:pic>
        <p:nvPicPr>
          <p:cNvPr id="53" name="Picture Placeholder 52" descr="3d Glasses">
            <a:extLst>
              <a:ext uri="{FF2B5EF4-FFF2-40B4-BE49-F238E27FC236}">
                <a16:creationId xmlns:a16="http://schemas.microsoft.com/office/drawing/2014/main" id="{6D152620-03B9-AECD-503A-E23309285EA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574" b="4574"/>
          <a:stretch/>
        </p:blipFill>
        <p:spPr>
          <a:xfrm>
            <a:off x="5589477" y="2201499"/>
            <a:ext cx="1005840" cy="91440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B0AEFB-9FA8-4379-DA69-49759E7260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41921" y="2993610"/>
            <a:ext cx="3713288" cy="3396237"/>
          </a:xfrm>
        </p:spPr>
        <p:txBody>
          <a:bodyPr vert="horz" lIns="0" tIns="45720" rIns="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SIEM rules (Splunk/SPL) + Sigma rules for Kerberos/GPO/NTLM/C2 anomalies.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EDR detections for process creation, scheduled tasks, suspicious modules.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Recovery Process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Restore from clean snapshot, reimage if necessary, full monitoring.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Reporting &amp; Lessons Learned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Incident Report template, KPIs, remediation roadmap, training plan.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331535"/>
            <a:ext cx="3765838" cy="496685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Triage &amp; Investigation Tools</a:t>
            </a:r>
            <a:endParaRPr lang="en-US" dirty="0"/>
          </a:p>
        </p:txBody>
      </p:sp>
      <p:pic>
        <p:nvPicPr>
          <p:cNvPr id="55" name="Picture Placeholder 54" descr="Circuit">
            <a:extLst>
              <a:ext uri="{FF2B5EF4-FFF2-40B4-BE49-F238E27FC236}">
                <a16:creationId xmlns:a16="http://schemas.microsoft.com/office/drawing/2014/main" id="{415585AE-96E0-81D6-0A31-2A13ECB76808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502" b="4502"/>
          <a:stretch/>
        </p:blipFill>
        <p:spPr>
          <a:xfrm>
            <a:off x="9375402" y="2513302"/>
            <a:ext cx="1005840" cy="91440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563BBD-CFF8-BAAA-D1C5-C6AC7B376B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05779" y="3305337"/>
            <a:ext cx="3791219" cy="2980602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, Rubeus (defensive detection patterns only), Wireshark, </a:t>
            </a:r>
            <a:r>
              <a:rPr lang="en-US">
                <a:ea typeface="+mn-lt"/>
                <a:cs typeface="+mn-lt"/>
              </a:rPr>
              <a:t>Sysmon, Winlogbeat.</a:t>
            </a:r>
          </a:p>
          <a:p>
            <a:r>
              <a:rPr lang="en-US" b="1">
                <a:ea typeface="+mn-lt"/>
                <a:cs typeface="+mn-lt"/>
              </a:rPr>
              <a:t>Containment Mechanisms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EDR host isolation, firewall egress blocks, VLAN isolation.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Eradication Tooling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Credential rotation scripts, GPO rollback procedures, patching playbooks.</a:t>
            </a:r>
            <a:endParaRPr lang="en-US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489932"/>
            <a:ext cx="1822616" cy="347807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3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70F9-17DA-839C-44F9-7397A5EF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chemeClr val="accent1"/>
                </a:solidFill>
              </a:rPr>
              <a:t>Skill Two: </a:t>
            </a:r>
            <a:r>
              <a:rPr lang="en-US" u="sng" dirty="0">
                <a:ea typeface="+mj-lt"/>
                <a:cs typeface="+mj-lt"/>
              </a:rPr>
              <a:t>Preparation — How Teams &amp; Roles Were Determined</a:t>
            </a:r>
            <a:endParaRPr lang="en-US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B49AB-9182-5EB7-E03A-3E144B8F0E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6852" y="1894376"/>
            <a:ext cx="3246295" cy="436071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Assign RACI Matrix</a:t>
            </a:r>
            <a:endParaRPr lang="en-US" dirty="0"/>
          </a:p>
        </p:txBody>
      </p:sp>
      <p:pic>
        <p:nvPicPr>
          <p:cNvPr id="17" name="Picture Placeholder 16" descr="Abacus">
            <a:extLst>
              <a:ext uri="{FF2B5EF4-FFF2-40B4-BE49-F238E27FC236}">
                <a16:creationId xmlns:a16="http://schemas.microsoft.com/office/drawing/2014/main" id="{3980A62D-4086-7F4B-0183-79A0BC44178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02" b="4502"/>
          <a:stretch/>
        </p:blipFill>
        <p:spPr>
          <a:xfrm>
            <a:off x="2040260" y="2669166"/>
            <a:ext cx="1005840" cy="9144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1EECEA-D837-E96C-CC5D-8C8B986DA3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3817" y="3591087"/>
            <a:ext cx="3124470" cy="2452399"/>
          </a:xfrm>
        </p:spPr>
        <p:txBody>
          <a:bodyPr vert="horz" lIns="0" tIns="45720" rIns="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Detect (R: SOC T1/T2, A: IR Lead)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Contain (R: IR Lead, AD Admin, NetOps)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Eradicate (R: AD Admin, Forensics)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Communicate (R: IR Lead, Legal, CISO)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D828F9-B330-B117-FF6A-8F0C124447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3274" y="1885717"/>
            <a:ext cx="3194338" cy="3997035"/>
          </a:xfrm>
        </p:spPr>
        <p:txBody>
          <a:bodyPr/>
          <a:lstStyle/>
          <a:p>
            <a:r>
              <a:rPr lang="en-US" dirty="0"/>
              <a:t>Determine Teams</a:t>
            </a:r>
          </a:p>
          <a:p>
            <a:endParaRPr lang="en-US" dirty="0"/>
          </a:p>
        </p:txBody>
      </p:sp>
      <p:pic>
        <p:nvPicPr>
          <p:cNvPr id="19" name="Picture Placeholder 18" descr="3d Glasses">
            <a:extLst>
              <a:ext uri="{FF2B5EF4-FFF2-40B4-BE49-F238E27FC236}">
                <a16:creationId xmlns:a16="http://schemas.microsoft.com/office/drawing/2014/main" id="{05C8F98B-B885-007C-9C78-F2B2AE16A7D9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574" b="4574"/>
          <a:stretch/>
        </p:blipFill>
        <p:spPr>
          <a:xfrm>
            <a:off x="5468250" y="3067408"/>
            <a:ext cx="1005840" cy="91440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FA0DAA-37F3-A33A-6A49-3568311D08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38557" y="4387722"/>
            <a:ext cx="2275880" cy="11708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SOC, IR, AD Admins, NetOps, Forensics, Legal, Exec.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6C42F-6E4C-CC8A-0CCC-46E1AAF5C7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Pre-authorizations</a:t>
            </a:r>
            <a:endParaRPr lang="en-US" dirty="0"/>
          </a:p>
        </p:txBody>
      </p:sp>
      <p:pic>
        <p:nvPicPr>
          <p:cNvPr id="21" name="Picture Placeholder 20" descr="Circuit">
            <a:extLst>
              <a:ext uri="{FF2B5EF4-FFF2-40B4-BE49-F238E27FC236}">
                <a16:creationId xmlns:a16="http://schemas.microsoft.com/office/drawing/2014/main" id="{F759999E-0FBE-FE5E-0E5E-0AC62ECF5895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502" b="4502"/>
          <a:stretch/>
        </p:blipFill>
        <p:spPr>
          <a:xfrm>
            <a:off x="8916470" y="2833688"/>
            <a:ext cx="1005840" cy="9144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EADD7E-590E-81AB-52E8-354DDB041D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70300" y="3772927"/>
            <a:ext cx="2639561" cy="1257445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Define what Tier 1 can do (e.g., isolate host) and what requires IR Lead signoff (credential resets, domain-level GPO changes).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8C77F5E-3D68-52A5-FB4D-4EBC3E74A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472614"/>
            <a:ext cx="1562844" cy="183285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57039E5-2916-97DA-297D-8FEA442FE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829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7EE4-0F77-0173-AC5A-9FBAE6AE8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277" y="408820"/>
            <a:ext cx="9238575" cy="949467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accent1"/>
                </a:solidFill>
              </a:rPr>
              <a:t>Skill Three: </a:t>
            </a:r>
            <a:r>
              <a:rPr lang="en-US" u="sng" dirty="0">
                <a:ea typeface="+mj-lt"/>
                <a:cs typeface="+mj-lt"/>
              </a:rPr>
              <a:t>Detection — Rules, Tuning, and Initial Triage.</a:t>
            </a:r>
            <a:endParaRPr lang="en-US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5D52-89FB-5227-DA15-3BABC4DF027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3255" y="1518471"/>
            <a:ext cx="6100617" cy="4768584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sz="1800" dirty="0"/>
              <a:t>Detection Rules ( Mapped to MITRE)</a:t>
            </a:r>
          </a:p>
          <a:p>
            <a:r>
              <a:rPr lang="en-US" sz="1800" b="1" dirty="0">
                <a:ea typeface="+mn-lt"/>
                <a:cs typeface="+mn-lt"/>
              </a:rPr>
              <a:t>Kerberos TGS Surge: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EventID</a:t>
            </a:r>
            <a:r>
              <a:rPr lang="en-US" sz="1800" dirty="0">
                <a:ea typeface="+mn-lt"/>
                <a:cs typeface="+mn-lt"/>
              </a:rPr>
              <a:t> 4769 surge for SPN/service accounts (T1558).</a:t>
            </a:r>
            <a:endParaRPr lang="en-US" sz="1800" dirty="0"/>
          </a:p>
          <a:p>
            <a:r>
              <a:rPr lang="en-US" sz="1800" b="1" dirty="0">
                <a:ea typeface="+mn-lt"/>
                <a:cs typeface="+mn-lt"/>
              </a:rPr>
              <a:t>AS-REP No </a:t>
            </a:r>
            <a:r>
              <a:rPr lang="en-US" sz="1800" b="1" err="1">
                <a:ea typeface="+mn-lt"/>
                <a:cs typeface="+mn-lt"/>
              </a:rPr>
              <a:t>Preauth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EventID</a:t>
            </a:r>
            <a:r>
              <a:rPr lang="en-US" sz="1800" dirty="0">
                <a:ea typeface="+mn-lt"/>
                <a:cs typeface="+mn-lt"/>
              </a:rPr>
              <a:t> 4771 anomalies for accounts without </a:t>
            </a:r>
            <a:r>
              <a:rPr lang="en-US" sz="1800" err="1">
                <a:ea typeface="+mn-lt"/>
                <a:cs typeface="+mn-lt"/>
              </a:rPr>
              <a:t>preauth</a:t>
            </a:r>
            <a:r>
              <a:rPr lang="en-US" sz="1800" dirty="0">
                <a:ea typeface="+mn-lt"/>
                <a:cs typeface="+mn-lt"/>
              </a:rPr>
              <a:t>.</a:t>
            </a:r>
          </a:p>
          <a:p>
            <a:r>
              <a:rPr lang="en-US" sz="1800" b="1" dirty="0">
                <a:ea typeface="+mn-lt"/>
                <a:cs typeface="+mn-lt"/>
              </a:rPr>
              <a:t>GPO Modification:</a:t>
            </a:r>
            <a:r>
              <a:rPr lang="en-US" sz="1800" dirty="0">
                <a:ea typeface="+mn-lt"/>
                <a:cs typeface="+mn-lt"/>
              </a:rPr>
              <a:t> Directory Service changes </a:t>
            </a:r>
            <a:r>
              <a:rPr lang="en-US" sz="1800" err="1">
                <a:ea typeface="+mn-lt"/>
                <a:cs typeface="+mn-lt"/>
              </a:rPr>
              <a:t>EventID</a:t>
            </a:r>
            <a:r>
              <a:rPr lang="en-US" sz="1800" dirty="0">
                <a:ea typeface="+mn-lt"/>
                <a:cs typeface="+mn-lt"/>
              </a:rPr>
              <a:t> 5136 touching </a:t>
            </a:r>
            <a:r>
              <a:rPr lang="en-US" sz="1800" dirty="0">
                <a:latin typeface="Consolas"/>
              </a:rPr>
              <a:t>CN=Policies</a:t>
            </a:r>
            <a:r>
              <a:rPr lang="en-US" sz="1800" dirty="0">
                <a:ea typeface="+mn-lt"/>
                <a:cs typeface="+mn-lt"/>
              </a:rPr>
              <a:t> (persistence).</a:t>
            </a:r>
            <a:endParaRPr lang="en-US" sz="1800" dirty="0"/>
          </a:p>
          <a:p>
            <a:r>
              <a:rPr lang="en-US" sz="1800" b="1" dirty="0">
                <a:ea typeface="+mn-lt"/>
                <a:cs typeface="+mn-lt"/>
              </a:rPr>
              <a:t>NTLM reuse / </a:t>
            </a:r>
            <a:r>
              <a:rPr lang="en-US" sz="1800" b="1" err="1">
                <a:ea typeface="+mn-lt"/>
                <a:cs typeface="+mn-lt"/>
              </a:rPr>
              <a:t>PtH</a:t>
            </a:r>
            <a:r>
              <a:rPr lang="en-US" sz="1800" b="1" dirty="0">
                <a:ea typeface="+mn-lt"/>
                <a:cs typeface="+mn-lt"/>
              </a:rPr>
              <a:t> patterns:</a:t>
            </a:r>
            <a:r>
              <a:rPr lang="en-US" sz="1800" dirty="0">
                <a:ea typeface="+mn-lt"/>
                <a:cs typeface="+mn-lt"/>
              </a:rPr>
              <a:t> 4624 </a:t>
            </a:r>
            <a:r>
              <a:rPr lang="en-US" sz="1800" err="1">
                <a:ea typeface="+mn-lt"/>
                <a:cs typeface="+mn-lt"/>
              </a:rPr>
              <a:t>LogonType</a:t>
            </a:r>
            <a:r>
              <a:rPr lang="en-US" sz="1800" dirty="0">
                <a:ea typeface="+mn-lt"/>
                <a:cs typeface="+mn-lt"/>
              </a:rPr>
              <a:t> 3 repeated across hosts by same account within short window.</a:t>
            </a:r>
          </a:p>
          <a:p>
            <a:r>
              <a:rPr lang="en-US" sz="1800" b="1" dirty="0">
                <a:ea typeface="+mn-lt"/>
                <a:cs typeface="+mn-lt"/>
              </a:rPr>
              <a:t>Egress anomalies:</a:t>
            </a:r>
            <a:r>
              <a:rPr lang="en-US" sz="1800" dirty="0">
                <a:ea typeface="+mn-lt"/>
                <a:cs typeface="+mn-lt"/>
              </a:rPr>
              <a:t> DNS or HTTPS to rare external IPs after ticket requests.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A993C-5F72-7C89-C9F1-F4780EBC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pic>
        <p:nvPicPr>
          <p:cNvPr id="14" name="Picture Placeholder 13" descr="A hand holding a wire">
            <a:extLst>
              <a:ext uri="{FF2B5EF4-FFF2-40B4-BE49-F238E27FC236}">
                <a16:creationId xmlns:a16="http://schemas.microsoft.com/office/drawing/2014/main" id="{8663049F-9392-3719-E4E8-8D7D5659E89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5747" r="5747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1CD4-3111-5E9F-7893-9B96015B8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3DF1B8-48E1-A0F1-C69D-7B671CD1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D9C41A-6441-7A5C-EAE1-D96C71F24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09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7562" y="154804"/>
            <a:ext cx="5687421" cy="1165065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SIEM (Splunk) Alert Template (starter)</a:t>
            </a:r>
            <a:endParaRPr lang="en-US" u="sng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6561" y="1335234"/>
            <a:ext cx="6276240" cy="5361874"/>
          </a:xfrm>
        </p:spPr>
        <p:txBody>
          <a:bodyPr vert="horz" lIns="91440" tIns="91440" rIns="91440" bIns="0" rtlCol="0" anchor="t">
            <a:normAutofit fontScale="92500" lnSpcReduction="20000"/>
          </a:bodyPr>
          <a:lstStyle/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Name: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Kerberos_TGS_Surge</a:t>
            </a:r>
            <a:endParaRPr lang="en-US" err="1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Search:</a:t>
            </a:r>
            <a:r>
              <a:rPr lang="en-US" dirty="0">
                <a:ea typeface="+mn-lt"/>
                <a:cs typeface="+mn-lt"/>
              </a:rPr>
              <a:t> (use SPL provided earlier)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Trigger:</a:t>
            </a:r>
            <a:r>
              <a:rPr lang="en-US" dirty="0">
                <a:ea typeface="+mn-lt"/>
                <a:cs typeface="+mn-lt"/>
              </a:rPr>
              <a:t> results &gt; threshold in 30m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Actions:</a:t>
            </a:r>
            <a:r>
              <a:rPr lang="en-US" dirty="0">
                <a:ea typeface="+mn-lt"/>
                <a:cs typeface="+mn-lt"/>
              </a:rPr>
              <a:t> create ticket, run enrichment playbook (collect last 48h logs, </a:t>
            </a:r>
            <a:r>
              <a:rPr lang="en-US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snapshot), notify SOC channel.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b="1" u="sng" dirty="0"/>
              <a:t>Triage flow (Tier1)</a:t>
            </a:r>
          </a:p>
          <a:p>
            <a:pPr marL="285750" indent="-285750"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Validate alert (false positive check: scheduled jobs, backup scans).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Enrich: host/user lookup, last successful logon, running processes.</a:t>
            </a:r>
            <a:endParaRPr lang="en-US" dirty="0"/>
          </a:p>
          <a:p>
            <a:pPr marL="285750" indent="-285750" algn="ctr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If suspicious, escalate to Tier2 with evidence (logs, host, account, time window).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This process reduces false positives by requiring automated pre-checks and human validation before full escalation.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Placeholder 6" descr="A close up of a circuit board">
            <a:extLst>
              <a:ext uri="{FF2B5EF4-FFF2-40B4-BE49-F238E27FC236}">
                <a16:creationId xmlns:a16="http://schemas.microsoft.com/office/drawing/2014/main" id="{F8C45233-1B15-3596-75CE-DED7D720CA0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194" r="1194"/>
          <a:stretch/>
        </p:blipFill>
        <p:spPr>
          <a:xfrm>
            <a:off x="0" y="-2235"/>
            <a:ext cx="5840730" cy="6862275"/>
          </a:xfr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198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6" descr="A person raising his hand">
            <a:extLst>
              <a:ext uri="{FF2B5EF4-FFF2-40B4-BE49-F238E27FC236}">
                <a16:creationId xmlns:a16="http://schemas.microsoft.com/office/drawing/2014/main" id="{E03BC577-8E17-B69D-45B2-395E2E82414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8333" r="8333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187" y="198813"/>
            <a:ext cx="9745598" cy="1077759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Investigation &amp; Analysis How To Handle Different  Attack Types &amp; IOCs</a:t>
            </a:r>
            <a:endParaRPr lang="en-US" u="sng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A294EA5-B679-8965-65EC-EE521D6026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7312" y="1273230"/>
            <a:ext cx="7357223" cy="520064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1400" b="1" u="sng" dirty="0"/>
              <a:t>INVESTIGATION STEPS</a:t>
            </a:r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Correlate log sources: DC logs, endpoint Sysmon, firewall/proxy logs, DHCP/DNS.</a:t>
            </a:r>
            <a:endParaRPr lang="en-US" b="1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IOC enrichment: Match hashes/domains/IPs to Abuse.ch, </a:t>
            </a:r>
            <a:r>
              <a:rPr lang="en-US" b="1" err="1">
                <a:ea typeface="+mn-lt"/>
                <a:cs typeface="+mn-lt"/>
              </a:rPr>
              <a:t>VirusTotal</a:t>
            </a:r>
            <a:r>
              <a:rPr lang="en-US" b="1" dirty="0">
                <a:ea typeface="+mn-lt"/>
                <a:cs typeface="+mn-lt"/>
              </a:rPr>
              <a:t>, Cisco Talos, internal TI.</a:t>
            </a:r>
            <a:endParaRPr lang="en-US" b="1" dirty="0"/>
          </a:p>
          <a:p>
            <a:pPr marL="285750" indent="-285750" algn="ctr"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BloodHound</a:t>
            </a:r>
            <a:r>
              <a:rPr lang="en-US" b="1" dirty="0">
                <a:ea typeface="+mn-lt"/>
                <a:cs typeface="+mn-lt"/>
              </a:rPr>
              <a:t> mapping: Export current AD graph for account path analysis and identify shortest path to DA.</a:t>
            </a:r>
            <a:endParaRPr lang="en-US" b="1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Host forensics: Collect Sysmon process tree, Windows Event logs, memory image (if justified).</a:t>
            </a:r>
            <a:endParaRPr lang="en-US" b="1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Network capture: PCAP relevant time slices to capture potential Kerberos traffic and C2.</a:t>
            </a:r>
            <a:endParaRPr lang="en-US" b="1" dirty="0"/>
          </a:p>
          <a:p>
            <a:pPr algn="ctr"/>
            <a:r>
              <a:rPr lang="en-US" b="1" u="sng" dirty="0"/>
              <a:t>Threat Intelligence correlation</a:t>
            </a:r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Compare IOCs to TI feeds (abuse.ch, Phishing Army, Talos).</a:t>
            </a:r>
            <a:endParaRPr lang="en-US" b="1" dirty="0"/>
          </a:p>
          <a:p>
            <a:pPr marL="285750" indent="-285750" algn="ctr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Tag matched IOCs and update SIEM indicators; correlate to known TTPs to identify likely actor/campaign.</a:t>
            </a:r>
            <a:endParaRPr lang="en-US" b="1" dirty="0"/>
          </a:p>
          <a:p>
            <a:pPr algn="ctr"/>
            <a:r>
              <a:rPr lang="en-US" b="1" dirty="0">
                <a:ea typeface="+mn-lt"/>
                <a:cs typeface="+mn-lt"/>
              </a:rPr>
              <a:t>This ensures incidents are verified, contextualized, and reduces chasing false positives.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5412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6" descr="A person raising his hand">
            <a:extLst>
              <a:ext uri="{FF2B5EF4-FFF2-40B4-BE49-F238E27FC236}">
                <a16:creationId xmlns:a16="http://schemas.microsoft.com/office/drawing/2014/main" id="{E03BC577-8E17-B69D-45B2-395E2E82414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8333" r="8333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481" y="172836"/>
            <a:ext cx="9693646" cy="636147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Containment &amp; Eradication. Detailed Steps.</a:t>
            </a:r>
            <a:endParaRPr lang="en-US" u="sn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B3C1A-3346-F617-2EC7-C16586CF19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997" y="971640"/>
            <a:ext cx="6699134" cy="5650921"/>
          </a:xfrm>
        </p:spPr>
        <p:txBody>
          <a:bodyPr vert="horz" lIns="0" tIns="45720" rIns="0" bIns="0" rtlCol="0" anchor="b">
            <a:noAutofit/>
          </a:bodyPr>
          <a:lstStyle/>
          <a:p>
            <a:pPr algn="ctr"/>
            <a:r>
              <a:rPr lang="en-US" sz="1600" b="1" u="sng" dirty="0"/>
              <a:t>Containment steps (immediate)</a:t>
            </a:r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Isolate host(s) via EDR (quarantine) or switch VLAN to deny network access.</a:t>
            </a:r>
            <a:endParaRPr lang="en-US" sz="1200" b="1"/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Block egress for suspicious domains/IPs at firewall/proxy.</a:t>
            </a:r>
            <a:endParaRPr lang="en-US" sz="1200" b="1"/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Suspend compromised accounts (disable or set temporary expiration) — coordinate with business owner.</a:t>
            </a:r>
            <a:endParaRPr lang="en-US" sz="1200" b="1"/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Snapshot forensic copies before remediation actions.</a:t>
            </a:r>
            <a:endParaRPr lang="en-US" sz="1200" b="1"/>
          </a:p>
          <a:p>
            <a:pPr algn="ctr"/>
            <a:r>
              <a:rPr lang="en-US" sz="1600" b="1" u="sng" dirty="0"/>
              <a:t>Eradication steps (remedial)</a:t>
            </a:r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Rotate credentials for service accounts and any impacted admin accounts.</a:t>
            </a:r>
            <a:endParaRPr lang="en-US" sz="1200" b="1"/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Remove persistence: delete malicious scheduled tasks, GPO scripts, persistence services.</a:t>
            </a:r>
            <a:endParaRPr lang="en-US" sz="1200" b="1"/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Harden AD: modify GPOs to remove writable paths, lock down SYSVOL, enforce credential hygiene.</a:t>
            </a:r>
            <a:endParaRPr lang="en-US" sz="1200" b="1"/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Patch vulnerable hosts and ensure security updates applied.</a:t>
            </a:r>
            <a:endParaRPr lang="en-US" sz="1200" b="1"/>
          </a:p>
          <a:p>
            <a:pPr algn="ctr"/>
            <a:r>
              <a:rPr lang="en-US" sz="1600" b="1" u="sng" dirty="0"/>
              <a:t>Tools &amp; commands (examples)</a:t>
            </a:r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EDR: isolate host, collect live response artifacts.</a:t>
            </a:r>
            <a:endParaRPr lang="en-US" sz="1200" b="1"/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AD: use </a:t>
            </a:r>
            <a:r>
              <a:rPr lang="en-US" sz="1200" b="1" dirty="0">
                <a:latin typeface="Consolas"/>
              </a:rPr>
              <a:t>Reset-</a:t>
            </a:r>
            <a:r>
              <a:rPr lang="en-US" sz="1200" b="1" dirty="0" err="1">
                <a:latin typeface="Consolas"/>
              </a:rPr>
              <a:t>ADServiceAccountPassword</a:t>
            </a:r>
            <a:r>
              <a:rPr lang="en-US" sz="1200" b="1" dirty="0">
                <a:ea typeface="+mn-lt"/>
                <a:cs typeface="+mn-lt"/>
              </a:rPr>
              <a:t>, </a:t>
            </a:r>
            <a:r>
              <a:rPr lang="en-US" sz="1200" b="1" dirty="0">
                <a:latin typeface="Consolas"/>
              </a:rPr>
              <a:t>Set-</a:t>
            </a:r>
            <a:r>
              <a:rPr lang="en-US" sz="1200" b="1" dirty="0" err="1">
                <a:latin typeface="Consolas"/>
              </a:rPr>
              <a:t>ADAccountPassword</a:t>
            </a:r>
            <a:r>
              <a:rPr lang="en-US" sz="1200" b="1" dirty="0">
                <a:ea typeface="+mn-lt"/>
                <a:cs typeface="+mn-lt"/>
              </a:rPr>
              <a:t>, and GPO management GUI/PowerShell.</a:t>
            </a:r>
            <a:endParaRPr lang="en-US" sz="1200" b="1"/>
          </a:p>
          <a:p>
            <a:pPr marL="285750" indent="-285750" algn="ctr">
              <a:buFont typeface="Arial"/>
              <a:buChar char="•"/>
            </a:pPr>
            <a:r>
              <a:rPr lang="en-US" sz="1200" b="1" dirty="0">
                <a:ea typeface="+mn-lt"/>
                <a:cs typeface="+mn-lt"/>
              </a:rPr>
              <a:t>Network: firewall rules to block egress IPs and ports.</a:t>
            </a:r>
            <a:endParaRPr lang="en-US" sz="1200" b="1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92E10BC-24CF-FA22-F0EC-E5731180F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619818"/>
            <a:ext cx="2705844" cy="209262"/>
          </a:xfrm>
        </p:spPr>
        <p:txBody>
          <a:bodyPr/>
          <a:lstStyle/>
          <a:p>
            <a:r>
              <a:rPr lang="en-US" dirty="0"/>
              <a:t>TEACH A COURSE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704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5BB2E-34F0-5A10-CD89-8F804EDC6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906" y="199236"/>
            <a:ext cx="10579409" cy="827048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Recovery — How To Put Business Back To Normal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B48FF-DEB6-8EAE-392A-00C2A7E2408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9664" y="1192711"/>
            <a:ext cx="11140842" cy="5282004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algn="ctr"/>
            <a:r>
              <a:rPr lang="en-US" sz="1800" b="1" dirty="0">
                <a:ea typeface="+mn-lt"/>
                <a:cs typeface="+mn-lt"/>
              </a:rPr>
              <a:t>Validation period:</a:t>
            </a:r>
            <a:r>
              <a:rPr lang="en-US" sz="1800" dirty="0">
                <a:ea typeface="+mn-lt"/>
                <a:cs typeface="+mn-lt"/>
              </a:rPr>
              <a:t> after eradication, keep hosts in monitoring mode for 72 hours with elevated logging.</a:t>
            </a:r>
            <a:endParaRPr lang="en-US" sz="1800"/>
          </a:p>
          <a:p>
            <a:pPr algn="ctr"/>
            <a:r>
              <a:rPr lang="en-US" sz="1800" b="1" dirty="0">
                <a:ea typeface="+mn-lt"/>
                <a:cs typeface="+mn-lt"/>
              </a:rPr>
              <a:t>Restore operations:</a:t>
            </a:r>
            <a:r>
              <a:rPr lang="en-US" sz="1800" dirty="0">
                <a:ea typeface="+mn-lt"/>
                <a:cs typeface="+mn-lt"/>
              </a:rPr>
              <a:t> re-enable accounts only after credentials rotated and services validated.</a:t>
            </a:r>
            <a:endParaRPr lang="en-US" sz="1800"/>
          </a:p>
          <a:p>
            <a:pPr algn="ctr"/>
            <a:r>
              <a:rPr lang="en-US" sz="1800" b="1" dirty="0">
                <a:ea typeface="+mn-lt"/>
                <a:cs typeface="+mn-lt"/>
              </a:rPr>
              <a:t>Reimage if needed:</a:t>
            </a:r>
            <a:r>
              <a:rPr lang="en-US" sz="1800" dirty="0">
                <a:ea typeface="+mn-lt"/>
                <a:cs typeface="+mn-lt"/>
              </a:rPr>
              <a:t> if host compromise severity is high, rebuild using trusted images.</a:t>
            </a:r>
            <a:endParaRPr lang="en-US" sz="1800"/>
          </a:p>
          <a:p>
            <a:pPr algn="ctr"/>
            <a:r>
              <a:rPr lang="en-US" sz="1800" b="1" dirty="0">
                <a:ea typeface="+mn-lt"/>
                <a:cs typeface="+mn-lt"/>
              </a:rPr>
              <a:t>Service validation:</a:t>
            </a:r>
            <a:r>
              <a:rPr lang="en-US" sz="1800" dirty="0">
                <a:ea typeface="+mn-lt"/>
                <a:cs typeface="+mn-lt"/>
              </a:rPr>
              <a:t> functional test of apps, file shares, email services.</a:t>
            </a:r>
            <a:endParaRPr lang="en-US" sz="1800"/>
          </a:p>
          <a:p>
            <a:pPr algn="ctr"/>
            <a:r>
              <a:rPr lang="en-US" sz="1800" b="1" dirty="0">
                <a:ea typeface="+mn-lt"/>
                <a:cs typeface="+mn-lt"/>
              </a:rPr>
              <a:t>Return-to-business checklist:</a:t>
            </a:r>
            <a:r>
              <a:rPr lang="en-US" sz="1800" dirty="0">
                <a:ea typeface="+mn-lt"/>
                <a:cs typeface="+mn-lt"/>
              </a:rPr>
              <a:t> verification sign-off from AD Admin and business owner.</a:t>
            </a:r>
            <a:endParaRPr lang="en-US" sz="1800"/>
          </a:p>
          <a:p>
            <a:pPr algn="ctr"/>
            <a:r>
              <a:rPr lang="en-US" sz="2800" b="1" u="sng" dirty="0"/>
              <a:t>Post-Incident Review &amp; Lessons Learned</a:t>
            </a:r>
          </a:p>
          <a:p>
            <a:pPr algn="ctr"/>
            <a:r>
              <a:rPr lang="en-US" sz="1800" b="1" dirty="0">
                <a:ea typeface="+mn-lt"/>
                <a:cs typeface="+mn-lt"/>
              </a:rPr>
              <a:t>Conduct debrief:</a:t>
            </a:r>
            <a:r>
              <a:rPr lang="en-US" sz="1800" dirty="0">
                <a:ea typeface="+mn-lt"/>
                <a:cs typeface="+mn-lt"/>
              </a:rPr>
              <a:t> within 72 hours — IR Lead, SOC, AD Admins, NetOps and Business owners.</a:t>
            </a:r>
            <a:endParaRPr lang="en-US" sz="1800"/>
          </a:p>
          <a:p>
            <a:pPr algn="ctr"/>
            <a:r>
              <a:rPr lang="en-US" sz="1800" b="1" dirty="0">
                <a:ea typeface="+mn-lt"/>
                <a:cs typeface="+mn-lt"/>
              </a:rPr>
              <a:t>AAR document:</a:t>
            </a:r>
            <a:r>
              <a:rPr lang="en-US" sz="1800" dirty="0">
                <a:ea typeface="+mn-lt"/>
                <a:cs typeface="+mn-lt"/>
              </a:rPr>
              <a:t> timeline, root cause, successful mitigations, gaps, recommended actions.</a:t>
            </a:r>
            <a:endParaRPr lang="en-US" sz="1800"/>
          </a:p>
          <a:p>
            <a:pPr algn="ctr"/>
            <a:r>
              <a:rPr lang="en-US" sz="1800" b="1" dirty="0">
                <a:ea typeface="+mn-lt"/>
                <a:cs typeface="+mn-lt"/>
              </a:rPr>
              <a:t>Metrics &amp; KPIs:</a:t>
            </a:r>
            <a:r>
              <a:rPr lang="en-US" sz="1800" dirty="0">
                <a:ea typeface="+mn-lt"/>
                <a:cs typeface="+mn-lt"/>
              </a:rPr>
              <a:t> TTD, TTC, TTR, false positive rate, number of attack paths removed.</a:t>
            </a:r>
            <a:endParaRPr lang="en-US" sz="1800"/>
          </a:p>
          <a:p>
            <a:pPr algn="ctr"/>
            <a:r>
              <a:rPr lang="en-US" sz="1800" b="1" dirty="0">
                <a:ea typeface="+mn-lt"/>
                <a:cs typeface="+mn-lt"/>
              </a:rPr>
              <a:t>Action items:</a:t>
            </a:r>
            <a:r>
              <a:rPr lang="en-US" sz="1800" dirty="0">
                <a:ea typeface="+mn-lt"/>
                <a:cs typeface="+mn-lt"/>
              </a:rPr>
              <a:t> prioritized list (owner, due date, verification).</a:t>
            </a:r>
            <a:endParaRPr lang="en-US" sz="1800"/>
          </a:p>
          <a:p>
            <a:pPr algn="ctr"/>
            <a:r>
              <a:rPr lang="en-US" sz="1800" b="1" dirty="0">
                <a:ea typeface="+mn-lt"/>
                <a:cs typeface="+mn-lt"/>
              </a:rPr>
              <a:t>Update playbooks &amp; detections</a:t>
            </a:r>
            <a:r>
              <a:rPr lang="en-US" sz="1800" dirty="0">
                <a:ea typeface="+mn-lt"/>
                <a:cs typeface="+mn-lt"/>
              </a:rPr>
              <a:t> (apply Sigma/SPL changes and close the loop).</a:t>
            </a:r>
            <a:endParaRPr lang="en-US" sz="1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EB4FB-F1BB-CF67-F6C5-C95AC628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780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A2465-C99E-F12D-FEB7-68ED13EA4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443" y="320040"/>
            <a:ext cx="11006872" cy="808463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Reporting — What I Will Include &amp; How It’s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BF119-1F2C-F5D8-44D9-6036A452AFB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14907" y="1294930"/>
            <a:ext cx="10573990" cy="5179785"/>
          </a:xfrm>
        </p:spPr>
        <p:txBody>
          <a:bodyPr vert="horz" lIns="0" tIns="45720" rIns="0" bIns="45720" rtlCol="0" anchor="t">
            <a:noAutofit/>
          </a:bodyPr>
          <a:lstStyle/>
          <a:p>
            <a:pPr algn="ctr"/>
            <a:r>
              <a:rPr lang="en-US" sz="1800" b="1" dirty="0">
                <a:ea typeface="+mn-lt"/>
                <a:cs typeface="+mn-lt"/>
              </a:rPr>
              <a:t>Incident Report Sections (for stakeholders):</a:t>
            </a:r>
            <a:endParaRPr lang="en-US" sz="1800" dirty="0"/>
          </a:p>
          <a:p>
            <a:pPr algn="ctr"/>
            <a:r>
              <a:rPr lang="en-US" sz="1800">
                <a:ea typeface="+mn-lt"/>
                <a:cs typeface="+mn-lt"/>
              </a:rPr>
              <a:t>Executive Summary (what happened, impact, current status).</a:t>
            </a:r>
            <a:endParaRPr lang="en-US" sz="1800"/>
          </a:p>
          <a:p>
            <a:pPr algn="ctr"/>
            <a:r>
              <a:rPr lang="en-US" sz="1800" dirty="0">
                <a:ea typeface="+mn-lt"/>
                <a:cs typeface="+mn-lt"/>
              </a:rPr>
              <a:t>Timeline of events (with timestamps).</a:t>
            </a:r>
            <a:endParaRPr lang="en-US" sz="1800" dirty="0"/>
          </a:p>
          <a:p>
            <a:pPr algn="ctr"/>
            <a:r>
              <a:rPr lang="en-US" sz="1800" dirty="0">
                <a:ea typeface="+mn-lt"/>
                <a:cs typeface="+mn-lt"/>
              </a:rPr>
              <a:t>Technical analysis (evidence, IOCs, attack path).</a:t>
            </a:r>
            <a:endParaRPr lang="en-US" sz="1800" dirty="0"/>
          </a:p>
          <a:p>
            <a:pPr algn="ctr"/>
            <a:r>
              <a:rPr lang="en-US" sz="1800" dirty="0">
                <a:ea typeface="+mn-lt"/>
                <a:cs typeface="+mn-lt"/>
              </a:rPr>
              <a:t>Actions taken (containment, eradication, recovery).</a:t>
            </a:r>
            <a:endParaRPr lang="en-US" sz="1800" dirty="0"/>
          </a:p>
          <a:p>
            <a:pPr algn="ctr"/>
            <a:r>
              <a:rPr lang="en-US" sz="1800" dirty="0">
                <a:ea typeface="+mn-lt"/>
                <a:cs typeface="+mn-lt"/>
              </a:rPr>
              <a:t>Business impact &amp; cost estimate (service downtime, affected users).</a:t>
            </a:r>
            <a:endParaRPr lang="en-US" sz="1800" dirty="0"/>
          </a:p>
          <a:p>
            <a:pPr algn="ctr"/>
            <a:r>
              <a:rPr lang="en-US" sz="1800" dirty="0">
                <a:ea typeface="+mn-lt"/>
                <a:cs typeface="+mn-lt"/>
              </a:rPr>
              <a:t>Remediation &amp; next steps (short/medium/long term).</a:t>
            </a:r>
            <a:endParaRPr lang="en-US" sz="1800" dirty="0"/>
          </a:p>
          <a:p>
            <a:pPr algn="ctr"/>
            <a:r>
              <a:rPr lang="en-US" sz="1800" dirty="0">
                <a:ea typeface="+mn-lt"/>
                <a:cs typeface="+mn-lt"/>
              </a:rPr>
              <a:t>KPIs and lessons learned.</a:t>
            </a:r>
            <a:endParaRPr lang="en-US" sz="1800" dirty="0"/>
          </a:p>
          <a:p>
            <a:pPr algn="ctr"/>
            <a:r>
              <a:rPr lang="en-US" sz="1800" dirty="0">
                <a:ea typeface="+mn-lt"/>
                <a:cs typeface="+mn-lt"/>
              </a:rPr>
              <a:t>Attachments: PCAP, logs excerpt, </a:t>
            </a:r>
            <a:r>
              <a:rPr lang="en-US" sz="1800" err="1">
                <a:ea typeface="+mn-lt"/>
                <a:cs typeface="+mn-lt"/>
              </a:rPr>
              <a:t>BloodHound</a:t>
            </a:r>
            <a:r>
              <a:rPr lang="en-US" sz="1800" dirty="0">
                <a:ea typeface="+mn-lt"/>
                <a:cs typeface="+mn-lt"/>
              </a:rPr>
              <a:t> graph, Sigma/SPL rules used.</a:t>
            </a:r>
            <a:endParaRPr lang="en-US" sz="1800" dirty="0"/>
          </a:p>
          <a:p>
            <a:pPr algn="ctr"/>
            <a:r>
              <a:rPr lang="en-US" sz="1800" b="1" dirty="0">
                <a:ea typeface="+mn-lt"/>
                <a:cs typeface="+mn-lt"/>
              </a:rPr>
              <a:t>How used:</a:t>
            </a:r>
            <a:r>
              <a:rPr lang="en-US" sz="1800" dirty="0">
                <a:ea typeface="+mn-lt"/>
                <a:cs typeface="+mn-lt"/>
              </a:rPr>
              <a:t> This report feeds governance, compliance, risk registers, and future phishing/incident training. It is the canonical reference for subsequent phases and improvements.</a:t>
            </a: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EA2B3-E0E8-CA2A-BCA2-7B66F5B57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068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65F1-562D-3D0C-F1A4-C567AFFC8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15" y="320040"/>
            <a:ext cx="10551530" cy="1105830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Avoiding False Positives &amp; Ensuring Real Threats Are Prioritized.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A9294-ABE0-1E45-1054-8BBC419987A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5614" y="1443613"/>
            <a:ext cx="10573988" cy="5031102"/>
          </a:xfrm>
        </p:spPr>
        <p:txBody>
          <a:bodyPr vert="horz" lIns="0" tIns="45720" rIns="0" bIns="45720" rtlCol="0" anchor="t">
            <a:normAutofit/>
          </a:bodyPr>
          <a:lstStyle/>
          <a:p>
            <a:pPr algn="ctr"/>
            <a:r>
              <a:rPr lang="en-US" sz="1600" b="1" dirty="0">
                <a:ea typeface="+mn-lt"/>
                <a:cs typeface="+mn-lt"/>
              </a:rPr>
              <a:t>Baseline normal:</a:t>
            </a:r>
            <a:r>
              <a:rPr lang="en-US" sz="1600" dirty="0">
                <a:ea typeface="+mn-lt"/>
                <a:cs typeface="+mn-lt"/>
              </a:rPr>
              <a:t> collect 48–72h of normal logs and use statistical thresholds.</a:t>
            </a:r>
            <a:endParaRPr lang="en-US" sz="1600"/>
          </a:p>
          <a:p>
            <a:pPr algn="ctr"/>
            <a:r>
              <a:rPr lang="en-US" sz="1600" b="1" dirty="0">
                <a:ea typeface="+mn-lt"/>
                <a:cs typeface="+mn-lt"/>
              </a:rPr>
              <a:t>Whitelist known automation:</a:t>
            </a:r>
            <a:r>
              <a:rPr lang="en-US" sz="1600" dirty="0">
                <a:ea typeface="+mn-lt"/>
                <a:cs typeface="+mn-lt"/>
              </a:rPr>
              <a:t> backup jobs, monitoring scans, scheduled admin tasks.</a:t>
            </a:r>
          </a:p>
          <a:p>
            <a:pPr algn="ctr"/>
            <a:r>
              <a:rPr lang="en-US" sz="1600" b="1" dirty="0">
                <a:ea typeface="+mn-lt"/>
                <a:cs typeface="+mn-lt"/>
              </a:rPr>
              <a:t>Alert enrichment:</a:t>
            </a:r>
            <a:r>
              <a:rPr lang="en-US" sz="1600" dirty="0">
                <a:ea typeface="+mn-lt"/>
                <a:cs typeface="+mn-lt"/>
              </a:rPr>
              <a:t> add host/account reputation, known TI matches, and last-seen behavior before firing high-severity alerts.</a:t>
            </a:r>
          </a:p>
          <a:p>
            <a:pPr algn="ctr"/>
            <a:r>
              <a:rPr lang="en-US" sz="1600" b="1" dirty="0">
                <a:ea typeface="+mn-lt"/>
                <a:cs typeface="+mn-lt"/>
              </a:rPr>
              <a:t>Human-in-the-loop:</a:t>
            </a:r>
            <a:r>
              <a:rPr lang="en-US" sz="1600" dirty="0">
                <a:ea typeface="+mn-lt"/>
                <a:cs typeface="+mn-lt"/>
              </a:rPr>
              <a:t> Tier1 validation step to filter false positives before invoking full IR.</a:t>
            </a:r>
          </a:p>
          <a:p>
            <a:pPr algn="ctr"/>
            <a:br>
              <a:rPr lang="en-US" sz="1600" dirty="0"/>
            </a:br>
            <a:r>
              <a:rPr lang="en-US" sz="2800" b="1" u="sng" dirty="0"/>
              <a:t>KPI &amp; Measurable Objectives (To Prove improvements)</a:t>
            </a:r>
            <a:endParaRPr lang="en-US" sz="2800" b="1" u="sng"/>
          </a:p>
          <a:p>
            <a:pPr algn="ctr"/>
            <a:r>
              <a:rPr lang="en-US" sz="1600" dirty="0">
                <a:ea typeface="+mn-lt"/>
                <a:cs typeface="+mn-lt"/>
              </a:rPr>
              <a:t>Time-to-detect (TTD) target: </a:t>
            </a:r>
            <a:r>
              <a:rPr lang="en-US" sz="1600" b="1" dirty="0">
                <a:ea typeface="+mn-lt"/>
                <a:cs typeface="+mn-lt"/>
              </a:rPr>
              <a:t>&lt;10 minutes</a:t>
            </a:r>
            <a:r>
              <a:rPr lang="en-US" sz="1600" dirty="0">
                <a:ea typeface="+mn-lt"/>
                <a:cs typeface="+mn-lt"/>
              </a:rPr>
              <a:t> for high-confidence Kerberos abuse.</a:t>
            </a:r>
          </a:p>
          <a:p>
            <a:pPr algn="ctr"/>
            <a:r>
              <a:rPr lang="en-US" sz="1600" dirty="0">
                <a:ea typeface="+mn-lt"/>
                <a:cs typeface="+mn-lt"/>
              </a:rPr>
              <a:t>Time-to-contain (TTC): </a:t>
            </a:r>
            <a:r>
              <a:rPr lang="en-US" sz="1600" b="1" dirty="0">
                <a:ea typeface="+mn-lt"/>
                <a:cs typeface="+mn-lt"/>
              </a:rPr>
              <a:t>&lt;60 minutes</a:t>
            </a:r>
            <a:r>
              <a:rPr lang="en-US" sz="1600" dirty="0">
                <a:ea typeface="+mn-lt"/>
                <a:cs typeface="+mn-lt"/>
              </a:rPr>
              <a:t> for affected hosts.</a:t>
            </a:r>
          </a:p>
          <a:p>
            <a:pPr algn="ctr"/>
            <a:r>
              <a:rPr lang="en-US" sz="1600" dirty="0">
                <a:ea typeface="+mn-lt"/>
                <a:cs typeface="+mn-lt"/>
              </a:rPr>
              <a:t>Time-to-remediate (TTR): </a:t>
            </a:r>
            <a:r>
              <a:rPr lang="en-US" sz="1600" b="1" dirty="0">
                <a:ea typeface="+mn-lt"/>
                <a:cs typeface="+mn-lt"/>
              </a:rPr>
              <a:t>&lt;24 hours</a:t>
            </a:r>
            <a:r>
              <a:rPr lang="en-US" sz="1600" dirty="0">
                <a:ea typeface="+mn-lt"/>
                <a:cs typeface="+mn-lt"/>
              </a:rPr>
              <a:t> for credential rotation and blocking.</a:t>
            </a:r>
          </a:p>
          <a:p>
            <a:pPr algn="ctr"/>
            <a:r>
              <a:rPr lang="en-US" sz="1600" dirty="0">
                <a:ea typeface="+mn-lt"/>
                <a:cs typeface="+mn-lt"/>
              </a:rPr>
              <a:t>False positive rate: </a:t>
            </a:r>
            <a:r>
              <a:rPr lang="en-US" sz="1600" b="1" dirty="0">
                <a:ea typeface="+mn-lt"/>
                <a:cs typeface="+mn-lt"/>
              </a:rPr>
              <a:t>&lt;10%</a:t>
            </a:r>
            <a:r>
              <a:rPr lang="en-US" sz="1600" dirty="0">
                <a:ea typeface="+mn-lt"/>
                <a:cs typeface="+mn-lt"/>
              </a:rPr>
              <a:t> after 7-day tuning.</a:t>
            </a:r>
          </a:p>
          <a:p>
            <a:pPr algn="ctr"/>
            <a:r>
              <a:rPr lang="en-US" sz="1600" dirty="0">
                <a:ea typeface="+mn-lt"/>
                <a:cs typeface="+mn-lt"/>
              </a:rPr>
              <a:t>Reduction in modeled attack paths (</a:t>
            </a:r>
            <a:r>
              <a:rPr lang="en-US" sz="1600" dirty="0" err="1">
                <a:ea typeface="+mn-lt"/>
                <a:cs typeface="+mn-lt"/>
              </a:rPr>
              <a:t>BloodHound</a:t>
            </a:r>
            <a:r>
              <a:rPr lang="en-US" sz="1600" dirty="0">
                <a:ea typeface="+mn-lt"/>
                <a:cs typeface="+mn-lt"/>
              </a:rPr>
              <a:t>): </a:t>
            </a:r>
            <a:r>
              <a:rPr lang="en-US" sz="1600" b="1" dirty="0">
                <a:ea typeface="+mn-lt"/>
                <a:cs typeface="+mn-lt"/>
              </a:rPr>
              <a:t>≥65%</a:t>
            </a:r>
            <a:r>
              <a:rPr lang="en-US" sz="1600" dirty="0">
                <a:ea typeface="+mn-lt"/>
                <a:cs typeface="+mn-lt"/>
              </a:rPr>
              <a:t> after remediation.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ACAD8-6AF7-8765-CF22-0C03DB5AD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59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70B4-6052-0B3A-1B8B-D43EC95F9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199" y="171358"/>
            <a:ext cx="10560823" cy="696952"/>
          </a:xfrm>
        </p:spPr>
        <p:txBody>
          <a:bodyPr/>
          <a:lstStyle/>
          <a:p>
            <a:pPr algn="ctr"/>
            <a:r>
              <a:rPr lang="en-US" u="sng" dirty="0">
                <a:ea typeface="+mj-lt"/>
                <a:cs typeface="+mj-lt"/>
              </a:rPr>
              <a:t>Training &amp; Awareness (Post-Incident)</a:t>
            </a:r>
            <a:endParaRPr lang="en-US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A8D53-26FD-EC46-1587-684AD09BDA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0469" y="1006856"/>
            <a:ext cx="11038621" cy="5495737"/>
          </a:xfrm>
        </p:spPr>
        <p:txBody>
          <a:bodyPr vert="horz" lIns="0" tIns="45720" rIns="0" bIns="45720" rtlCol="0" anchor="t">
            <a:noAutofit/>
          </a:bodyPr>
          <a:lstStyle/>
          <a:p>
            <a:pPr algn="ctr"/>
            <a:r>
              <a:rPr lang="en-US" sz="1800" b="1" dirty="0">
                <a:ea typeface="+mn-lt"/>
                <a:cs typeface="+mn-lt"/>
              </a:rPr>
              <a:t>Tabletop exercises</a:t>
            </a:r>
            <a:r>
              <a:rPr lang="en-US" sz="1800" dirty="0">
                <a:ea typeface="+mn-lt"/>
                <a:cs typeface="+mn-lt"/>
              </a:rPr>
              <a:t> quarterly covering Kerberos/GPO attacks.</a:t>
            </a:r>
            <a:endParaRPr lang="en-US" sz="1800" dirty="0"/>
          </a:p>
          <a:p>
            <a:pPr algn="ctr"/>
            <a:r>
              <a:rPr lang="en-US" sz="1800" b="1" dirty="0">
                <a:ea typeface="+mn-lt"/>
                <a:cs typeface="+mn-lt"/>
              </a:rPr>
              <a:t>SOC run drills</a:t>
            </a:r>
            <a:r>
              <a:rPr lang="en-US" sz="1800" dirty="0">
                <a:ea typeface="+mn-lt"/>
                <a:cs typeface="+mn-lt"/>
              </a:rPr>
              <a:t>: deploy synthetic incidents and measure TTD/TTC.</a:t>
            </a:r>
          </a:p>
          <a:p>
            <a:pPr algn="ctr"/>
            <a:r>
              <a:rPr lang="en-US" sz="1800" b="1" dirty="0">
                <a:ea typeface="+mn-lt"/>
                <a:cs typeface="+mn-lt"/>
              </a:rPr>
              <a:t>Admin workshops:</a:t>
            </a:r>
            <a:r>
              <a:rPr lang="en-US" sz="1800" dirty="0">
                <a:ea typeface="+mn-lt"/>
                <a:cs typeface="+mn-lt"/>
              </a:rPr>
              <a:t> SPN &amp; service account hygiene, GPO management best practices.</a:t>
            </a:r>
          </a:p>
          <a:p>
            <a:pPr algn="ctr"/>
            <a:r>
              <a:rPr lang="en-US" sz="1800" b="1" dirty="0">
                <a:ea typeface="+mn-lt"/>
                <a:cs typeface="+mn-lt"/>
              </a:rPr>
              <a:t>User awareness:</a:t>
            </a:r>
            <a:r>
              <a:rPr lang="en-US" sz="1800" dirty="0">
                <a:ea typeface="+mn-lt"/>
                <a:cs typeface="+mn-lt"/>
              </a:rPr>
              <a:t> targeted training for HR/Finance on document/phishing risks.</a:t>
            </a:r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2400" b="1" u="sng" dirty="0"/>
              <a:t>Evidence &amp; Artifacts To Save in The Project Repo</a:t>
            </a:r>
          </a:p>
          <a:p>
            <a:pPr algn="ctr"/>
            <a:r>
              <a:rPr lang="en-US" sz="1800" dirty="0">
                <a:latin typeface="Consolas"/>
              </a:rPr>
              <a:t>IR_Playbook_Kerberos_Abuse_v3.md</a:t>
            </a:r>
            <a:r>
              <a:rPr lang="en-US" sz="1800" dirty="0">
                <a:ea typeface="+mn-lt"/>
                <a:cs typeface="+mn-lt"/>
              </a:rPr>
              <a:t> (this playbook).</a:t>
            </a:r>
          </a:p>
          <a:p>
            <a:pPr algn="ctr"/>
            <a:r>
              <a:rPr lang="en-US" sz="1800" dirty="0">
                <a:ea typeface="+mn-lt"/>
                <a:cs typeface="+mn-lt"/>
              </a:rPr>
              <a:t>Splunk saved searches (SPL files).</a:t>
            </a:r>
          </a:p>
          <a:p>
            <a:pPr algn="ctr"/>
            <a:r>
              <a:rPr lang="en-US" sz="1800" dirty="0">
                <a:ea typeface="+mn-lt"/>
                <a:cs typeface="+mn-lt"/>
              </a:rPr>
              <a:t>Sigma rules (.</a:t>
            </a:r>
            <a:r>
              <a:rPr lang="en-US" sz="1800" dirty="0" err="1">
                <a:ea typeface="+mn-lt"/>
                <a:cs typeface="+mn-lt"/>
              </a:rPr>
              <a:t>yml</a:t>
            </a:r>
            <a:r>
              <a:rPr lang="en-US" sz="1800" dirty="0">
                <a:ea typeface="+mn-lt"/>
                <a:cs typeface="+mn-lt"/>
              </a:rPr>
              <a:t>).</a:t>
            </a:r>
          </a:p>
          <a:p>
            <a:pPr algn="ctr"/>
            <a:r>
              <a:rPr lang="en-US" sz="1800" dirty="0">
                <a:ea typeface="+mn-lt"/>
                <a:cs typeface="+mn-lt"/>
              </a:rPr>
              <a:t>Incident report template (DOCX/PDF).</a:t>
            </a:r>
          </a:p>
          <a:p>
            <a:pPr algn="ctr"/>
            <a:r>
              <a:rPr lang="en-US" sz="1800" dirty="0" err="1">
                <a:ea typeface="+mn-lt"/>
                <a:cs typeface="+mn-lt"/>
              </a:rPr>
              <a:t>BloodHound</a:t>
            </a:r>
            <a:r>
              <a:rPr lang="en-US" sz="1800" dirty="0">
                <a:ea typeface="+mn-lt"/>
                <a:cs typeface="+mn-lt"/>
              </a:rPr>
              <a:t> before/after JSON or screenshots.</a:t>
            </a:r>
          </a:p>
          <a:p>
            <a:pPr algn="ctr"/>
            <a:r>
              <a:rPr lang="en-US" sz="1800" dirty="0">
                <a:ea typeface="+mn-lt"/>
                <a:cs typeface="+mn-lt"/>
              </a:rPr>
              <a:t>Forensic checklist and PCAP snippets (redacted if public).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C6C7A-F4DE-B1D0-8BDA-82795F4E1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396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5C7A-FD25-8365-FAA5-10EA188AC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15" y="320040"/>
            <a:ext cx="10588700" cy="659781"/>
          </a:xfrm>
        </p:spPr>
        <p:txBody>
          <a:bodyPr/>
          <a:lstStyle/>
          <a:p>
            <a:pPr algn="ctr"/>
            <a:r>
              <a:rPr lang="en-US" u="sng" dirty="0">
                <a:ea typeface="+mj-lt"/>
                <a:cs typeface="+mj-lt"/>
              </a:rPr>
              <a:t>Detection Categories &amp; Signature Recipes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A2B3B-1A4D-2B1A-8C91-BF45E1302AF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7639" y="1174125"/>
            <a:ext cx="10741256" cy="5402810"/>
          </a:xfrm>
        </p:spPr>
        <p:txBody>
          <a:bodyPr vert="horz" lIns="0" tIns="45720" rIns="0" bIns="45720" rtlCol="0" anchor="t">
            <a:normAutofit fontScale="85000" lnSpcReduction="20000"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(For each category: rationale, Splunk/SPL starter query, Sigma-style rule)</a:t>
            </a:r>
            <a:endParaRPr lang="en-US" dirty="0"/>
          </a:p>
          <a:p>
            <a:pPr algn="ctr"/>
            <a:r>
              <a:rPr lang="en-US" u="sng" dirty="0"/>
              <a:t>A. Reconnaissance / AD Enumeration</a:t>
            </a:r>
          </a:p>
          <a:p>
            <a:pPr algn="ctr"/>
            <a:r>
              <a:rPr lang="en-US" b="1" dirty="0">
                <a:ea typeface="+mn-lt"/>
                <a:cs typeface="+mn-lt"/>
              </a:rPr>
              <a:t>Rationale:</a:t>
            </a:r>
            <a:r>
              <a:rPr lang="en-US" dirty="0">
                <a:ea typeface="+mn-lt"/>
                <a:cs typeface="+mn-lt"/>
              </a:rPr>
              <a:t> Enumeration precedes attacks — look for abnormal LDAP queries, unusual number of directory enumerate ops, and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collector activity.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SPL (LDAP activity spike):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index=</a:t>
            </a:r>
            <a:r>
              <a:rPr lang="en-US" dirty="0" err="1">
                <a:ea typeface="+mn-lt"/>
                <a:cs typeface="+mn-lt"/>
              </a:rPr>
              <a:t>wineventlog</a:t>
            </a:r>
            <a:r>
              <a:rPr lang="en-US" dirty="0">
                <a:ea typeface="+mn-lt"/>
                <a:cs typeface="+mn-lt"/>
              </a:rPr>
              <a:t> source="</a:t>
            </a:r>
            <a:r>
              <a:rPr lang="en-US" dirty="0" err="1">
                <a:ea typeface="+mn-lt"/>
                <a:cs typeface="+mn-lt"/>
              </a:rPr>
              <a:t>WinEventLog:Directory</a:t>
            </a:r>
            <a:r>
              <a:rPr lang="en-US" dirty="0">
                <a:ea typeface="+mn-lt"/>
                <a:cs typeface="+mn-lt"/>
              </a:rPr>
              <a:t> Service" 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=4662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| stats count by </a:t>
            </a:r>
            <a:r>
              <a:rPr lang="en-US" dirty="0" err="1">
                <a:ea typeface="+mn-lt"/>
                <a:cs typeface="+mn-lt"/>
              </a:rPr>
              <a:t>ObjectDN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Account_Name</a:t>
            </a:r>
            <a:r>
              <a:rPr lang="en-US" dirty="0">
                <a:ea typeface="+mn-lt"/>
                <a:cs typeface="+mn-lt"/>
              </a:rPr>
              <a:t>, host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| where count &gt; 50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Sigma (concept):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Event source: AD/Directory Service; condition: high count of object read operations by non-admin account within short window.</a:t>
            </a:r>
            <a:endParaRPr lang="en-US" dirty="0"/>
          </a:p>
          <a:p>
            <a:pPr algn="ctr"/>
            <a:r>
              <a:rPr lang="en-US" u="sng" dirty="0"/>
              <a:t>B. Kerberos Abuse (AS-REP / </a:t>
            </a:r>
            <a:r>
              <a:rPr lang="en-US" u="sng" dirty="0" err="1"/>
              <a:t>Kerberoast</a:t>
            </a:r>
            <a:r>
              <a:rPr lang="en-US" u="sng" dirty="0"/>
              <a:t> / TGS anomalies)</a:t>
            </a:r>
          </a:p>
          <a:p>
            <a:pPr algn="ctr"/>
            <a:r>
              <a:rPr lang="en-US" b="1" dirty="0">
                <a:ea typeface="+mn-lt"/>
                <a:cs typeface="+mn-lt"/>
              </a:rPr>
              <a:t>Rationale:</a:t>
            </a:r>
            <a:r>
              <a:rPr lang="en-US" dirty="0">
                <a:ea typeface="+mn-lt"/>
                <a:cs typeface="+mn-lt"/>
              </a:rPr>
              <a:t> Unusual TGT/TGS/TGS-REQ patterns indicate ticket harvesting or brute-force against service tickets.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SPL (TGS request spike by account):</a:t>
            </a:r>
            <a:endParaRPr lang="en-US" u="sng" dirty="0"/>
          </a:p>
          <a:p>
            <a:pPr algn="ctr"/>
            <a:r>
              <a:rPr lang="en-US" dirty="0">
                <a:ea typeface="+mn-lt"/>
                <a:cs typeface="+mn-lt"/>
              </a:rPr>
              <a:t>index=</a:t>
            </a:r>
            <a:r>
              <a:rPr lang="en-US" dirty="0" err="1">
                <a:ea typeface="+mn-lt"/>
                <a:cs typeface="+mn-lt"/>
              </a:rPr>
              <a:t>wineventlog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=4769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| stats count by </a:t>
            </a:r>
            <a:r>
              <a:rPr lang="en-US" dirty="0" err="1">
                <a:ea typeface="+mn-lt"/>
                <a:cs typeface="+mn-lt"/>
              </a:rPr>
              <a:t>Account_Name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Service_Name</a:t>
            </a:r>
            <a:r>
              <a:rPr lang="en-US" dirty="0">
                <a:ea typeface="+mn-lt"/>
                <a:cs typeface="+mn-lt"/>
              </a:rPr>
              <a:t>, host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| where count &gt; 20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| sort -count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Sigma (concept):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 4769 surge for service accounts / SPNs &gt; threshold.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CFD83-0860-5795-A8CF-489CA94B3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00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4C14-60A3-5372-FBA6-848B8849F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199" y="320040"/>
            <a:ext cx="10570116" cy="678366"/>
          </a:xfrm>
        </p:spPr>
        <p:txBody>
          <a:bodyPr/>
          <a:lstStyle/>
          <a:p>
            <a:r>
              <a:rPr lang="en-US" u="sng" dirty="0">
                <a:ea typeface="+mj-lt"/>
                <a:cs typeface="+mj-lt"/>
              </a:rPr>
              <a:t>Credential Theft / Lateral Movement Indicators</a:t>
            </a:r>
            <a:endParaRPr lang="en-US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43E92-01D5-68A0-B64A-E48F6F94444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689" y="997565"/>
            <a:ext cx="11559011" cy="5653711"/>
          </a:xfrm>
        </p:spPr>
        <p:txBody>
          <a:bodyPr vert="horz" lIns="0" tIns="45720" rIns="0" bIns="45720" rtlCol="0" anchor="t">
            <a:normAutofit/>
          </a:bodyPr>
          <a:lstStyle/>
          <a:p>
            <a:pPr algn="ctr"/>
            <a:r>
              <a:rPr lang="en-US" b="1" dirty="0">
                <a:ea typeface="+mn-lt"/>
                <a:cs typeface="+mn-lt"/>
              </a:rPr>
              <a:t>Rationale:</a:t>
            </a:r>
            <a:r>
              <a:rPr lang="en-US" dirty="0">
                <a:ea typeface="+mn-lt"/>
                <a:cs typeface="+mn-lt"/>
              </a:rPr>
              <a:t> Unusual authentication patterns across hosts, creation of remote services, and suspicious scheduled tasks.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SPL (new scheduled tasks after network auth):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index=</a:t>
            </a:r>
            <a:r>
              <a:rPr lang="en-US" err="1">
                <a:ea typeface="+mn-lt"/>
                <a:cs typeface="+mn-lt"/>
              </a:rPr>
              <a:t>wineventlog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=4698 OR </a:t>
            </a:r>
            <a:r>
              <a:rPr lang="en-US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=1)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| transaction host </a:t>
            </a:r>
            <a:r>
              <a:rPr lang="en-US" dirty="0" err="1">
                <a:ea typeface="+mn-lt"/>
                <a:cs typeface="+mn-lt"/>
              </a:rPr>
              <a:t>maxspan</a:t>
            </a:r>
            <a:r>
              <a:rPr lang="en-US" dirty="0">
                <a:ea typeface="+mn-lt"/>
                <a:cs typeface="+mn-lt"/>
              </a:rPr>
              <a:t>=10m </a:t>
            </a:r>
            <a:r>
              <a:rPr lang="en-US" dirty="0" err="1">
                <a:ea typeface="+mn-lt"/>
                <a:cs typeface="+mn-lt"/>
              </a:rPr>
              <a:t>startswith</a:t>
            </a:r>
            <a:r>
              <a:rPr lang="en-US" dirty="0">
                <a:ea typeface="+mn-lt"/>
                <a:cs typeface="+mn-lt"/>
              </a:rPr>
              <a:t>=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=4624 </a:t>
            </a:r>
            <a:r>
              <a:rPr lang="en-US" dirty="0" err="1">
                <a:ea typeface="+mn-lt"/>
                <a:cs typeface="+mn-lt"/>
              </a:rPr>
              <a:t>endswith</a:t>
            </a:r>
            <a:r>
              <a:rPr lang="en-US" dirty="0">
                <a:ea typeface="+mn-lt"/>
                <a:cs typeface="+mn-lt"/>
              </a:rPr>
              <a:t>=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=4698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| search Image="*powershell.exe" OR Image="*</a:t>
            </a:r>
            <a:r>
              <a:rPr lang="en-US" dirty="0" err="1">
                <a:ea typeface="+mn-lt"/>
                <a:cs typeface="+mn-lt"/>
              </a:rPr>
              <a:t>psexec</a:t>
            </a:r>
            <a:r>
              <a:rPr lang="en-US" dirty="0">
                <a:ea typeface="+mn-lt"/>
                <a:cs typeface="+mn-lt"/>
              </a:rPr>
              <a:t>*"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Sigma:</a:t>
            </a:r>
            <a:r>
              <a:rPr lang="en-US" dirty="0">
                <a:ea typeface="+mn-lt"/>
                <a:cs typeface="+mn-lt"/>
              </a:rPr>
              <a:t> Correlate 4624 (logon) with creation of scheduled tasks/services within 10 minutes.</a:t>
            </a:r>
            <a:endParaRPr lang="en-US" b="1" dirty="0"/>
          </a:p>
          <a:p>
            <a:pPr algn="ctr"/>
            <a:r>
              <a:rPr lang="en-US" u="sng" dirty="0"/>
              <a:t>D. GPO Changes &amp; SYSVOL Writes</a:t>
            </a:r>
          </a:p>
          <a:p>
            <a:pPr algn="ctr"/>
            <a:r>
              <a:rPr lang="en-US" b="1" dirty="0">
                <a:ea typeface="+mn-lt"/>
                <a:cs typeface="+mn-lt"/>
              </a:rPr>
              <a:t>Rationale:</a:t>
            </a:r>
            <a:r>
              <a:rPr lang="en-US" dirty="0">
                <a:ea typeface="+mn-lt"/>
                <a:cs typeface="+mn-lt"/>
              </a:rPr>
              <a:t> GPO tampering used for persistence and lateral execution. Watch </a:t>
            </a:r>
            <a:r>
              <a:rPr lang="en-US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 5136 &amp; 5137.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SPL (GPO modification):</a:t>
            </a:r>
            <a:endParaRPr lang="en-US" u="sng"/>
          </a:p>
          <a:p>
            <a:pPr algn="ctr"/>
            <a:r>
              <a:rPr lang="en-US" dirty="0">
                <a:ea typeface="+mn-lt"/>
                <a:cs typeface="+mn-lt"/>
              </a:rPr>
              <a:t>index=</a:t>
            </a:r>
            <a:r>
              <a:rPr lang="en-US" dirty="0" err="1">
                <a:ea typeface="+mn-lt"/>
                <a:cs typeface="+mn-lt"/>
              </a:rPr>
              <a:t>wineventlog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=5136 </a:t>
            </a:r>
            <a:r>
              <a:rPr lang="en-US" dirty="0" err="1">
                <a:ea typeface="+mn-lt"/>
                <a:cs typeface="+mn-lt"/>
              </a:rPr>
              <a:t>TargetObject</a:t>
            </a:r>
            <a:r>
              <a:rPr lang="en-US" dirty="0">
                <a:ea typeface="+mn-lt"/>
                <a:cs typeface="+mn-lt"/>
              </a:rPr>
              <a:t>="CN=</a:t>
            </a:r>
            <a:r>
              <a:rPr lang="en-US" dirty="0" err="1">
                <a:ea typeface="+mn-lt"/>
                <a:cs typeface="+mn-lt"/>
              </a:rPr>
              <a:t>Policies,CN</a:t>
            </a:r>
            <a:r>
              <a:rPr lang="en-US" dirty="0">
                <a:ea typeface="+mn-lt"/>
                <a:cs typeface="+mn-lt"/>
              </a:rPr>
              <a:t>=</a:t>
            </a:r>
            <a:r>
              <a:rPr lang="en-US" dirty="0" err="1">
                <a:ea typeface="+mn-lt"/>
                <a:cs typeface="+mn-lt"/>
              </a:rPr>
              <a:t>System,DC</a:t>
            </a:r>
            <a:r>
              <a:rPr lang="en-US" dirty="0">
                <a:ea typeface="+mn-lt"/>
                <a:cs typeface="+mn-lt"/>
              </a:rPr>
              <a:t>=*"</a:t>
            </a:r>
            <a:endParaRPr lang="en-US" b="1" dirty="0"/>
          </a:p>
          <a:p>
            <a:pPr algn="ctr"/>
            <a:r>
              <a:rPr lang="en-US" dirty="0">
                <a:ea typeface="+mn-lt"/>
                <a:cs typeface="+mn-lt"/>
              </a:rPr>
              <a:t>| stats count by </a:t>
            </a:r>
            <a:r>
              <a:rPr lang="en-US" dirty="0" err="1">
                <a:ea typeface="+mn-lt"/>
                <a:cs typeface="+mn-lt"/>
              </a:rPr>
              <a:t>SubjectUserName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TargetObject</a:t>
            </a:r>
            <a:r>
              <a:rPr lang="en-US" dirty="0">
                <a:ea typeface="+mn-lt"/>
                <a:cs typeface="+mn-lt"/>
              </a:rPr>
              <a:t>, host</a:t>
            </a:r>
            <a:endParaRPr lang="en-US" dirty="0"/>
          </a:p>
          <a:p>
            <a:pPr algn="ctr"/>
            <a:r>
              <a:rPr lang="en-US" u="sng" dirty="0"/>
              <a:t>E. NTLM Relay / Pass-the-Hash Patterns</a:t>
            </a:r>
          </a:p>
          <a:p>
            <a:pPr algn="ctr"/>
            <a:r>
              <a:rPr lang="en-US" b="1" dirty="0">
                <a:ea typeface="+mn-lt"/>
                <a:cs typeface="+mn-lt"/>
              </a:rPr>
              <a:t>Rationale:</a:t>
            </a:r>
            <a:r>
              <a:rPr lang="en-US" dirty="0">
                <a:ea typeface="+mn-lt"/>
                <a:cs typeface="+mn-lt"/>
              </a:rPr>
              <a:t> Look for replayed authentication across hosts or reuse of credentials.</a:t>
            </a:r>
            <a:br>
              <a:rPr lang="en-US" dirty="0">
                <a:ea typeface="+mn-lt"/>
                <a:cs typeface="+mn-lt"/>
              </a:rPr>
            </a:br>
            <a:r>
              <a:rPr lang="en-US" u="sng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SPL (NTLM reuse):</a:t>
            </a:r>
            <a:endParaRPr lang="en-US" u="sng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index=</a:t>
            </a:r>
            <a:r>
              <a:rPr lang="en-US" dirty="0" err="1">
                <a:ea typeface="+mn-lt"/>
                <a:cs typeface="+mn-lt"/>
              </a:rPr>
              <a:t>wineventlog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EventCode</a:t>
            </a:r>
            <a:r>
              <a:rPr lang="en-US" dirty="0">
                <a:ea typeface="+mn-lt"/>
                <a:cs typeface="+mn-lt"/>
              </a:rPr>
              <a:t>=4624 </a:t>
            </a:r>
            <a:r>
              <a:rPr lang="en-US" dirty="0" err="1">
                <a:ea typeface="+mn-lt"/>
                <a:cs typeface="+mn-lt"/>
              </a:rPr>
              <a:t>LogonType</a:t>
            </a:r>
            <a:r>
              <a:rPr lang="en-US" dirty="0">
                <a:ea typeface="+mn-lt"/>
                <a:cs typeface="+mn-lt"/>
              </a:rPr>
              <a:t>=3</a:t>
            </a:r>
            <a:endParaRPr lang="en-US" b="1" dirty="0"/>
          </a:p>
          <a:p>
            <a:pPr algn="ctr"/>
            <a:r>
              <a:rPr lang="en-US" dirty="0">
                <a:ea typeface="+mn-lt"/>
                <a:cs typeface="+mn-lt"/>
              </a:rPr>
              <a:t>| stats dc(</a:t>
            </a:r>
            <a:r>
              <a:rPr lang="en-US" dirty="0" err="1">
                <a:ea typeface="+mn-lt"/>
                <a:cs typeface="+mn-lt"/>
              </a:rPr>
              <a:t>Account_Name</a:t>
            </a:r>
            <a:r>
              <a:rPr lang="en-US" dirty="0">
                <a:ea typeface="+mn-lt"/>
                <a:cs typeface="+mn-lt"/>
              </a:rPr>
              <a:t>) as distinct_hosts by src_ip Account_Name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| where </a:t>
            </a:r>
            <a:r>
              <a:rPr lang="en-US" dirty="0" err="1">
                <a:ea typeface="+mn-lt"/>
                <a:cs typeface="+mn-lt"/>
              </a:rPr>
              <a:t>distinct_hosts</a:t>
            </a:r>
            <a:r>
              <a:rPr lang="en-US" dirty="0">
                <a:ea typeface="+mn-lt"/>
                <a:cs typeface="+mn-lt"/>
              </a:rPr>
              <a:t> &gt; 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16C0-BA46-3421-FE3D-5952A86BE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700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997B-B4DB-A90A-7902-201311E67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15" y="320040"/>
            <a:ext cx="10579407" cy="557561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C2 &amp; Exfiltration Egress Patterns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743F2-8788-D047-ABA6-05C6BA12CBC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2590" y="876760"/>
            <a:ext cx="10797013" cy="5811686"/>
          </a:xfrm>
        </p:spPr>
        <p:txBody>
          <a:bodyPr vert="horz" lIns="0" tIns="45720" rIns="0" bIns="45720" rtlCol="0" anchor="t">
            <a:normAutofit/>
          </a:bodyPr>
          <a:lstStyle/>
          <a:p>
            <a:pPr algn="ctr"/>
            <a:r>
              <a:rPr lang="en-US" b="1" dirty="0"/>
              <a:t>Rationale:</a:t>
            </a:r>
            <a:r>
              <a:rPr lang="en-US" dirty="0"/>
              <a:t> Abnormal outbound connections to unusual domains/IPs, data transfers off network.</a:t>
            </a:r>
            <a:br>
              <a:rPr lang="en-US" dirty="0"/>
            </a:br>
            <a:r>
              <a:rPr lang="en-US" b="1" dirty="0"/>
              <a:t>SPL (</a:t>
            </a:r>
            <a:r>
              <a:rPr lang="en-US" b="1" err="1"/>
              <a:t>dns</a:t>
            </a:r>
            <a:r>
              <a:rPr lang="en-US" b="1" dirty="0"/>
              <a:t>/egress anomaly): </a:t>
            </a:r>
            <a:r>
              <a:rPr lang="en-US" dirty="0">
                <a:ea typeface="+mn-lt"/>
                <a:cs typeface="+mn-lt"/>
              </a:rPr>
              <a:t>index=</a:t>
            </a:r>
            <a:r>
              <a:rPr lang="en-US" err="1">
                <a:ea typeface="+mn-lt"/>
                <a:cs typeface="+mn-lt"/>
              </a:rPr>
              <a:t>dns</a:t>
            </a:r>
            <a:r>
              <a:rPr lang="en-US" dirty="0">
                <a:ea typeface="+mn-lt"/>
                <a:cs typeface="+mn-lt"/>
              </a:rPr>
              <a:t> OR index=network traffic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| stats count by </a:t>
            </a:r>
            <a:r>
              <a:rPr lang="en-US" err="1">
                <a:ea typeface="+mn-lt"/>
                <a:cs typeface="+mn-lt"/>
              </a:rPr>
              <a:t>dest_ip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dest_host</a:t>
            </a:r>
            <a:endParaRPr lang="en-US" err="1"/>
          </a:p>
          <a:p>
            <a:pPr algn="ctr"/>
            <a:r>
              <a:rPr lang="en-US" dirty="0">
                <a:ea typeface="+mn-lt"/>
                <a:cs typeface="+mn-lt"/>
              </a:rPr>
              <a:t>| where </a:t>
            </a:r>
            <a:r>
              <a:rPr lang="en-US" err="1">
                <a:ea typeface="+mn-lt"/>
                <a:cs typeface="+mn-lt"/>
              </a:rPr>
              <a:t>dest_ip</a:t>
            </a:r>
            <a:r>
              <a:rPr lang="en-US" dirty="0">
                <a:ea typeface="+mn-lt"/>
                <a:cs typeface="+mn-lt"/>
              </a:rPr>
              <a:t> NOT IN ([known internal ranges])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| sort -count</a:t>
            </a:r>
            <a:endParaRPr lang="en-US" dirty="0"/>
          </a:p>
          <a:p>
            <a:pPr algn="ctr"/>
            <a:r>
              <a:rPr lang="en-US" sz="2000" b="1" u="sng" dirty="0"/>
              <a:t>Incident lifecycle (Playbook steps per phase)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Below is the operational checklist for Analysts, in order, with actions and artifacts.</a:t>
            </a:r>
            <a:endParaRPr lang="en-US" dirty="0"/>
          </a:p>
          <a:p>
            <a:pPr algn="ctr"/>
            <a:r>
              <a:rPr lang="en-US" b="1" u="sng" dirty="0"/>
              <a:t>Phase: Recon (Alert → Triage)</a:t>
            </a:r>
          </a:p>
          <a:p>
            <a:pPr algn="ctr"/>
            <a:r>
              <a:rPr lang="en-US" b="1" dirty="0">
                <a:ea typeface="+mn-lt"/>
                <a:cs typeface="+mn-lt"/>
              </a:rPr>
              <a:t>Alert:</a:t>
            </a:r>
            <a:r>
              <a:rPr lang="en-US" dirty="0">
                <a:ea typeface="+mn-lt"/>
                <a:cs typeface="+mn-lt"/>
              </a:rPr>
              <a:t> High-volume LDAP/4769/4768/TGS anomalies appear.</a:t>
            </a:r>
            <a:endParaRPr lang="en-US" dirty="0"/>
          </a:p>
          <a:p>
            <a:pPr algn="ctr"/>
            <a:r>
              <a:rPr lang="en-US" b="1" u="sng" dirty="0">
                <a:ea typeface="+mn-lt"/>
                <a:cs typeface="+mn-lt"/>
              </a:rPr>
              <a:t>Triage (Tier1):</a:t>
            </a:r>
            <a:endParaRPr lang="en-US" u="sng" dirty="0"/>
          </a:p>
          <a:p>
            <a:pPr marL="383540" lvl="1" algn="ctr"/>
            <a:r>
              <a:rPr lang="en-US" dirty="0">
                <a:ea typeface="+mn-lt"/>
                <a:cs typeface="+mn-lt"/>
              </a:rPr>
              <a:t>Confirm alert (check event timestamps, host, account).</a:t>
            </a:r>
            <a:endParaRPr lang="en-US" dirty="0"/>
          </a:p>
          <a:p>
            <a:pPr marL="383540" lvl="1" algn="ctr"/>
            <a:r>
              <a:rPr lang="en-US" dirty="0">
                <a:ea typeface="+mn-lt"/>
                <a:cs typeface="+mn-lt"/>
              </a:rPr>
              <a:t>Enrich: pull last 24–72h of logs for </a:t>
            </a:r>
            <a:r>
              <a:rPr lang="en-US" dirty="0" err="1">
                <a:ea typeface="+mn-lt"/>
                <a:cs typeface="+mn-lt"/>
              </a:rPr>
              <a:t>Account_Name</a:t>
            </a:r>
            <a:r>
              <a:rPr lang="en-US" dirty="0">
                <a:ea typeface="+mn-lt"/>
                <a:cs typeface="+mn-lt"/>
              </a:rPr>
              <a:t> &amp; host.</a:t>
            </a:r>
            <a:endParaRPr lang="en-US" dirty="0"/>
          </a:p>
          <a:p>
            <a:pPr marL="383540" lvl="1" algn="ctr"/>
            <a:r>
              <a:rPr lang="en-US" dirty="0">
                <a:ea typeface="+mn-lt"/>
                <a:cs typeface="+mn-lt"/>
              </a:rPr>
              <a:t>Query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for account relationships and privilege paths.</a:t>
            </a:r>
            <a:endParaRPr lang="en-US" dirty="0"/>
          </a:p>
          <a:p>
            <a:pPr marL="383540" lvl="1" algn="ctr"/>
            <a:r>
              <a:rPr lang="en-US" dirty="0">
                <a:ea typeface="+mn-lt"/>
                <a:cs typeface="+mn-lt"/>
              </a:rPr>
              <a:t>Create incident ticket (ID, severity, owner).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Escalate</a:t>
            </a:r>
            <a:r>
              <a:rPr lang="en-US" dirty="0">
                <a:ea typeface="+mn-lt"/>
                <a:cs typeface="+mn-lt"/>
              </a:rPr>
              <a:t> to Tier2 if multiple suspicious hosts or privilege accounts targeted.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Artifacts to collect:</a:t>
            </a:r>
            <a:r>
              <a:rPr lang="en-US" dirty="0">
                <a:ea typeface="+mn-lt"/>
                <a:cs typeface="+mn-lt"/>
              </a:rPr>
              <a:t> Event excerpts (4768/4769), baseline comparisons,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snapshot.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C8133-2BA6-CC5C-74C6-2131EFFDB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94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ACA7-560B-E89B-9AC0-3C92A106F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14" y="320040"/>
            <a:ext cx="10579407" cy="678366"/>
          </a:xfrm>
        </p:spPr>
        <p:txBody>
          <a:bodyPr/>
          <a:lstStyle/>
          <a:p>
            <a:r>
              <a:rPr lang="en-US" u="sng" dirty="0">
                <a:ea typeface="+mj-lt"/>
                <a:cs typeface="+mj-lt"/>
              </a:rPr>
              <a:t>Phase: Exploitation / Credential Theft (Tier2)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8FA09-2389-0D8E-218A-F261A74A0C2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9054" y="1006857"/>
            <a:ext cx="10750549" cy="5560784"/>
          </a:xfrm>
        </p:spPr>
        <p:txBody>
          <a:bodyPr vert="horz" lIns="0" tIns="45720" rIns="0" bIns="45720" rtlCol="0" anchor="t">
            <a:normAutofit/>
          </a:bodyPr>
          <a:lstStyle/>
          <a:p>
            <a:pPr algn="ctr"/>
            <a:r>
              <a:rPr lang="en-US" b="1" dirty="0">
                <a:ea typeface="+mn-lt"/>
                <a:cs typeface="+mn-lt"/>
              </a:rPr>
              <a:t>Deep-dive:</a:t>
            </a:r>
            <a:endParaRPr lang="en-US" dirty="0"/>
          </a:p>
          <a:p>
            <a:pPr marL="383540" lvl="1" algn="ctr"/>
            <a:r>
              <a:rPr lang="en-US" dirty="0">
                <a:ea typeface="+mn-lt"/>
                <a:cs typeface="+mn-lt"/>
              </a:rPr>
              <a:t>Pull DC logs (</a:t>
            </a:r>
            <a:r>
              <a:rPr lang="en-US" dirty="0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 4768, 4769, 4771).</a:t>
            </a:r>
            <a:endParaRPr lang="en-US" dirty="0"/>
          </a:p>
          <a:p>
            <a:pPr marL="383540" lvl="1" algn="ctr"/>
            <a:r>
              <a:rPr lang="en-US" dirty="0">
                <a:ea typeface="+mn-lt"/>
                <a:cs typeface="+mn-lt"/>
              </a:rPr>
              <a:t>Pull endpoint Sysmon (process creation, </a:t>
            </a:r>
            <a:r>
              <a:rPr lang="en-US" dirty="0" err="1">
                <a:ea typeface="+mn-lt"/>
                <a:cs typeface="+mn-lt"/>
              </a:rPr>
              <a:t>commandline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383540" lvl="1" algn="ctr"/>
            <a:r>
              <a:rPr lang="en-US" dirty="0">
                <a:ea typeface="+mn-lt"/>
                <a:cs typeface="+mn-lt"/>
              </a:rPr>
              <a:t>Check network flows / PCAP for suspicious outbound traffic.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Hypotheses: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Kerberoast</a:t>
            </a:r>
            <a:r>
              <a:rPr lang="en-US" dirty="0">
                <a:ea typeface="+mn-lt"/>
                <a:cs typeface="+mn-lt"/>
              </a:rPr>
              <a:t> vs authenticity error vs scheduled automation. Validate by correlating with account usage patterns.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Containment decision point:</a:t>
            </a:r>
            <a:r>
              <a:rPr lang="en-US" dirty="0">
                <a:ea typeface="+mn-lt"/>
                <a:cs typeface="+mn-lt"/>
              </a:rPr>
              <a:t> If there is evidence of credential theft or lateral movement, proceed to containment.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Artifacts:</a:t>
            </a:r>
            <a:r>
              <a:rPr lang="en-US" dirty="0">
                <a:ea typeface="+mn-lt"/>
                <a:cs typeface="+mn-lt"/>
              </a:rPr>
              <a:t> Sysmon event logs, PCAP snippet, list of impacted accounts/hosts.</a:t>
            </a:r>
            <a:endParaRPr lang="en-US" dirty="0"/>
          </a:p>
          <a:p>
            <a:pPr algn="ctr"/>
            <a:r>
              <a:rPr lang="en-US" b="1" u="sng" dirty="0"/>
              <a:t>Phase: Containment (IR Lead &amp; Network)</a:t>
            </a:r>
            <a:endParaRPr lang="en-US" b="1" dirty="0"/>
          </a:p>
          <a:p>
            <a:pPr algn="ctr"/>
            <a:r>
              <a:rPr lang="en-US" b="1" dirty="0">
                <a:ea typeface="+mn-lt"/>
                <a:cs typeface="+mn-lt"/>
              </a:rPr>
              <a:t>Isolate affected hosts</a:t>
            </a:r>
            <a:r>
              <a:rPr lang="en-US" dirty="0">
                <a:ea typeface="+mn-lt"/>
                <a:cs typeface="+mn-lt"/>
              </a:rPr>
              <a:t> (network ACL or host quarantine).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Disable/lock suspected accounts</a:t>
            </a:r>
            <a:r>
              <a:rPr lang="en-US" dirty="0">
                <a:ea typeface="+mn-lt"/>
                <a:cs typeface="+mn-lt"/>
              </a:rPr>
              <a:t> (temporary), or apply service account password rotation in coordination with application owners.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Block outbound IPs / domains</a:t>
            </a:r>
            <a:r>
              <a:rPr lang="en-US" dirty="0">
                <a:ea typeface="+mn-lt"/>
                <a:cs typeface="+mn-lt"/>
              </a:rPr>
              <a:t> that are C2 candidates at firewall.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Preserve evidence:</a:t>
            </a:r>
            <a:r>
              <a:rPr lang="en-US" dirty="0">
                <a:ea typeface="+mn-lt"/>
                <a:cs typeface="+mn-lt"/>
              </a:rPr>
              <a:t> snapshot host, dump memory (if forensic team approves).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Notify stakeholders</a:t>
            </a:r>
            <a:r>
              <a:rPr lang="en-US" dirty="0">
                <a:ea typeface="+mn-lt"/>
                <a:cs typeface="+mn-lt"/>
              </a:rPr>
              <a:t> per communication template.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Artifacts:</a:t>
            </a:r>
            <a:r>
              <a:rPr lang="en-US" dirty="0">
                <a:ea typeface="+mn-lt"/>
                <a:cs typeface="+mn-lt"/>
              </a:rPr>
              <a:t> Isolation timestamp, snapshot ID, blocked IPs list.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0937F-5DF7-B03C-753A-6FECC7791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128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603A-1234-516A-FEFC-3AA28EEFB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15" y="320040"/>
            <a:ext cx="10588700" cy="557561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Phase: Eradication / Remediation (AD Admin)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AA2F3-6CF5-12DB-BC4B-21AAF570E7F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5614" y="1090491"/>
            <a:ext cx="10583281" cy="5486444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algn="ctr"/>
            <a:r>
              <a:rPr lang="en-US" sz="2000" b="1" dirty="0">
                <a:ea typeface="+mn-lt"/>
                <a:cs typeface="+mn-lt"/>
              </a:rPr>
              <a:t>Reset credentials</a:t>
            </a:r>
            <a:r>
              <a:rPr lang="en-US" sz="2000" dirty="0">
                <a:ea typeface="+mn-lt"/>
                <a:cs typeface="+mn-lt"/>
              </a:rPr>
              <a:t> for compromised accounts; enforce complex passwords and rotate service account passwords.</a:t>
            </a:r>
            <a:endParaRPr lang="en-US" sz="2000"/>
          </a:p>
          <a:p>
            <a:pPr algn="ctr"/>
            <a:r>
              <a:rPr lang="en-US" sz="2000" b="1">
                <a:ea typeface="+mn-lt"/>
                <a:cs typeface="+mn-lt"/>
              </a:rPr>
              <a:t>Enforce Kerberos hardening:</a:t>
            </a:r>
            <a:r>
              <a:rPr lang="en-US" sz="2000">
                <a:ea typeface="+mn-lt"/>
                <a:cs typeface="+mn-lt"/>
              </a:rPr>
              <a:t> disable RC4 / require AES-only, enable pre-auth (test phased).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Remove or quarantine malicious GPOs, scheduled tasks, and services.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Apply patches</a:t>
            </a:r>
            <a:r>
              <a:rPr lang="en-US" sz="2000" dirty="0">
                <a:ea typeface="+mn-lt"/>
                <a:cs typeface="+mn-lt"/>
              </a:rPr>
              <a:t> and LSA protections on endpoints.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Implement short-term SIEM rule changes</a:t>
            </a:r>
            <a:r>
              <a:rPr lang="en-US" sz="2000" dirty="0">
                <a:ea typeface="+mn-lt"/>
                <a:cs typeface="+mn-lt"/>
              </a:rPr>
              <a:t> to detect resurgence.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Artifacts:</a:t>
            </a:r>
            <a:r>
              <a:rPr lang="en-US" sz="2000" dirty="0">
                <a:ea typeface="+mn-lt"/>
                <a:cs typeface="+mn-lt"/>
              </a:rPr>
              <a:t> Password rotation log, GPO change log, patching tickets.</a:t>
            </a:r>
            <a:endParaRPr lang="en-US" sz="2000"/>
          </a:p>
          <a:p>
            <a:pPr algn="ctr"/>
            <a:r>
              <a:rPr lang="en-US" sz="2000" b="1" u="sng" dirty="0"/>
              <a:t>Phase: Recovery</a:t>
            </a:r>
          </a:p>
          <a:p>
            <a:pPr algn="ctr"/>
            <a:r>
              <a:rPr lang="en-US" sz="2000" b="1" dirty="0">
                <a:ea typeface="+mn-lt"/>
                <a:cs typeface="+mn-lt"/>
              </a:rPr>
              <a:t>Reintroduce hosts</a:t>
            </a:r>
            <a:r>
              <a:rPr lang="en-US" sz="2000" dirty="0">
                <a:ea typeface="+mn-lt"/>
                <a:cs typeface="+mn-lt"/>
              </a:rPr>
              <a:t> to network after monitoring under elevated logging for 72 hours.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Validate</a:t>
            </a:r>
            <a:r>
              <a:rPr lang="en-US" sz="2000" dirty="0">
                <a:ea typeface="+mn-lt"/>
                <a:cs typeface="+mn-lt"/>
              </a:rPr>
              <a:t> no reoccurrence via Splunk queries &amp; </a:t>
            </a:r>
            <a:r>
              <a:rPr lang="en-US" sz="2000" dirty="0" err="1">
                <a:ea typeface="+mn-lt"/>
                <a:cs typeface="+mn-lt"/>
              </a:rPr>
              <a:t>BloodHound</a:t>
            </a:r>
            <a:r>
              <a:rPr lang="en-US" sz="2000" dirty="0">
                <a:ea typeface="+mn-lt"/>
                <a:cs typeface="+mn-lt"/>
              </a:rPr>
              <a:t> reassessment.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Close incident</a:t>
            </a:r>
            <a:r>
              <a:rPr lang="en-US" sz="2000" dirty="0">
                <a:ea typeface="+mn-lt"/>
                <a:cs typeface="+mn-lt"/>
              </a:rPr>
              <a:t> only after root cause validated &amp; remediation verified.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Artifacts:</a:t>
            </a:r>
            <a:r>
              <a:rPr lang="en-US" sz="2000" dirty="0">
                <a:ea typeface="+mn-lt"/>
                <a:cs typeface="+mn-lt"/>
              </a:rPr>
              <a:t> Reintroduction timestamp, monitoring dashboard screenshot.</a:t>
            </a:r>
            <a:endParaRPr lang="en-US" sz="2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386AC-ECAC-F2C5-3F4A-316359CF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913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5E09-B86C-5AFA-72BB-52600DAE3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15" y="320040"/>
            <a:ext cx="10607285" cy="706244"/>
          </a:xfrm>
        </p:spPr>
        <p:txBody>
          <a:bodyPr/>
          <a:lstStyle/>
          <a:p>
            <a:pPr algn="ctr"/>
            <a:r>
              <a:rPr lang="en-US" u="sng" dirty="0">
                <a:ea typeface="+mj-lt"/>
                <a:cs typeface="+mj-lt"/>
              </a:rPr>
              <a:t>Phase: Lessons Learned &amp; Reporting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3ED5-EA38-33B3-38E5-B1D1E4A0050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2591" y="1025443"/>
            <a:ext cx="10824889" cy="5542199"/>
          </a:xfrm>
        </p:spPr>
        <p:txBody>
          <a:bodyPr vert="horz" lIns="0" tIns="45720" rIns="0" bIns="45720" rtlCol="0" anchor="t">
            <a:noAutofit/>
          </a:bodyPr>
          <a:lstStyle/>
          <a:p>
            <a:pPr algn="ctr"/>
            <a:r>
              <a:rPr lang="en-US" sz="2000" b="1" dirty="0">
                <a:ea typeface="+mn-lt"/>
                <a:cs typeface="+mn-lt"/>
              </a:rPr>
              <a:t>Post-incident report:</a:t>
            </a:r>
            <a:r>
              <a:rPr lang="en-US" sz="2000" dirty="0">
                <a:ea typeface="+mn-lt"/>
                <a:cs typeface="+mn-lt"/>
              </a:rPr>
              <a:t> timeline, root cause, remediation, residual risk, recommended roadmap.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Update playbooks</a:t>
            </a:r>
            <a:r>
              <a:rPr lang="en-US" sz="2000" dirty="0">
                <a:ea typeface="+mn-lt"/>
                <a:cs typeface="+mn-lt"/>
              </a:rPr>
              <a:t> with new detection rules and Sigma/SPL queries.</a:t>
            </a:r>
            <a:endParaRPr lang="en-US" sz="2000"/>
          </a:p>
          <a:p>
            <a:pPr algn="ctr"/>
            <a:r>
              <a:rPr lang="en-US" sz="2000" b="1" dirty="0">
                <a:ea typeface="+mn-lt"/>
                <a:cs typeface="+mn-lt"/>
              </a:rPr>
              <a:t>Conduct tabletop / training</a:t>
            </a:r>
            <a:r>
              <a:rPr lang="en-US" sz="2000" dirty="0">
                <a:ea typeface="+mn-lt"/>
                <a:cs typeface="+mn-lt"/>
              </a:rPr>
              <a:t> with AD admins and SOC staff.</a:t>
            </a:r>
            <a:endParaRPr lang="en-US" sz="2000"/>
          </a:p>
          <a:p>
            <a:pPr algn="ctr"/>
            <a:r>
              <a:rPr lang="en-US" sz="2000" b="1" u="sng" dirty="0"/>
              <a:t>Evidence collection &amp; forensics checklist</a:t>
            </a:r>
          </a:p>
          <a:p>
            <a:pPr algn="ctr"/>
            <a:r>
              <a:rPr lang="en-US" sz="2000" dirty="0">
                <a:ea typeface="+mn-lt"/>
                <a:cs typeface="+mn-lt"/>
              </a:rPr>
              <a:t>DC security log export: </a:t>
            </a:r>
            <a:r>
              <a:rPr lang="en-US" sz="2000" err="1">
                <a:ea typeface="+mn-lt"/>
                <a:cs typeface="+mn-lt"/>
              </a:rPr>
              <a:t>EventIDs</a:t>
            </a:r>
            <a:r>
              <a:rPr lang="en-US" sz="2000" dirty="0">
                <a:ea typeface="+mn-lt"/>
                <a:cs typeface="+mn-lt"/>
              </a:rPr>
              <a:t> 4768, 4769, 4624, 4771, 5136.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Endpoint Sysmon logs (</a:t>
            </a:r>
            <a:r>
              <a:rPr lang="en-US" sz="2000" err="1">
                <a:ea typeface="+mn-lt"/>
                <a:cs typeface="+mn-lt"/>
              </a:rPr>
              <a:t>EventID</a:t>
            </a:r>
            <a:r>
              <a:rPr lang="en-US" sz="2000" dirty="0">
                <a:ea typeface="+mn-lt"/>
                <a:cs typeface="+mn-lt"/>
              </a:rPr>
              <a:t> 1, 3, 7, 11, 22).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Memory dump of suspected host(s) (Volatility-compatible).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PCAP capture of relevant timeframe (Wireshark/Zeek).</a:t>
            </a:r>
            <a:endParaRPr lang="en-US" sz="2000"/>
          </a:p>
          <a:p>
            <a:pPr algn="ctr"/>
            <a:r>
              <a:rPr lang="en-US" sz="2000" err="1">
                <a:ea typeface="+mn-lt"/>
                <a:cs typeface="+mn-lt"/>
              </a:rPr>
              <a:t>BloodHound</a:t>
            </a:r>
            <a:r>
              <a:rPr lang="en-US" sz="2000" dirty="0">
                <a:ea typeface="+mn-lt"/>
                <a:cs typeface="+mn-lt"/>
              </a:rPr>
              <a:t> JSON export of related nodes.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SHA256/MD5 of suspicious binaries/scripts.</a:t>
            </a:r>
            <a:endParaRPr lang="en-US" sz="2000"/>
          </a:p>
          <a:p>
            <a:pPr algn="ctr"/>
            <a:r>
              <a:rPr lang="en-US" sz="2000" dirty="0">
                <a:ea typeface="+mn-lt"/>
                <a:cs typeface="+mn-lt"/>
              </a:rPr>
              <a:t>Preserve original log files and create verified copies for analysis.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4839-DF2D-570C-0AB8-7BDB001FF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14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1D32-A6A7-E16A-625E-C0B2CE2CD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15" y="199236"/>
            <a:ext cx="10728090" cy="780585"/>
          </a:xfrm>
        </p:spPr>
        <p:txBody>
          <a:bodyPr/>
          <a:lstStyle/>
          <a:p>
            <a:pPr algn="ctr"/>
            <a:r>
              <a:rPr lang="en-US" u="sng" dirty="0">
                <a:ea typeface="+mj-lt"/>
                <a:cs typeface="+mj-lt"/>
              </a:rPr>
              <a:t>Communications Templates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9BC31-4767-02DB-595E-C282FECB840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7639" y="1127662"/>
            <a:ext cx="10880647" cy="5356346"/>
          </a:xfrm>
        </p:spPr>
        <p:txBody>
          <a:bodyPr vert="horz" lIns="0" tIns="45720" rIns="0" bIns="45720" rtlCol="0" anchor="t">
            <a:normAutofit/>
          </a:bodyPr>
          <a:lstStyle/>
          <a:p>
            <a:pPr algn="ctr"/>
            <a:r>
              <a:rPr lang="en-US" b="1" u="sng" dirty="0"/>
              <a:t>A. High-level Stakeholder (CISO) — Initial Notification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Subject: </a:t>
            </a:r>
            <a:r>
              <a:rPr lang="en-US" b="1" dirty="0">
                <a:ea typeface="+mn-lt"/>
                <a:cs typeface="+mn-lt"/>
              </a:rPr>
              <a:t>Security Incident — Kerberos Anomaly Detected (Investigation Ongoing)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Body: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We detected anomalous Kerberos authentication patterns in our AD environment at [time]. We have isolated affected hosts and started containment. IR team is investigating and will provide updates every 2 hours. No confirmed data exfiltration at this time. Immediate mitigations being performed: account isolation and credential rotation for affected service accounts.</a:t>
            </a:r>
          </a:p>
          <a:p>
            <a:pPr algn="ctr"/>
            <a:r>
              <a:rPr lang="en-US" sz="1600" b="1" u="sng" dirty="0"/>
              <a:t>B. User/Business Notification (if impacted)</a:t>
            </a:r>
            <a:endParaRPr lang="en-US" sz="1600" b="1" u="sng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We are investigating a security incident affecting authentication services. IT has isolated select systems; user impact is limited to [service names]. Please do not change passwords or restart machines until directed. We will update at [time].</a:t>
            </a:r>
            <a:endParaRPr lang="en-US" dirty="0"/>
          </a:p>
          <a:p>
            <a:pPr algn="ctr"/>
            <a:r>
              <a:rPr lang="en-US" sz="1800" b="1" u="sng" dirty="0"/>
              <a:t>Final Executive Summary (for report)</a:t>
            </a:r>
            <a:endParaRPr lang="en-US" sz="1800" b="1" u="sng" dirty="0">
              <a:ea typeface="+mn-lt"/>
              <a:cs typeface="+mn-lt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One-paragraph summary of incident, impact, remediation actions, KPIs met, and next steps.</a:t>
            </a:r>
            <a:endParaRPr lang="en-US" dirty="0"/>
          </a:p>
          <a:p>
            <a:pPr algn="ctr"/>
            <a:r>
              <a:rPr lang="en-US" dirty="0"/>
              <a:t>Example Splunk Saved Search &amp; Alert (template)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US" b="1" dirty="0">
                <a:ea typeface="+mn-lt"/>
                <a:cs typeface="+mn-lt"/>
              </a:rPr>
              <a:t>Name: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Kerberos_TGS_Surge_Detection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Search:</a:t>
            </a:r>
            <a:r>
              <a:rPr lang="en-US" dirty="0">
                <a:ea typeface="+mn-lt"/>
                <a:cs typeface="+mn-lt"/>
              </a:rPr>
              <a:t> (use SPL from earlier)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Trigger condition:</a:t>
            </a:r>
            <a:r>
              <a:rPr lang="en-US" dirty="0">
                <a:ea typeface="+mn-lt"/>
                <a:cs typeface="+mn-lt"/>
              </a:rPr>
              <a:t> number of results &gt; threshold in 30m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Actions:</a:t>
            </a:r>
            <a:r>
              <a:rPr lang="en-US" dirty="0">
                <a:ea typeface="+mn-lt"/>
                <a:cs typeface="+mn-lt"/>
              </a:rPr>
              <a:t> Create incident ticket; send to SOC Slack channel; run automated enrichment playbook to collect logs and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snapshot.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BEE3A-39CC-B63D-78A7-3DCEFBD35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138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FD93-FA9E-8AD9-9CFC-9B5699FDE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15" y="320040"/>
            <a:ext cx="10282041" cy="762001"/>
          </a:xfrm>
        </p:spPr>
        <p:txBody>
          <a:bodyPr/>
          <a:lstStyle/>
          <a:p>
            <a:pPr algn="ctr"/>
            <a:r>
              <a:rPr lang="en-US" u="sng" dirty="0">
                <a:ea typeface="+mj-lt"/>
                <a:cs typeface="+mj-lt"/>
              </a:rPr>
              <a:t>Sigma: GPO Modification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5A4D-75C1-A68D-5C41-F5074CFBCB4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5614" y="1267052"/>
            <a:ext cx="10573989" cy="5393517"/>
          </a:xfrm>
        </p:spPr>
        <p:txBody>
          <a:bodyPr vert="horz" lIns="0" tIns="45720" rIns="0" bIns="45720" rtlCol="0" anchor="t">
            <a:noAutofit/>
          </a:bodyPr>
          <a:lstStyle/>
          <a:p>
            <a:pPr algn="ctr"/>
            <a:r>
              <a:rPr lang="en-US" sz="2400" b="1" u="sng" dirty="0">
                <a:ea typeface="+mn-lt"/>
                <a:cs typeface="+mn-lt"/>
              </a:rPr>
              <a:t>TITLE: Group Policy Object Modification by Non-admin</a:t>
            </a:r>
            <a:endParaRPr lang="en-US" sz="2400" dirty="0"/>
          </a:p>
          <a:p>
            <a:pPr algn="ctr"/>
            <a:r>
              <a:rPr lang="en-US" sz="2400" dirty="0" err="1">
                <a:ea typeface="+mn-lt"/>
                <a:cs typeface="+mn-lt"/>
              </a:rPr>
              <a:t>logsource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  product: windows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detection: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  selection: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    </a:t>
            </a:r>
            <a:r>
              <a:rPr lang="en-US" sz="2400" dirty="0" err="1">
                <a:ea typeface="+mn-lt"/>
                <a:cs typeface="+mn-lt"/>
              </a:rPr>
              <a:t>EventID</a:t>
            </a:r>
            <a:r>
              <a:rPr lang="en-US" sz="2400" dirty="0">
                <a:ea typeface="+mn-lt"/>
                <a:cs typeface="+mn-lt"/>
              </a:rPr>
              <a:t>: 5136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    </a:t>
            </a:r>
            <a:r>
              <a:rPr lang="en-US" sz="2400" dirty="0" err="1">
                <a:ea typeface="+mn-lt"/>
                <a:cs typeface="+mn-lt"/>
              </a:rPr>
              <a:t>TargetObject</a:t>
            </a:r>
            <a:r>
              <a:rPr lang="en-US" sz="2400" dirty="0">
                <a:ea typeface="+mn-lt"/>
                <a:cs typeface="+mn-lt"/>
              </a:rPr>
              <a:t>: '*CN=</a:t>
            </a:r>
            <a:r>
              <a:rPr lang="en-US" sz="2400" dirty="0" err="1">
                <a:ea typeface="+mn-lt"/>
                <a:cs typeface="+mn-lt"/>
              </a:rPr>
              <a:t>Policies,CN</a:t>
            </a:r>
            <a:r>
              <a:rPr lang="en-US" sz="2400" dirty="0">
                <a:ea typeface="+mn-lt"/>
                <a:cs typeface="+mn-lt"/>
              </a:rPr>
              <a:t>=System*'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    </a:t>
            </a:r>
            <a:r>
              <a:rPr lang="en-US" sz="2400" dirty="0" err="1">
                <a:ea typeface="+mn-lt"/>
                <a:cs typeface="+mn-lt"/>
              </a:rPr>
              <a:t>SubjectUserName</a:t>
            </a:r>
            <a:r>
              <a:rPr lang="en-US" sz="2400" dirty="0">
                <a:ea typeface="+mn-lt"/>
                <a:cs typeface="+mn-lt"/>
              </a:rPr>
              <a:t>: '!Domain Admins'</a:t>
            </a:r>
            <a:endParaRPr lang="en-US" sz="2400" dirty="0"/>
          </a:p>
          <a:p>
            <a:pPr algn="ctr"/>
            <a:r>
              <a:rPr lang="en-US" sz="2400" dirty="0">
                <a:ea typeface="+mn-lt"/>
                <a:cs typeface="+mn-lt"/>
              </a:rPr>
              <a:t>  condition: selection</a:t>
            </a:r>
            <a:endParaRPr lang="en-US" sz="2400" dirty="0"/>
          </a:p>
          <a:p>
            <a:pPr algn="ctr"/>
            <a:r>
              <a:rPr lang="en-US" sz="2400" b="1" dirty="0">
                <a:ea typeface="+mn-lt"/>
                <a:cs typeface="+mn-lt"/>
              </a:rPr>
              <a:t>level: </a:t>
            </a:r>
            <a:r>
              <a:rPr lang="en-US" sz="2400" dirty="0">
                <a:ea typeface="+mn-lt"/>
                <a:cs typeface="+mn-lt"/>
              </a:rPr>
              <a:t>critical</a:t>
            </a:r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356BE-8D7C-BA0D-7FFA-068D9CEFE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598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0840-F8E2-79FA-FEA3-E7E1FD7FC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907" y="320040"/>
            <a:ext cx="10570114" cy="780586"/>
          </a:xfrm>
        </p:spPr>
        <p:txBody>
          <a:bodyPr/>
          <a:lstStyle/>
          <a:p>
            <a:pPr algn="ctr"/>
            <a:r>
              <a:rPr lang="en-US" u="sng" dirty="0">
                <a:ea typeface="+mj-lt"/>
                <a:cs typeface="+mj-lt"/>
              </a:rPr>
              <a:t>Sigma Rule Examples (Text Templates)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85FB-9ADF-C8C1-1028-F538B262E79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1687" y="1109077"/>
            <a:ext cx="11410330" cy="5393517"/>
          </a:xfrm>
        </p:spPr>
        <p:txBody>
          <a:bodyPr vert="horz" lIns="0" tIns="45720" rIns="0" bIns="45720" rtlCol="0" anchor="t">
            <a:normAutofit fontScale="92500" lnSpcReduction="20000"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Sigma: </a:t>
            </a:r>
            <a:r>
              <a:rPr lang="en-US" dirty="0" err="1">
                <a:ea typeface="+mn-lt"/>
                <a:cs typeface="+mn-lt"/>
              </a:rPr>
              <a:t>Kerberoast</a:t>
            </a:r>
            <a:r>
              <a:rPr lang="en-US" dirty="0">
                <a:ea typeface="+mn-lt"/>
                <a:cs typeface="+mn-lt"/>
              </a:rPr>
              <a:t> Detection (concept)</a:t>
            </a:r>
          </a:p>
          <a:p>
            <a:pPr algn="ctr"/>
            <a:r>
              <a:rPr lang="en-US" b="1" u="sng" dirty="0">
                <a:ea typeface="+mn-lt"/>
                <a:cs typeface="+mn-lt"/>
              </a:rPr>
              <a:t>Title: Kerberos TGS Spike for Service Accounts</a:t>
            </a:r>
            <a:endParaRPr lang="en-US" b="1" u="sng"/>
          </a:p>
          <a:p>
            <a:pPr algn="ctr"/>
            <a:r>
              <a:rPr lang="en-US" b="1" u="sng" dirty="0">
                <a:ea typeface="+mn-lt"/>
                <a:cs typeface="+mn-lt"/>
              </a:rPr>
              <a:t>Description: </a:t>
            </a:r>
            <a:r>
              <a:rPr lang="en-US" u="sng" dirty="0">
                <a:ea typeface="+mn-lt"/>
                <a:cs typeface="+mn-lt"/>
              </a:rPr>
              <a:t>Detects unusual number of TGS requests for SPNs indicating possible </a:t>
            </a:r>
            <a:r>
              <a:rPr lang="en-US" u="sng" dirty="0" err="1">
                <a:ea typeface="+mn-lt"/>
                <a:cs typeface="+mn-lt"/>
              </a:rPr>
              <a:t>Kerberoasting</a:t>
            </a:r>
            <a:r>
              <a:rPr lang="en-US" u="sng" dirty="0">
                <a:ea typeface="+mn-lt"/>
                <a:cs typeface="+mn-lt"/>
              </a:rPr>
              <a:t> activity.</a:t>
            </a:r>
            <a:endParaRPr lang="en-US" u="sng"/>
          </a:p>
          <a:p>
            <a:pPr algn="ctr"/>
            <a:r>
              <a:rPr lang="en-US" dirty="0" err="1">
                <a:ea typeface="+mn-lt"/>
                <a:cs typeface="+mn-lt"/>
              </a:rPr>
              <a:t>logsource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  product: windows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detection: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  selection: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    </a:t>
            </a:r>
            <a:r>
              <a:rPr lang="en-US" dirty="0" err="1">
                <a:ea typeface="+mn-lt"/>
                <a:cs typeface="+mn-lt"/>
              </a:rPr>
              <a:t>EventID</a:t>
            </a:r>
            <a:r>
              <a:rPr lang="en-US" dirty="0">
                <a:ea typeface="+mn-lt"/>
                <a:cs typeface="+mn-lt"/>
              </a:rPr>
              <a:t>: 4769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  </a:t>
            </a:r>
            <a:r>
              <a:rPr lang="en-US" b="1" dirty="0">
                <a:ea typeface="+mn-lt"/>
                <a:cs typeface="+mn-lt"/>
              </a:rPr>
              <a:t>condition: </a:t>
            </a:r>
            <a:r>
              <a:rPr lang="en-US" dirty="0">
                <a:ea typeface="+mn-lt"/>
                <a:cs typeface="+mn-lt"/>
              </a:rPr>
              <a:t>selection | count() by </a:t>
            </a:r>
            <a:r>
              <a:rPr lang="en-US" dirty="0" err="1">
                <a:ea typeface="+mn-lt"/>
                <a:cs typeface="+mn-lt"/>
              </a:rPr>
              <a:t>AccountName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ServiceName</a:t>
            </a:r>
            <a:r>
              <a:rPr lang="en-US" dirty="0">
                <a:ea typeface="+mn-lt"/>
                <a:cs typeface="+mn-lt"/>
              </a:rPr>
              <a:t> &gt; 20 within 24h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level: high</a:t>
            </a:r>
            <a:endParaRPr lang="en-US" dirty="0"/>
          </a:p>
          <a:p>
            <a:pPr algn="ctr"/>
            <a:r>
              <a:rPr lang="en-US" b="1" u="sng" dirty="0"/>
              <a:t>KPIs &amp; SLAs (measure success)</a:t>
            </a:r>
          </a:p>
          <a:p>
            <a:pPr algn="ctr"/>
            <a:r>
              <a:rPr lang="en-US" b="1" dirty="0">
                <a:ea typeface="+mn-lt"/>
                <a:cs typeface="+mn-lt"/>
              </a:rPr>
              <a:t>Time-to-Detect (TTD):</a:t>
            </a:r>
            <a:r>
              <a:rPr lang="en-US" dirty="0">
                <a:ea typeface="+mn-lt"/>
                <a:cs typeface="+mn-lt"/>
              </a:rPr>
              <a:t> target &lt; 10 minutes for Kerberos abuse.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Time-to-Contain (TTC):</a:t>
            </a:r>
            <a:r>
              <a:rPr lang="en-US" dirty="0">
                <a:ea typeface="+mn-lt"/>
                <a:cs typeface="+mn-lt"/>
              </a:rPr>
              <a:t> target &lt; 60 minutes for host isolation.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Time-to-Remediate (TTR):</a:t>
            </a:r>
            <a:r>
              <a:rPr lang="en-US" dirty="0">
                <a:ea typeface="+mn-lt"/>
                <a:cs typeface="+mn-lt"/>
              </a:rPr>
              <a:t> credential rotation within 24 hours.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False Positive Rate:</a:t>
            </a:r>
            <a:r>
              <a:rPr lang="en-US" dirty="0">
                <a:ea typeface="+mn-lt"/>
                <a:cs typeface="+mn-lt"/>
              </a:rPr>
              <a:t> &lt;10% for tuned rules after 7-day window.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Reduction in attack paths (post remediation):</a:t>
            </a:r>
            <a:r>
              <a:rPr lang="en-US" dirty="0">
                <a:ea typeface="+mn-lt"/>
                <a:cs typeface="+mn-lt"/>
              </a:rPr>
              <a:t> ≥65% (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measured).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333D1-BD60-D9AB-AFCB-955E6FE02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380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0F761-C530-CC3C-68AF-5D638A604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907" y="320040"/>
            <a:ext cx="10551530" cy="1366025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ea typeface="+mj-lt"/>
                <a:cs typeface="+mj-lt"/>
              </a:rPr>
              <a:t>How This Playbook Reduces Response Time, Limits Damage, And Strengthens Defense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92646-3481-8BE4-0E6F-969FC0EBFD2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2493" y="1731686"/>
            <a:ext cx="11335988" cy="4761615"/>
          </a:xfrm>
        </p:spPr>
        <p:txBody>
          <a:bodyPr vert="horz" lIns="0" tIns="45720" rIns="0" bIns="45720" rtlCol="0" anchor="t">
            <a:normAutofit lnSpcReduction="10000"/>
          </a:bodyPr>
          <a:lstStyle/>
          <a:p>
            <a:pPr algn="ctr"/>
            <a:r>
              <a:rPr lang="en-US" b="1" dirty="0">
                <a:ea typeface="+mn-lt"/>
                <a:cs typeface="+mn-lt"/>
              </a:rPr>
              <a:t>Pre-tuned detections</a:t>
            </a:r>
            <a:r>
              <a:rPr lang="en-US" dirty="0">
                <a:ea typeface="+mn-lt"/>
                <a:cs typeface="+mn-lt"/>
              </a:rPr>
              <a:t> and automated enrichment cut TTD drastically.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Clear role definitions &amp; pre-authorized containment actions</a:t>
            </a:r>
            <a:r>
              <a:rPr lang="en-US" dirty="0">
                <a:ea typeface="+mn-lt"/>
                <a:cs typeface="+mn-lt"/>
              </a:rPr>
              <a:t> enable simultaneous triage &amp; mitigation.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Snapshot/backup policy</a:t>
            </a:r>
            <a:r>
              <a:rPr lang="en-US" dirty="0">
                <a:ea typeface="+mn-lt"/>
                <a:cs typeface="+mn-lt"/>
              </a:rPr>
              <a:t> lets teams revert quickly, reducing recovery time and business impact.</a:t>
            </a:r>
            <a:endParaRPr lang="en-US" dirty="0"/>
          </a:p>
          <a:p>
            <a:pPr algn="ctr"/>
            <a:r>
              <a:rPr lang="en-US" b="1" dirty="0">
                <a:ea typeface="+mn-lt"/>
                <a:cs typeface="+mn-lt"/>
              </a:rPr>
              <a:t>Post-incident tuning</a:t>
            </a:r>
            <a:r>
              <a:rPr lang="en-US" dirty="0">
                <a:ea typeface="+mn-lt"/>
                <a:cs typeface="+mn-lt"/>
              </a:rPr>
              <a:t> improves future detection quality (lower false positives) and strengthens defenses via targeted remediation (rotate creds, GPO hardening, SIEM tuning).</a:t>
            </a:r>
            <a:endParaRPr lang="en-US" dirty="0"/>
          </a:p>
          <a:p>
            <a:pPr algn="ctr"/>
            <a:br>
              <a:rPr lang="en-US" dirty="0"/>
            </a:br>
            <a:r>
              <a:rPr lang="en-US" sz="2400" b="1" u="sng" dirty="0"/>
              <a:t>Implementation checklist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Import these Sigma/SPL rules into Splunk and create alert workflows.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Install/verify Sysmon &amp; </a:t>
            </a:r>
            <a:r>
              <a:rPr lang="en-US" dirty="0" err="1">
                <a:ea typeface="+mn-lt"/>
                <a:cs typeface="+mn-lt"/>
              </a:rPr>
              <a:t>Winlogbeat</a:t>
            </a:r>
            <a:r>
              <a:rPr lang="en-US" dirty="0">
                <a:ea typeface="+mn-lt"/>
                <a:cs typeface="+mn-lt"/>
              </a:rPr>
              <a:t> on endpoints and DCs.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Build </a:t>
            </a:r>
            <a:r>
              <a:rPr lang="en-US" dirty="0" err="1">
                <a:ea typeface="+mn-lt"/>
                <a:cs typeface="+mn-lt"/>
              </a:rPr>
              <a:t>BloodHound</a:t>
            </a:r>
            <a:r>
              <a:rPr lang="en-US" dirty="0">
                <a:ea typeface="+mn-lt"/>
                <a:cs typeface="+mn-lt"/>
              </a:rPr>
              <a:t> dataset and schedule regular ingestions.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Configure EDR automated host isolation policy for Tier1-approved events.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Run tabletop exercises and tune rules based on results.</a:t>
            </a:r>
            <a:endParaRPr lang="en-US" dirty="0"/>
          </a:p>
          <a:p>
            <a:pPr algn="ctr"/>
            <a:r>
              <a:rPr lang="en-US" dirty="0">
                <a:ea typeface="+mn-lt"/>
                <a:cs typeface="+mn-lt"/>
              </a:rPr>
              <a:t>Publish playbook to internal runbooks repo and train teams.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68E01-EC86-0A6F-87D7-63393655C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979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A person and person looking at a computer screen">
            <a:extLst>
              <a:ext uri="{FF2B5EF4-FFF2-40B4-BE49-F238E27FC236}">
                <a16:creationId xmlns:a16="http://schemas.microsoft.com/office/drawing/2014/main" id="{AA35CD3A-9896-7953-C82D-AAE87F6124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27" r="127"/>
          <a:stretch/>
        </p:blipFill>
        <p:spPr>
          <a:xfrm>
            <a:off x="-29499" y="-2236"/>
            <a:ext cx="6814124" cy="687109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90D79-5C58-F576-D2D0-3F4F1822E7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45735" y="3212095"/>
            <a:ext cx="3193606" cy="1028422"/>
          </a:xfrm>
        </p:spPr>
        <p:txBody>
          <a:bodyPr vert="horz" lIns="91440" tIns="0" rIns="0" bIns="45720" rtlCol="0" anchor="t">
            <a:normAutofit/>
          </a:bodyPr>
          <a:lstStyle/>
          <a:p>
            <a:r>
              <a:rPr lang="en-US" dirty="0"/>
              <a:t>Author: Bassey Solomon Henry</a:t>
            </a:r>
          </a:p>
          <a:p>
            <a:r>
              <a:rPr lang="en-US" dirty="0"/>
              <a:t>Cert: SOC LEVEL 1</a:t>
            </a:r>
          </a:p>
          <a:p>
            <a:r>
              <a:rPr lang="en-US" dirty="0"/>
              <a:t>Red Team Enthusiast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A784F2EB-8377-40E2-878D-F359E4F7734D}" vid="{87F4C17B-0668-4D7F-80F5-6507D8EFBB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15CCAF-B227-4420-8A82-899C4EC3371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9BB42C3-98F0-4E09-AE96-62EE07CAC5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9EAE05-2D90-4440-A098-2E114DBDB54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598</Words>
  <Application>Microsoft Office PowerPoint</Application>
  <PresentationFormat>Widescreen</PresentationFormat>
  <Paragraphs>98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Custom</vt:lpstr>
      <vt:lpstr>BLUE TEAM SOC PLAYBOOK Phase 2  (Active Directory) Focused Adversary  Emulation)</vt:lpstr>
      <vt:lpstr>Enterprise-grade SOC Playbook &amp; Executive Reporting</vt:lpstr>
      <vt:lpstr>Core Principles &amp; Preconditions</vt:lpstr>
      <vt:lpstr>Overview / Purpose</vt:lpstr>
      <vt:lpstr>Roles &amp; Escalation Matrix</vt:lpstr>
      <vt:lpstr>Roles &amp; Responsibilities  (Who Does What)</vt:lpstr>
      <vt:lpstr>What This PlayBook Does When a Phase 2 Attack Occurs.</vt:lpstr>
      <vt:lpstr>Skill One: Key Components (What I Must Implement)</vt:lpstr>
      <vt:lpstr>Skill Two: Preparation — How Teams &amp; Roles Were Determined</vt:lpstr>
      <vt:lpstr>Skill Three: Detection — Rules, Tuning, and Initial Triage.</vt:lpstr>
      <vt:lpstr>SIEM (Splunk) Alert Template (starter)</vt:lpstr>
      <vt:lpstr>Investigation &amp; Analysis How To Handle Different  Attack Types &amp; IOCs</vt:lpstr>
      <vt:lpstr>Containment &amp; Eradication. Detailed Steps.</vt:lpstr>
      <vt:lpstr>Recovery — How To Put Business Back To Normal</vt:lpstr>
      <vt:lpstr>Reporting — What I Will Include &amp; How It’s Used</vt:lpstr>
      <vt:lpstr>Avoiding False Positives &amp; Ensuring Real Threats Are Prioritized.</vt:lpstr>
      <vt:lpstr>Training &amp; Awareness (Post-Incident)</vt:lpstr>
      <vt:lpstr>Detection Categories &amp; Signature Recipes</vt:lpstr>
      <vt:lpstr>Credential Theft / Lateral Movement Indicators</vt:lpstr>
      <vt:lpstr>C2 &amp; Exfiltration Egress Patterns</vt:lpstr>
      <vt:lpstr>Phase: Exploitation / Credential Theft (Tier2)</vt:lpstr>
      <vt:lpstr>Phase: Eradication / Remediation (AD Admin)</vt:lpstr>
      <vt:lpstr>Phase: Lessons Learned &amp; Reporting</vt:lpstr>
      <vt:lpstr>Communications Templates</vt:lpstr>
      <vt:lpstr>Sigma: GPO Modification</vt:lpstr>
      <vt:lpstr>Sigma Rule Examples (Text Templates)</vt:lpstr>
      <vt:lpstr>How This Playbook Reduces Response Time, Limits Damage, And Strengthens Defense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839</cp:revision>
  <dcterms:created xsi:type="dcterms:W3CDTF">2025-09-17T05:12:36Z</dcterms:created>
  <dcterms:modified xsi:type="dcterms:W3CDTF">2025-09-17T13:24:05Z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