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Merriweather Medium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  <p:embeddedFont>
      <p:font typeface="Merriweather ExtraBold"/>
      <p:bold r:id="rId25"/>
      <p:boldItalic r:id="rId26"/>
    </p:embeddedFont>
    <p:embeddedFont>
      <p:font typeface="Merriweath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Medium-boldItalic.fntdata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ExtraBold-boldItalic.fntdata"/><Relationship Id="rId25" Type="http://schemas.openxmlformats.org/officeDocument/2006/relationships/font" Target="fonts/MerriweatherExtraBold-bold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erriweatherMedium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MerriweatherMedium-italic.fntdata"/><Relationship Id="rId18" Type="http://schemas.openxmlformats.org/officeDocument/2006/relationships/font" Target="fonts/Merriweather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e9090756a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e9090756a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d91e1f37e_1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d91e1f37e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91e1f3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91e1f3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9090756a_1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e9090756a_1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e9090756a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e9090756a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933c8c4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933c8c4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5b09a965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d5b09a965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/>
          </a:blip>
          <a:srcRect b="0" l="7783" r="0" t="0"/>
          <a:stretch/>
        </p:blipFill>
        <p:spPr>
          <a:xfrm>
            <a:off x="1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>
            <p:ph type="title"/>
          </p:nvPr>
        </p:nvSpPr>
        <p:spPr>
          <a:xfrm>
            <a:off x="490250" y="488250"/>
            <a:ext cx="8182200" cy="425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DHCP Server Deployment in Windows Active Directory Lab</a:t>
            </a:r>
            <a:endParaRPr sz="4800"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Author: Bassey Solomon Henry | Cert: Security Engineer</a:t>
            </a:r>
            <a:endParaRPr sz="1800"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 Red Team Enthusiast </a:t>
            </a:r>
            <a:endParaRPr sz="4800"/>
          </a:p>
        </p:txBody>
      </p:sp>
    </p:spTree>
  </p:cSld>
  <p:clrMapOvr>
    <a:masterClrMapping/>
  </p:clrMapOvr>
  <mc:AlternateContent>
    <mc:Choice Requires="p14">
      <p:transition spd="slow" p14:dur="2500">
        <p14:flip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2786075" y="767300"/>
            <a:ext cx="57078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THE PROBLEM</a:t>
            </a:r>
            <a:endParaRPr u="sng"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771650"/>
            <a:ext cx="8147100" cy="27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In enterprise environments, manual IP assignment leads to scalability challenges, configuration errors, and frequent IP conflicts that can cause downtime and user frustration. </a:t>
            </a:r>
            <a:endParaRPr sz="21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To simulate real-world enterprise requirements, I designed and implemented a Dynamic Host Configuration Protocol (DHCP) server within a Windows Server 2019 Active Directory lab (</a:t>
            </a:r>
            <a:r>
              <a:rPr lang="en" sz="2100">
                <a:solidFill>
                  <a:srgbClr val="188038"/>
                </a:solidFill>
                <a:latin typeface="Merriweather"/>
                <a:ea typeface="Merriweather"/>
                <a:cs typeface="Merriweather"/>
                <a:sym typeface="Merriweather"/>
              </a:rPr>
              <a:t>lab.local</a:t>
            </a:r>
            <a:r>
              <a:rPr lang="en" sz="21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).</a:t>
            </a:r>
            <a:endParaRPr sz="28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up from the side of a hand pushing a knob on an audio mixer" id="79" name="Google Shape;79;p15"/>
          <p:cNvPicPr preferRelativeResize="0"/>
          <p:nvPr/>
        </p:nvPicPr>
        <p:blipFill rotWithShape="1">
          <a:blip r:embed="rId3">
            <a:alphaModFix/>
          </a:blip>
          <a:srcRect b="15419" l="7506" r="42247" t="0"/>
          <a:stretch/>
        </p:blipFill>
        <p:spPr>
          <a:xfrm>
            <a:off x="-9150" y="0"/>
            <a:ext cx="45944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type="title"/>
          </p:nvPr>
        </p:nvSpPr>
        <p:spPr>
          <a:xfrm>
            <a:off x="100025" y="1830600"/>
            <a:ext cx="44721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ACTION TAKEN</a:t>
            </a:r>
            <a:endParaRPr>
              <a:solidFill>
                <a:schemeClr val="lt1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sp>
        <p:nvSpPr>
          <p:cNvPr id="81" name="Google Shape;81;p15"/>
          <p:cNvSpPr txBox="1"/>
          <p:nvPr>
            <p:ph idx="2" type="body"/>
          </p:nvPr>
        </p:nvSpPr>
        <p:spPr>
          <a:xfrm>
            <a:off x="4686300" y="114300"/>
            <a:ext cx="4372200" cy="49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erriweather"/>
                <a:ea typeface="Merriweather"/>
                <a:cs typeface="Merriweather"/>
                <a:sym typeface="Merriweather"/>
              </a:rPr>
              <a:t>Installed and configured Microsoft DHCP Server Role on the Windows Server 2019 domain controller.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latin typeface="Merriweather"/>
                <a:ea typeface="Merriweather"/>
                <a:cs typeface="Merriweather"/>
                <a:sym typeface="Merriweather"/>
              </a:rPr>
              <a:t>Created and activated a custom DHCP scope (192.168.56.** – 192.168.**.200) to ensure automated IP assignment to Windows 10 domain-joined clients.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latin typeface="Merriweather"/>
                <a:ea typeface="Merriweather"/>
                <a:cs typeface="Merriweather"/>
                <a:sym typeface="Merriweather"/>
              </a:rPr>
              <a:t>Configured exclusions and reservations for critical infrastructure (e.g., server IPs), preventing conflicts with static IP addresses.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>
                <a:latin typeface="Merriweather"/>
                <a:ea typeface="Merriweather"/>
                <a:cs typeface="Merriweather"/>
                <a:sym typeface="Merriweather"/>
              </a:rPr>
              <a:t>Integrated DHCP with Active Directory and DNS services, enabling dynamic hostname registration (client01.lab.local) and enforcing consistency between DNS and IP allocation.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60950" y="2065350"/>
            <a:ext cx="36873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Medium"/>
                <a:ea typeface="Merriweather Medium"/>
                <a:cs typeface="Merriweather Medium"/>
                <a:sym typeface="Merriweather Medium"/>
              </a:rPr>
              <a:t>APPENDIX</a:t>
            </a:r>
            <a:endParaRPr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4071950" y="285750"/>
            <a:ext cx="47004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Conducted </a:t>
            </a:r>
            <a:r>
              <a:rPr b="1" lang="en" sz="2000">
                <a:solidFill>
                  <a:schemeClr val="lt1"/>
                </a:solidFill>
              </a:rPr>
              <a:t>end-to-end testing</a:t>
            </a:r>
            <a:r>
              <a:rPr lang="en" sz="2000">
                <a:solidFill>
                  <a:schemeClr val="lt1"/>
                </a:solidFill>
              </a:rPr>
              <a:t> on Windows 10 clients, validating lease acquisition, domain suffix propagation, and successful resolution of hostnames via </a:t>
            </a:r>
            <a:r>
              <a:rPr lang="en" sz="2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nslookup</a:t>
            </a:r>
            <a:r>
              <a:rPr lang="en" sz="2000">
                <a:solidFill>
                  <a:schemeClr val="lt1"/>
                </a:solidFill>
              </a:rPr>
              <a:t>.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Documented issues encountered (scope overlaps, DHCP mis-assignments, DNS timeouts) and applied troubleshooting methodology to resolve misconfigurations, simulating </a:t>
            </a:r>
            <a:r>
              <a:rPr b="1" lang="en" sz="2000">
                <a:solidFill>
                  <a:schemeClr val="lt1"/>
                </a:solidFill>
              </a:rPr>
              <a:t>real-world IT operations challenges</a:t>
            </a:r>
            <a:r>
              <a:rPr lang="en" sz="2000">
                <a:solidFill>
                  <a:schemeClr val="lt1"/>
                </a:solidFill>
              </a:rPr>
              <a:t>.</a:t>
            </a:r>
            <a:endParaRPr b="1" i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9477" l="0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>
            <p:ph type="title"/>
          </p:nvPr>
        </p:nvSpPr>
        <p:spPr>
          <a:xfrm>
            <a:off x="485775" y="488250"/>
            <a:ext cx="814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BUSINESS IMPACT</a:t>
            </a:r>
            <a:endParaRPr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RESULTS</a:t>
            </a:r>
            <a:endParaRPr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00050" y="1757350"/>
            <a:ext cx="2734200" cy="12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Merriweather"/>
                <a:ea typeface="Merriweather"/>
                <a:cs typeface="Merriweather"/>
                <a:sym typeface="Merriweather"/>
              </a:rPr>
              <a:t>REVENUE MODEL</a:t>
            </a:r>
            <a:endParaRPr b="1" sz="2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00050" y="4143375"/>
            <a:ext cx="27342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latin typeface="Merriweather"/>
                <a:ea typeface="Merriweather"/>
                <a:cs typeface="Merriweather"/>
                <a:sym typeface="Merriweather"/>
              </a:rPr>
              <a:t>99% simulated uptime across lab clients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829050" y="357800"/>
            <a:ext cx="4814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erriweather"/>
                <a:ea typeface="Merriweather"/>
                <a:cs typeface="Merriweather"/>
                <a:sym typeface="Merriweather"/>
              </a:rPr>
              <a:t>Delivered a fully automated IP address management solution, reducing manual configuration tasks by 100%.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erriweather"/>
                <a:ea typeface="Merriweather"/>
                <a:cs typeface="Merriweather"/>
                <a:sym typeface="Merriweather"/>
              </a:rPr>
              <a:t>Improved network reliability and reduced IP conflict risk, ensuring &gt;99% simulated uptime across client systems.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erriweather"/>
                <a:ea typeface="Merriweather"/>
                <a:cs typeface="Merriweather"/>
                <a:sym typeface="Merriweather"/>
              </a:rPr>
              <a:t>Enabled seamless DNS name resolution, reducing helpdesk escalations by eliminating hostname-IP mismatches.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Merriweather"/>
                <a:ea typeface="Merriweather"/>
                <a:cs typeface="Merriweather"/>
                <a:sym typeface="Merriweather"/>
              </a:rPr>
              <a:t>Demonstrated ability to design, deploy, and troubleshoot enterprise-level DHCP/DNS services, proving transferable skills for global IT infrastructure teams.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head shot of young people sitting on a boardwalk" id="105" name="Google Shape;105;p19"/>
          <p:cNvPicPr preferRelativeResize="0"/>
          <p:nvPr/>
        </p:nvPicPr>
        <p:blipFill rotWithShape="1">
          <a:blip r:embed="rId3">
            <a:alphaModFix/>
          </a:blip>
          <a:srcRect b="8063" l="0" r="1254" t="8630"/>
          <a:stretch/>
        </p:blipFill>
        <p:spPr>
          <a:xfrm>
            <a:off x="-30675" y="0"/>
            <a:ext cx="917467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>
            <p:ph type="title"/>
          </p:nvPr>
        </p:nvSpPr>
        <p:spPr>
          <a:xfrm>
            <a:off x="457200" y="472825"/>
            <a:ext cx="3857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KEY METRICS</a:t>
            </a:r>
            <a:endParaRPr b="1" sz="3000"/>
          </a:p>
          <a:p>
            <a:pPr indent="-342900" lvl="0" marL="457200" rtl="0" algn="ctr">
              <a:spcBef>
                <a:spcPts val="1000"/>
              </a:spcBef>
              <a:spcAft>
                <a:spcPts val="0"/>
              </a:spcAft>
              <a:buSzPts val="1800"/>
              <a:buFont typeface="Merriweather"/>
              <a:buChar char="●"/>
            </a:pP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Scope range deployed: 192.168.**.50 – 192.168.**.200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Merriweather"/>
              <a:buChar char="●"/>
            </a:pP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Exclusions &amp; reservations for critical hosts: 192.168.**.100 (DC), 192.168.**.110 (Client01)</a:t>
            </a:r>
            <a:endParaRPr sz="3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107" name="Google Shape;107;p19"/>
          <p:cNvGrpSpPr/>
          <p:nvPr/>
        </p:nvGrpSpPr>
        <p:grpSpPr>
          <a:xfrm>
            <a:off x="5212394" y="864520"/>
            <a:ext cx="3307407" cy="3307407"/>
            <a:chOff x="5212394" y="864520"/>
            <a:chExt cx="3307407" cy="3307407"/>
          </a:xfrm>
        </p:grpSpPr>
        <p:sp>
          <p:nvSpPr>
            <p:cNvPr id="108" name="Google Shape;108;p19"/>
            <p:cNvSpPr/>
            <p:nvPr/>
          </p:nvSpPr>
          <p:spPr>
            <a:xfrm>
              <a:off x="5212394" y="86452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5549484" y="86452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5886575" y="86452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6223663" y="86452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6560753" y="86452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6897844" y="86452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7234932" y="86452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7572023" y="86452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7909113" y="86452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9"/>
            <p:cNvSpPr/>
            <p:nvPr/>
          </p:nvSpPr>
          <p:spPr>
            <a:xfrm>
              <a:off x="8246201" y="86452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9"/>
            <p:cNvSpPr/>
            <p:nvPr/>
          </p:nvSpPr>
          <p:spPr>
            <a:xfrm>
              <a:off x="5212394" y="120160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5549484" y="120160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5886575" y="1201621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6223663" y="120160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6560753" y="120160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6897844" y="120160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7234932" y="120160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7572023" y="120160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7909113" y="120160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8246201" y="120160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5212394" y="153870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5549484" y="153870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5886575" y="153870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6223663" y="153870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6560753" y="153870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6897844" y="153870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7234932" y="153870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7572023" y="153870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9"/>
            <p:cNvSpPr/>
            <p:nvPr/>
          </p:nvSpPr>
          <p:spPr>
            <a:xfrm>
              <a:off x="7909113" y="153870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8246201" y="1538700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5212394" y="187578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5549484" y="187578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5886575" y="187578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6223663" y="187578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6560753" y="187578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6897844" y="187578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7234932" y="187578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7572023" y="187578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7909113" y="187578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8246201" y="187578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5212394" y="2212878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549484" y="2212878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5886575" y="2212878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6223663" y="2212878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6560753" y="2212878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6897844" y="2212878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7234932" y="2212878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7572023" y="2212878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7909113" y="2212878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8246201" y="2212878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5212394" y="254996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5549484" y="254996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5886575" y="254996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6223663" y="254996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6560753" y="254996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6897844" y="254996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7234932" y="254996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7572023" y="254996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9"/>
            <p:cNvSpPr/>
            <p:nvPr/>
          </p:nvSpPr>
          <p:spPr>
            <a:xfrm>
              <a:off x="7909113" y="254996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8246201" y="2549969"/>
              <a:ext cx="273600" cy="27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5212394" y="288705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5549484" y="288705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5886575" y="288705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6223663" y="288705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6560753" y="288705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6897844" y="288705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7234932" y="288705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7572023" y="288705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7909113" y="288705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8246201" y="288705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5212394" y="322414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5549484" y="322414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5886575" y="322414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6223663" y="322414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6560753" y="322414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6897844" y="322414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7234932" y="322414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7572023" y="322414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7909113" y="322414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8246201" y="322414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5212394" y="356123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5549484" y="356123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5886575" y="356123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6223663" y="356123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6560753" y="356123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6897844" y="356123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7234932" y="356123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7572023" y="356123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7909113" y="356123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8246201" y="3561238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5212394" y="389832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5549484" y="389832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5886575" y="389832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6223663" y="389832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6560753" y="389832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6897844" y="389832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7234932" y="389832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7572023" y="389832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7909113" y="389832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8246201" y="3898327"/>
              <a:ext cx="273600" cy="273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